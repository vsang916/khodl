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0B7E21-6263-4C1C-822D-83B8CA83EE7B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407499-E3EA-4059-9358-0259DC8DBB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059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Bài 4 tiết; dành 2 tiết cho phần chọn thuộc tính phân tách.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Mục tiêu 2 và 5 chắc chắn có trong đề thi.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Nhấn ngay từ đầu: không bao giờ đánh giá trên dữ liệu đã học.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Viết năm thuật ngữ lên bảng; sinh viên hay lẫn tập kiểm thử và tập kiểm định.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Cho sinh viên đọc một đường đi bất kỳ thành câu IF–THEN.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Phát bảng đầy đủ 14 dòng trên giấy; slide chỉ hiển thị 8 dòng đầu.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Hỏi vì sao thuộc tính thu nhập không xuất hiện trong cây.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Nhấn từ “tham lam”: đây là nguồn gốc của mọi hạn chế phía sau.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Điều kiện 2 và 3 khác nhau; sinh viên hay gộp làm một.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Nhắc log₂(x) = ln(x)/ln(2) để bấm được trên máy tính bỏ túi.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Nhắc log₂(x) = ln(x)/ln(2) cho sinh viên dùng máy tính bỏ túi.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Đọc công thức thành lời: entropy trước trừ entropy còn lại.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Đi từng bước chậm; đây là phép tính sinh viên phải làm được trong đề thi.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Cho sinh viên tự kiểm chứng Gain(sinh viên) = 0,151 tại lớp.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Ví dụ mã khách hàng là cách nhanh nhất để sinh viên hiểu vấn đề.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Giải thích SplitInfo bằng lời trước khi viết công thức.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Gini rẻ hơn entropy vì không cần tính logarit.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Bảng này đủ để sinh viên chọn thuật toán cho bài tập lớn.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Nối lại với Bài 6: đây chính là rời rạc hoá theo entropy có giám sát.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Cho sinh viên tự tính P(X|khong) trước khi chiếu; đây là bài thi hay 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Nối lại với Bài 6 và Bài 10: cùng dùng độ đo khoảng cách và cùng đòi chuẩn hoá.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Rừng ngẫu nhiên là mặc định thực dụng: chạy tốt mà gần như không cần tinh chỉnh.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Nối lại slide điểm nhấn: độ chính xác là con số gây hiểu lầm nhất ở đây.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Bảng này đủ để nhóm chọn mô hình cho bài tập lớn mà không cần thử hết.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Vẽ đồ thị hai đường độ chính xác theo độ sâu cây lên bảng.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Thực tế các thư viện đều dùng hậu cắt tỉa; giải thích vì sao.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Nhấn: FN và FP có chi phí nghiệp vụ rất khác nhau tuỳ bài toán.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Cho sinh viên tự tính độ chuẩn xác trước khi chiếu.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Nhấn: F1 phạt nặng khi một trong hai chỉ số quá thấp.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Rubric CLO2 mức Xuất sắc đòi kiểm chứng hiệu quả mô hình — AUC là công cụ đó.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Đây là điểm sinh viên hay sai nhất khi báo cáo bài tập lớn.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Bài tập lớn nên dùng kiểm chứng chéo 10 phần nếu dữ liệu nhỏ.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stratify=y giữ nguyên tỷ lệ lớp — bắt buộc với dữ liệu mất cân bằng.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Hỏi ba thuật toán và ba tiêu chí tương ứng trước khi chiếu.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Câu 1 và 4 là bài tập bắt buộc cho tuần 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0"/>
            <a:ext cx="82296" cy="6858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3000" y="777240"/>
            <a:ext cx="1022573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HỌC VIỆN CÔNG NGHỆ BƯU CHÍNH VIỄN THÔNG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Khoa Công nghệ Thông tin 1 · Bộ môn Hệ thống thông tin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874519"/>
            <a:ext cx="1022573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INT1422 · Kho dữ liệu và Khai phá dữ liệu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487168"/>
            <a:ext cx="10225735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BÀI 8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Phân loại bằng cây quyết định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461772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4892040"/>
            <a:ext cx="1022573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Độ lợi thông tin, tỷ lệ độ lợi, chỉ số Gini, cắt tỉa và đánh giá mô hình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Tuần 8 · 4 tiết · Chuẩn đầu ra: CLO2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Nội dung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77240" y="2036064"/>
            <a:ext cx="475488" cy="475488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9144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90472" y="1984248"/>
            <a:ext cx="9923983" cy="579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Bài toán phân loại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688336"/>
            <a:ext cx="475488" cy="475488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9144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0472" y="2636520"/>
            <a:ext cx="9923983" cy="579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Cấu trúc và cách đọc cây quyết định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340608"/>
            <a:ext cx="475488" cy="475488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9144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0472" y="3288792"/>
            <a:ext cx="9923983" cy="579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Thuật toán quy nạp cây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992879"/>
            <a:ext cx="475488" cy="475488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9144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0472" y="3941063"/>
            <a:ext cx="9923983" cy="579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Ba tiêu chí chọn thuộc tính phân tách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4645151"/>
            <a:ext cx="475488" cy="475488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9144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0472" y="4593335"/>
            <a:ext cx="9923983" cy="579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Quá khớp và cắt tỉa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5297423"/>
            <a:ext cx="475488" cy="475488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9144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90472" y="5245607"/>
            <a:ext cx="9923983" cy="579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Đánh giá mô hình phân loại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981199"/>
            <a:ext cx="10637215" cy="652272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91440" rtlCol="0" anchor="ctr"/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1   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Mô tả được hai giai đoạn của quá trình phân loại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779776"/>
            <a:ext cx="10637215" cy="652272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91440" rtlCol="0" anchor="ctr"/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2   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Tính được entropy và độ lợi thông tin bằng tay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578352"/>
            <a:ext cx="10637215" cy="652272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91440" rtlCol="0" anchor="ctr"/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3   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Chọn được thuộc tính gốc cho một bộ dữ liệu nhỏ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376928"/>
            <a:ext cx="10637215" cy="652272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91440" rtlCol="0" anchor="ctr"/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4   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Giải thích vì sao C4.5 dùng tỷ lệ độ lợi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175504"/>
            <a:ext cx="10637215" cy="652272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91440" rtlCol="0" anchor="ctr"/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5   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Tính độ chính xác, độ nhạy, độ chuẩn xác từ ma trận nhầm lẫn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637215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2200" b="1" i="0">
                <a:solidFill>
                  <a:srgbClr val="F29AA8"/>
                </a:solidFill>
                <a:latin typeface="Segoe UI"/>
                <a:ea typeface="Segoe UI"/>
                <a:cs typeface="Segoe UI"/>
              </a:rPr>
              <a:t>01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Bài toán phân loại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52628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4800600"/>
            <a:ext cx="972281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5D2E2"/>
                </a:solidFill>
                <a:latin typeface="Segoe UI"/>
                <a:ea typeface="Segoe UI"/>
                <a:cs typeface="Segoe UI"/>
              </a:rPr>
              <a:t>Học từ dữ liệu có nhãn để gán nhãn cho dữ liệu mới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Hai giai đoạn của phân loại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984248"/>
            <a:ext cx="2371267" cy="1371600"/>
          </a:xfrm>
          <a:prstGeom prst="roundRect">
            <a:avLst>
              <a:gd name="adj" fmla="val 8000"/>
            </a:avLst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91440" rtlCol="0" anchor="ctr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Dữ liệu</a:t>
            </a: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có nhãn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03371" y="2551176"/>
            <a:ext cx="274320" cy="237744"/>
          </a:xfrm>
          <a:prstGeom prst="rightArrow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532555" y="1984248"/>
            <a:ext cx="2371267" cy="1371600"/>
          </a:xfrm>
          <a:prstGeom prst="roundRect">
            <a:avLst>
              <a:gd name="adj" fmla="val 8000"/>
            </a:avLst>
          </a:prstGeom>
          <a:solidFill>
            <a:srgbClr val="255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91440" rtlCol="0" anchor="ctr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Học</a:t>
            </a: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mô hình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58687" y="2551176"/>
            <a:ext cx="274320" cy="237744"/>
          </a:xfrm>
          <a:prstGeom prst="rightArrow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287871" y="1984248"/>
            <a:ext cx="2371267" cy="1371600"/>
          </a:xfrm>
          <a:prstGeom prst="roundRect">
            <a:avLst>
              <a:gd name="adj" fmla="val 8000"/>
            </a:avLst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91440" rtlCol="0" anchor="ctr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Đánh giá trên</a:t>
            </a: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tập kiểm thử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14003" y="2551176"/>
            <a:ext cx="274320" cy="237744"/>
          </a:xfrm>
          <a:prstGeom prst="rightArrow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043187" y="1984248"/>
            <a:ext cx="2371267" cy="1371600"/>
          </a:xfrm>
          <a:prstGeom prst="roundRect">
            <a:avLst>
              <a:gd name="adj" fmla="val 8000"/>
            </a:avLst>
          </a:prstGeom>
          <a:solidFill>
            <a:srgbClr val="255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91440" rtlCol="0" anchor="ctr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Áp dụng cho</a:t>
            </a: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dữ liệu mới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666744"/>
            <a:ext cx="10637215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8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Giai đoạn học và giai đoạn áp dụng phải dùng hai tập dữ liệu tách biệt</a:t>
            </a:r>
          </a:p>
          <a:p>
            <a:pPr marL="292608" indent="-292608">
              <a:lnSpc>
                <a:spcPct val="112000"/>
              </a:lnSpc>
              <a:spcAft>
                <a:spcPts val="8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Đánh giá trên chính dữ liệu huấn luyện luôn cho kết quả lạc quan giả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Khái niệm cần thống nhất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Bản ghi: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một đối tượng được mô tả bằng các thuộc tính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Thuộc tính đích: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cột nhãn cần dự đoán, rời rạc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Tập huấn luyện: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dữ liệu có nhãn dùng để xây mô hình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Tập kiểm thử: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dữ liệu có nhãn giữ riêng để đo chất lượng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Học có giám sát: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có nhãn dẫn đường, khác hẳn phân cụm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637215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2200" b="1" i="0">
                <a:solidFill>
                  <a:srgbClr val="F29AA8"/>
                </a:solidFill>
                <a:latin typeface="Segoe UI"/>
                <a:ea typeface="Segoe UI"/>
                <a:cs typeface="Segoe UI"/>
              </a:rPr>
              <a:t>02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Cây quyết định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52628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4800600"/>
            <a:ext cx="972281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5D2E2"/>
                </a:solidFill>
                <a:latin typeface="Segoe UI"/>
                <a:ea typeface="Segoe UI"/>
                <a:cs typeface="Segoe UI"/>
              </a:rPr>
              <a:t>Mô hình phân loại dễ giải thích nhất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Cấu trúc cây quyết định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Nút trong: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một phép kiểm tra trên một thuộc tính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Nhánh: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một kết quả có thể của phép kiểm tra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Nút lá: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một nhãn lớp được gán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Mỗi đường đi từ gốc tới lá tương ứng một luật IF–THEN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Ưu điểm lớn nhất: người dùng nghiệp vụ đọc hiểu được ngay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Bộ dữ liệu dùng suốt bài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solidFill>
            <a:srgbClr val="F7F9FC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91440"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3271" y="1956816"/>
            <a:ext cx="10125151" cy="3803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Mười bốn khách hàng, nhãn “có mua máy tính”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#   tuoi     thu_nhap  sinh_vien  tin_dung    mua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1   &lt;=30     cao       khong      trung binh  khong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2   &lt;=30     cao       khong      tot         khong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3   31..40   cao       khong      trung binh  co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4   &gt;40      trung     khong      trung binh  co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5   &gt;40      thap      co         trung binh  co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6   &gt;40      thap      co         tot         khong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7   31..40   thap      co         tot         co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8   &lt;=30     trung     khong      trung binh  khong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9..14 (xem tai lieu phat)                     -- tong: 9 co, 5 khong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Cây quyết định thu được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 flipH="1">
            <a:off x="2775546" y="2322576"/>
            <a:ext cx="3320301" cy="804672"/>
          </a:xfrm>
          <a:prstGeom prst="line">
            <a:avLst/>
          </a:prstGeom>
          <a:ln w="19050">
            <a:solidFill>
              <a:srgbClr val="5B66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868769" y="2569464"/>
            <a:ext cx="1133856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&lt;=30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5847" y="2322576"/>
            <a:ext cx="0" cy="804672"/>
          </a:xfrm>
          <a:prstGeom prst="line">
            <a:avLst/>
          </a:prstGeom>
          <a:ln w="19050">
            <a:solidFill>
              <a:srgbClr val="5B66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528919" y="2569464"/>
            <a:ext cx="1133856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31..40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5847" y="2322576"/>
            <a:ext cx="3320301" cy="804672"/>
          </a:xfrm>
          <a:prstGeom prst="line">
            <a:avLst/>
          </a:prstGeom>
          <a:ln w="19050">
            <a:solidFill>
              <a:srgbClr val="5B66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7189069" y="2569464"/>
            <a:ext cx="1133856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&gt;40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1668780" y="3694176"/>
            <a:ext cx="1106766" cy="804672"/>
          </a:xfrm>
          <a:prstGeom prst="line">
            <a:avLst/>
          </a:prstGeom>
          <a:ln w="19050">
            <a:solidFill>
              <a:srgbClr val="5B66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655235" y="3941064"/>
            <a:ext cx="1133856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không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75546" y="3694176"/>
            <a:ext cx="1106767" cy="804672"/>
          </a:xfrm>
          <a:prstGeom prst="line">
            <a:avLst/>
          </a:prstGeom>
          <a:ln w="19050">
            <a:solidFill>
              <a:srgbClr val="5B66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762002" y="3941064"/>
            <a:ext cx="1133856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có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8309381" y="3694176"/>
            <a:ext cx="1106767" cy="804672"/>
          </a:xfrm>
          <a:prstGeom prst="line">
            <a:avLst/>
          </a:prstGeom>
          <a:ln w="19050">
            <a:solidFill>
              <a:srgbClr val="5B66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8295836" y="3941064"/>
            <a:ext cx="1133856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tốt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416148" y="3694176"/>
            <a:ext cx="1106767" cy="804672"/>
          </a:xfrm>
          <a:prstGeom prst="line">
            <a:avLst/>
          </a:prstGeom>
          <a:ln w="19050">
            <a:solidFill>
              <a:srgbClr val="5B66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9402603" y="3941064"/>
            <a:ext cx="1133856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trung bình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04307" y="1755648"/>
            <a:ext cx="1783080" cy="566928"/>
          </a:xfrm>
          <a:prstGeom prst="roundRect">
            <a:avLst>
              <a:gd name="adj" fmla="val 11290"/>
            </a:avLst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tuổi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84006" y="3127248"/>
            <a:ext cx="1783080" cy="566928"/>
          </a:xfrm>
          <a:prstGeom prst="roundRect">
            <a:avLst>
              <a:gd name="adj" fmla="val 11290"/>
            </a:avLst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sinh viên?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498848"/>
            <a:ext cx="1783080" cy="566928"/>
          </a:xfrm>
          <a:prstGeom prst="roundRect">
            <a:avLst>
              <a:gd name="adj" fmla="val 11290"/>
            </a:avLst>
          </a:prstGeom>
          <a:solidFill>
            <a:srgbClr val="EEF2F7"/>
          </a:solidFill>
          <a:ln w="15240">
            <a:solidFill>
              <a:srgbClr val="1235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KHÔNG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90773" y="4498848"/>
            <a:ext cx="1783080" cy="566928"/>
          </a:xfrm>
          <a:prstGeom prst="roundRect">
            <a:avLst>
              <a:gd name="adj" fmla="val 11290"/>
            </a:avLst>
          </a:prstGeom>
          <a:solidFill>
            <a:srgbClr val="EEF2F7"/>
          </a:solidFill>
          <a:ln w="15240">
            <a:solidFill>
              <a:srgbClr val="1235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CÓ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04307" y="3127248"/>
            <a:ext cx="1783080" cy="566928"/>
          </a:xfrm>
          <a:prstGeom prst="roundRect">
            <a:avLst>
              <a:gd name="adj" fmla="val 1129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CÓ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24608" y="3127248"/>
            <a:ext cx="1783080" cy="566928"/>
          </a:xfrm>
          <a:prstGeom prst="roundRect">
            <a:avLst>
              <a:gd name="adj" fmla="val 11290"/>
            </a:avLst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tín dụng?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17841" y="4498848"/>
            <a:ext cx="1783080" cy="566928"/>
          </a:xfrm>
          <a:prstGeom prst="roundRect">
            <a:avLst>
              <a:gd name="adj" fmla="val 11290"/>
            </a:avLst>
          </a:prstGeom>
          <a:solidFill>
            <a:srgbClr val="EEF2F7"/>
          </a:solidFill>
          <a:ln w="15240">
            <a:solidFill>
              <a:srgbClr val="1235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KHÔNG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31375" y="4498848"/>
            <a:ext cx="1783080" cy="566928"/>
          </a:xfrm>
          <a:prstGeom prst="roundRect">
            <a:avLst>
              <a:gd name="adj" fmla="val 11290"/>
            </a:avLst>
          </a:prstGeom>
          <a:solidFill>
            <a:srgbClr val="EEF2F7"/>
          </a:solidFill>
          <a:ln w="15240">
            <a:solidFill>
              <a:srgbClr val="1235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CÓ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212080"/>
            <a:ext cx="10637215" cy="8412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8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Nhánh 31..40 thành lá ngay vì cả bốn bản ghi cùng nhãn</a:t>
            </a:r>
          </a:p>
          <a:p>
            <a:pPr marL="292608" indent="-292608">
              <a:lnSpc>
                <a:spcPct val="112000"/>
              </a:lnSpc>
              <a:spcAft>
                <a:spcPts val="8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Thuộc tính thu nhập không xuất hiện: cây này không cần đến nó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Thuật toán quy nạp cây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700784"/>
            <a:ext cx="106372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Chiến lược tham lam, chia để trị, từ trên xuống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22576"/>
            <a:ext cx="10637215" cy="3639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Bắt đầu: toàn bộ tập huấn luyện nằm ở nút gốc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Chọn thuộc tính phân tách tốt nhất theo một tiêu chí đo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Chia tập dữ liệu theo các giá trị của thuộc tính đó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Lặp lại đệ quy trên từng tập con vừa tạo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Tham lam nghĩa là không quay lui: chọn xong không xét lại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Ba điều kiện dừng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Mọi bản ghi trong nút đã cùng một nhãn lớp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Không còn thuộc tính nào để phân tách tiếp</a:t>
            </a:r>
          </a:p>
          <a:p>
            <a:pPr marL="676656" indent="-292608">
              <a:lnSpc>
                <a:spcPct val="112000"/>
              </a:lnSpc>
              <a:spcAft>
                <a:spcPts val="700"/>
              </a:spcAft>
              <a:buClr>
                <a:srgbClr val="5B6673"/>
              </a:buClr>
              <a:buSzPct val="85000"/>
              <a:buFont typeface="Segoe UI"/>
              <a:buChar char="–"/>
            </a:pPr>
            <a:r>
              <a:rPr sz="200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Khi đó gán nhãn theo đa số phiếu trong nút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Nút không còn bản ghi nào</a:t>
            </a:r>
          </a:p>
          <a:p>
            <a:pPr marL="676656" indent="-292608">
              <a:lnSpc>
                <a:spcPct val="112000"/>
              </a:lnSpc>
              <a:spcAft>
                <a:spcPts val="700"/>
              </a:spcAft>
              <a:buClr>
                <a:srgbClr val="5B6673"/>
              </a:buClr>
              <a:buSzPct val="85000"/>
              <a:buFont typeface="Segoe UI"/>
              <a:buChar char="–"/>
            </a:pPr>
            <a:r>
              <a:rPr sz="200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Khi đó gán nhãn đa số của nút cha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637215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2200" b="1" i="0">
                <a:solidFill>
                  <a:srgbClr val="F29AA8"/>
                </a:solidFill>
                <a:latin typeface="Segoe UI"/>
                <a:ea typeface="Segoe UI"/>
                <a:cs typeface="Segoe UI"/>
              </a:rPr>
              <a:t>03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Chọn thuộc tính phân tách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52628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4800600"/>
            <a:ext cx="972281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5D2E2"/>
                </a:solidFill>
                <a:latin typeface="Segoe UI"/>
                <a:ea typeface="Segoe UI"/>
                <a:cs typeface="Segoe UI"/>
              </a:rPr>
              <a:t>Câu hỏi trung tâm: hỏi thuộc tính nào trước?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Entropy — lượng thông tin cần để phân loại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755648"/>
            <a:ext cx="10637215" cy="123444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91440" rtlCol="0" anchor="ctr"/>
          <a:lstStyle/>
          <a:p>
            <a:pPr algn="ctr"/>
            <a:r>
              <a:rPr sz="2600" b="1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Info(D)  =  − Σ  p_i · log₂(p_i)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282696"/>
            <a:ext cx="10637215" cy="2606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p_i là tỷ lệ bản ghi thuộc lớp thứ i trong tập D</a:t>
            </a:r>
          </a:p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Entropy bằng 0 khi mọi bản ghi cùng một lớp: hoàn toàn thuần khiết</a:t>
            </a:r>
          </a:p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Entropy đạt cực đại khi các lớp có tỷ lệ bằng nhau</a:t>
            </a:r>
          </a:p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Đơn vị là bit: số câu hỏi có–không cần hỏi trung bình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Tính entropy của tập gốc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1755648"/>
            <a:ext cx="10637215" cy="4297680"/>
          </a:xfrm>
          <a:prstGeom prst="rect">
            <a:avLst/>
          </a:prstGeom>
          <a:solidFill>
            <a:srgbClr val="F7F9FC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91440"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3271" y="1956816"/>
            <a:ext cx="10125151" cy="38953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Phân bố lớp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D co 14 ban ghi:  9 nhan "co",  5 nhan "khong"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Áp dụng công thức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Info(D) = -(9/14) log2(9/14) - (5/14) log2(5/14)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        = -(0,643)(-0,637) - (0,357)(-1,485)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        =  0,410 + 0,530  =  0,940 bit</a:t>
            </a:r>
          </a:p>
          <a:p>
            <a:pPr marL="292608" indent="-292608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Cần trung bình 0,940 bit thông tin để biết nhãn của một bản ghi bất kỳ</a:t>
            </a:r>
          </a:p>
          <a:p>
            <a:pPr marL="292608" indent="-292608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Nếu tỷ lệ là 7–7 thì Info(D) sẽ đúng bằng 1 bit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Độ lợi thông tin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755648"/>
            <a:ext cx="10637215" cy="123444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91440" rtlCol="0" anchor="ctr"/>
          <a:lstStyle/>
          <a:p>
            <a:pPr algn="ctr"/>
            <a:r>
              <a:rPr sz="2600" b="1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Gain(A) = Info(D) − Σ ( |D_j| / |D| ) · Info(D_j)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282696"/>
            <a:ext cx="10637215" cy="2606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D_j là tập con ứng với giá trị thứ j của thuộc tính A</a:t>
            </a:r>
          </a:p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Số hạng thứ hai là entropy còn lại sau khi đã hỏi thuộc tính A</a:t>
            </a:r>
          </a:p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Độ lợi chính là lượng thông tin thu được nhờ phép hỏi đó</a:t>
            </a:r>
          </a:p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Thuật toán ID3 chọn thuộc tính có độ lợi lớn nhất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Tính độ lợi cho thuộc tính “tuổi”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solidFill>
            <a:srgbClr val="F7F9FC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91440"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3271" y="1956816"/>
            <a:ext cx="10125151" cy="3803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Ba tập con theo tuổi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&lt;=30  : 5 ban ghi (2 co, 3 khong)  -&gt;  Info = 0,971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31..40: 4 ban ghi (4 co, 0 khong)  -&gt;  Info = 0     (thuan khiet)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&gt;40   : 5 ban ghi (3 co, 2 khong)  -&gt;  Info = 0,971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Entropy còn lại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Info_tuoi(D) = (5/14)(0,971) + (4/14)(0) + (5/14)(0,971) = 0,694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Độ lợi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Gain(tuoi) = 0,940 - 0,694 = 0,246 bit</a:t>
            </a:r>
          </a:p>
          <a:p>
            <a:pPr marL="292608" indent="-292608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Nhánh 31..40 có entropy bằng 0 nên trở thành nút lá ngay lập tức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Độ lợi của bốn thuộc tính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700784"/>
            <a:ext cx="106372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Thuộc tính “tuổi” thắng và trở thành nút gốc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98064"/>
            <a:ext cx="27432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tuổi</a:t>
            </a:r>
          </a:p>
        </p:txBody>
      </p:sp>
      <p:sp>
        <p:nvSpPr>
          <p:cNvPr id="7" name="Rectangle 6"/>
          <p:cNvSpPr/>
          <p:nvPr/>
        </p:nvSpPr>
        <p:spPr>
          <a:xfrm>
            <a:off x="3703320" y="2761488"/>
            <a:ext cx="6796735" cy="5669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91440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703320" y="2761488"/>
            <a:ext cx="6796735" cy="56692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9144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28071" y="2798064"/>
            <a:ext cx="8229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0,246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529584"/>
            <a:ext cx="27432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sinh viên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03320" y="3493008"/>
            <a:ext cx="6796735" cy="5669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91440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703320" y="3493008"/>
            <a:ext cx="4171979" cy="566928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9144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628071" y="3529584"/>
            <a:ext cx="8229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0,151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261104"/>
            <a:ext cx="27432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tín dụng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03320" y="4224528"/>
            <a:ext cx="6796735" cy="5669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91440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703320" y="4224528"/>
            <a:ext cx="1326192" cy="566928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9144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628071" y="4261104"/>
            <a:ext cx="8229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0,048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992624"/>
            <a:ext cx="27432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thu nhập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03320" y="4956048"/>
            <a:ext cx="6796735" cy="5669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91440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703320" y="4956048"/>
            <a:ext cx="801241" cy="566928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9144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628071" y="4992624"/>
            <a:ext cx="8229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0,029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Nhược điểm của độ lợi thông tin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Độ lợi thiên vị thuộc tính có nhiều giá trị phân biệt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Ví dụ cực đoan: “mã khách hàng” chia mỗi nhóm một bản ghi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Nhóm nào cũng thuần khiết nên độ lợi đạt cực đại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Cây hoàn hảo trên tập huấn luyện, vô dụng với dữ liệu mới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C4.5 khắc phục bằng cách chuẩn hoá độ lợi theo độ phân tán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Tỷ lệ độ lợi — thuật toán C4.5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755648"/>
            <a:ext cx="10637215" cy="123444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91440" rtlCol="0" anchor="ctr"/>
          <a:lstStyle/>
          <a:p>
            <a:pPr algn="ctr"/>
            <a:r>
              <a:rPr sz="2600" b="1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GainRatio(A) = Gain(A) / SplitInfo(A)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282696"/>
            <a:ext cx="10637215" cy="2606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SplitInfo(A) = − Σ ( |D_j|/|D| ) · log₂( |D_j|/|D| )</a:t>
            </a:r>
          </a:p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SplitInfo lớn khi thuộc tính chia dữ liệu thành nhiều nhóm nhỏ</a:t>
            </a:r>
          </a:p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Chia cho SplitInfo triệt tiêu lợi thế của thuộc tính nhiều giá trị</a:t>
            </a:r>
          </a:p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Với thu_nhập: SplitInfo = 1,557 nên GainRatio = 0,029/1,557 = 0,019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Chỉ số Gini — thuật toán CART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755648"/>
            <a:ext cx="10637215" cy="123444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91440" rtlCol="0" anchor="ctr"/>
          <a:lstStyle/>
          <a:p>
            <a:pPr algn="ctr"/>
            <a:r>
              <a:rPr sz="2600" b="1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Gini(D) = 1 − Σ p_i²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282696"/>
            <a:ext cx="10637215" cy="2606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Đo xác suất hai bản ghi lấy ngẫu nhiên thuộc hai lớp khác nhau</a:t>
            </a:r>
          </a:p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Với tập D của ta: Gini(D) = 1 − (9/14)² − (5/14)² = 0,459</a:t>
            </a:r>
          </a:p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CART luôn chia nhị phân, kể cả với thuộc tính nhiều giá trị</a:t>
            </a:r>
          </a:p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Gini và entropy cho kết quả gần giống nhau trên phần lớn dữ liệu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Ba thuật toán cây kinh điển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55648"/>
          <a:ext cx="10637214" cy="2401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2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48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11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68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Thuật toán</a:t>
                      </a:r>
                    </a:p>
                  </a:txBody>
                  <a:tcPr marL="109728" anchor="ctr"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Tiêu chí</a:t>
                      </a:r>
                    </a:p>
                  </a:txBody>
                  <a:tcPr marL="109728" anchor="ctr"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Kiểu chia</a:t>
                      </a:r>
                    </a:p>
                  </a:txBody>
                  <a:tcPr marL="109728" anchor="ctr"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Xử lý thiếu</a:t>
                      </a:r>
                    </a:p>
                  </a:txBody>
                  <a:tcPr marL="109728" anchor="ctr">
                    <a:solidFill>
                      <a:srgbClr val="1235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ID3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Độ lợi thông tin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Đa nhánh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Không hỗ trợ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C4.5</a:t>
                      </a:r>
                    </a:p>
                  </a:txBody>
                  <a:tcPr marL="109728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Tỷ lệ độ lợi</a:t>
                      </a:r>
                    </a:p>
                  </a:txBody>
                  <a:tcPr marL="109728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Đa nhánh</a:t>
                      </a:r>
                    </a:p>
                  </a:txBody>
                  <a:tcPr marL="109728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Có hỗ trợ</a:t>
                      </a:r>
                    </a:p>
                  </a:txBody>
                  <a:tcPr marL="109728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CART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Chỉ số Gini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Nhị phân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Dùng phân tách thay thế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Thuộc tính liên tục trong cây quyết định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Không thể tạo một nhánh cho mỗi giá trị: sẽ có hàng nghìn nhánh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Cách làm: chọn **điểm cắt** v, chia nhị phân A ≤ v và A &gt; v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Sắp xếp các giá trị, xét **trung điểm** của mỗi cặp liền kề làm ứng viên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Chọn điểm cắt cho độ lợi thông tin lớn nhất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Cùng một thuộc tính liên tục có thể được dùng lại ở nhiều mức của cây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637215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2200" b="1" i="0">
                <a:solidFill>
                  <a:srgbClr val="F29AA8"/>
                </a:solidFill>
                <a:latin typeface="Segoe UI"/>
                <a:ea typeface="Segoe UI"/>
                <a:cs typeface="Segoe UI"/>
              </a:rPr>
              <a:t>04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Bốn bộ phân loại khác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52628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4800600"/>
            <a:ext cx="972281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5D2E2"/>
                </a:solidFill>
                <a:latin typeface="Segoe UI"/>
                <a:ea typeface="Segoe UI"/>
                <a:cs typeface="Segoe UI"/>
              </a:rPr>
              <a:t>Cây quyết định không phải lựa chọn duy nhất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820948"/>
            <a:ext cx="10637215" cy="5232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 dirty="0" err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Phân</a:t>
            </a:r>
            <a:r>
              <a:rPr sz="3400" b="1" i="0" dirty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3400" b="1" i="0" dirty="0" err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loại</a:t>
            </a:r>
            <a:r>
              <a:rPr sz="3400" b="1" i="0" dirty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n-US" sz="3400" b="1" dirty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Naïve </a:t>
            </a:r>
            <a:r>
              <a:rPr sz="3400" b="1" i="0" dirty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Bayes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755648"/>
            <a:ext cx="10637215" cy="123444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91440" rtlCol="0" anchor="ctr"/>
          <a:lstStyle/>
          <a:p>
            <a:pPr algn="ctr"/>
            <a:r>
              <a:rPr sz="2600" b="1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P(C|X) = P(X|C) · P(C) / P(X)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282696"/>
            <a:ext cx="10637215" cy="146373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dirty="0" err="1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Chọn</a:t>
            </a:r>
            <a:r>
              <a:rPr sz="2400" dirty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400" dirty="0" err="1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lớp</a:t>
            </a:r>
            <a:r>
              <a:rPr sz="2400" dirty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C </a:t>
            </a:r>
            <a:r>
              <a:rPr sz="2400" dirty="0" err="1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làm</a:t>
            </a:r>
            <a:r>
              <a:rPr sz="2400" dirty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400" dirty="0" err="1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cực</a:t>
            </a:r>
            <a:r>
              <a:rPr sz="2400" dirty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400" dirty="0" err="1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đại</a:t>
            </a:r>
            <a:r>
              <a:rPr sz="2400" dirty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P(X|C)·P(C); </a:t>
            </a:r>
            <a:r>
              <a:rPr sz="2400" dirty="0" err="1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mẫu</a:t>
            </a:r>
            <a:r>
              <a:rPr sz="2400" dirty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400" dirty="0" err="1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số</a:t>
            </a:r>
            <a:r>
              <a:rPr sz="2400" dirty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P(X) </a:t>
            </a:r>
            <a:r>
              <a:rPr sz="2400" dirty="0" err="1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như</a:t>
            </a:r>
            <a:r>
              <a:rPr sz="2400" dirty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400" dirty="0" err="1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nhau</a:t>
            </a:r>
            <a:r>
              <a:rPr sz="2400" dirty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400" dirty="0" err="1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nên</a:t>
            </a:r>
            <a:r>
              <a:rPr sz="2400" dirty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400" dirty="0" err="1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bỏ</a:t>
            </a:r>
            <a:r>
              <a:rPr sz="2400" dirty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qua</a:t>
            </a:r>
          </a:p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dirty="0" err="1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Giả</a:t>
            </a:r>
            <a:r>
              <a:rPr sz="2400" dirty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400" dirty="0" err="1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thiết</a:t>
            </a:r>
            <a:r>
              <a:rPr sz="2400" dirty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400" b="1" dirty="0" err="1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ngây</a:t>
            </a:r>
            <a:r>
              <a:rPr sz="2400" b="1" dirty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400" b="1" dirty="0" err="1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thơ</a:t>
            </a:r>
            <a:r>
              <a:rPr sz="2400" dirty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: </a:t>
            </a:r>
            <a:r>
              <a:rPr sz="2400" dirty="0" err="1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các</a:t>
            </a:r>
            <a:r>
              <a:rPr sz="2400" dirty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400" dirty="0" err="1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thuộc</a:t>
            </a:r>
            <a:r>
              <a:rPr sz="2400" dirty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400" dirty="0" err="1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tính</a:t>
            </a:r>
            <a:r>
              <a:rPr sz="2400" dirty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400" dirty="0" err="1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độc</a:t>
            </a:r>
            <a:r>
              <a:rPr sz="2400" dirty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400" dirty="0" err="1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lập</a:t>
            </a:r>
            <a:r>
              <a:rPr sz="2400" dirty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400" dirty="0" err="1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với</a:t>
            </a:r>
            <a:r>
              <a:rPr sz="2400" dirty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400" dirty="0" err="1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nhau</a:t>
            </a:r>
            <a:r>
              <a:rPr sz="2400" dirty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400" dirty="0" err="1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khi</a:t>
            </a:r>
            <a:r>
              <a:rPr sz="2400" dirty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400" dirty="0" err="1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đã</a:t>
            </a:r>
            <a:r>
              <a:rPr sz="2400" dirty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400" dirty="0" err="1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biết</a:t>
            </a:r>
            <a:r>
              <a:rPr sz="2400" dirty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400" dirty="0" err="1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lớp</a:t>
            </a:r>
            <a:endParaRPr sz="2400" dirty="0">
              <a:solidFill>
                <a:srgbClr val="1F2430"/>
              </a:solidFill>
              <a:latin typeface="Segoe UI"/>
              <a:ea typeface="Segoe UI"/>
              <a:cs typeface="Segoe UI"/>
            </a:endParaRPr>
          </a:p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dirty="0" err="1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Nhờ</a:t>
            </a:r>
            <a:r>
              <a:rPr sz="2400" dirty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400" dirty="0" err="1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giả</a:t>
            </a:r>
            <a:r>
              <a:rPr sz="2400" dirty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400" dirty="0" err="1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thiết</a:t>
            </a:r>
            <a:r>
              <a:rPr sz="2400" dirty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400" dirty="0" err="1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đó</a:t>
            </a:r>
            <a:r>
              <a:rPr sz="2400" dirty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, P(X|C) = </a:t>
            </a:r>
            <a:r>
              <a:rPr sz="2400" dirty="0" err="1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tích</a:t>
            </a:r>
            <a:r>
              <a:rPr sz="2400" dirty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400" dirty="0" err="1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các</a:t>
            </a:r>
            <a:r>
              <a:rPr sz="2400" dirty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P(xᵢ|C), </a:t>
            </a:r>
            <a:r>
              <a:rPr sz="2400" dirty="0" err="1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rất</a:t>
            </a:r>
            <a:r>
              <a:rPr sz="2400" dirty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400" dirty="0" err="1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dễ</a:t>
            </a:r>
            <a:r>
              <a:rPr sz="2400" dirty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400" dirty="0" err="1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tính</a:t>
            </a:r>
            <a:endParaRPr sz="2400" dirty="0">
              <a:solidFill>
                <a:srgbClr val="1F2430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820948"/>
            <a:ext cx="10637215" cy="5232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 dirty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Bayes </a:t>
            </a:r>
            <a:r>
              <a:rPr sz="3400" b="1" i="0" dirty="0" err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ngây</a:t>
            </a:r>
            <a:r>
              <a:rPr sz="3400" b="1" i="0" dirty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3400" b="1" i="0" dirty="0" err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thơ</a:t>
            </a:r>
            <a:r>
              <a:rPr sz="3400" b="1" i="0" dirty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3400" b="1" i="0" dirty="0" err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trên</a:t>
            </a:r>
            <a:r>
              <a:rPr sz="3400" b="1" i="0" dirty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3400" b="1" i="0" dirty="0" err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bộ</a:t>
            </a:r>
            <a:r>
              <a:rPr sz="3400" b="1" i="0" dirty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3400" b="1" i="0" dirty="0" err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dữ</a:t>
            </a:r>
            <a:r>
              <a:rPr sz="3400" b="1" i="0" dirty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3400" b="1" i="0" dirty="0" err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liệu</a:t>
            </a:r>
            <a:endParaRPr sz="3400" b="1" i="0" dirty="0">
              <a:solidFill>
                <a:srgbClr val="12355B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solidFill>
            <a:srgbClr val="F7F9FC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91440"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3271" y="1956816"/>
            <a:ext cx="10125151" cy="38854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sz="2200" b="1" i="0" dirty="0" err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Cần</a:t>
            </a:r>
            <a:r>
              <a:rPr sz="2200" b="1" i="0" dirty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200" b="1" i="0" dirty="0" err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phân</a:t>
            </a:r>
            <a:r>
              <a:rPr sz="2200" b="1" i="0" dirty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200" b="1" i="0" dirty="0" err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loại</a:t>
            </a:r>
            <a:endParaRPr sz="2200" b="1" i="0" dirty="0">
              <a:solidFill>
                <a:srgbClr val="C8102E"/>
              </a:solidFill>
              <a:latin typeface="Segoe UI"/>
              <a:ea typeface="Segoe UI"/>
              <a:cs typeface="Segoe U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dirty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X = (</a:t>
            </a:r>
            <a:r>
              <a:rPr sz="1900" b="0" i="0" dirty="0" err="1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tuoi</a:t>
            </a:r>
            <a:r>
              <a:rPr sz="1900" b="0" i="0" dirty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 &lt;=30, </a:t>
            </a:r>
            <a:r>
              <a:rPr sz="1900" b="0" i="0" dirty="0" err="1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thu_nhap</a:t>
            </a:r>
            <a:r>
              <a:rPr sz="1900" b="0" i="0" dirty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900" b="0" i="0" dirty="0" err="1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trung</a:t>
            </a:r>
            <a:r>
              <a:rPr sz="1900" b="0" i="0" dirty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900" b="0" i="0" dirty="0" err="1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sinh_vien</a:t>
            </a:r>
            <a:r>
              <a:rPr sz="1900" b="0" i="0" dirty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 co, </a:t>
            </a:r>
            <a:r>
              <a:rPr sz="1900" b="0" i="0" dirty="0" err="1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tin_dung</a:t>
            </a:r>
            <a:r>
              <a:rPr sz="1900" b="0" i="0" dirty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900" b="0" i="0" dirty="0" err="1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trung</a:t>
            </a:r>
            <a:r>
              <a:rPr sz="1900" b="0" i="0" dirty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900" b="0" i="0" dirty="0" err="1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binh</a:t>
            </a:r>
            <a:r>
              <a:rPr sz="1900" b="0" i="0" dirty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sz="2200" b="1" i="0" dirty="0" err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Xác</a:t>
            </a:r>
            <a:r>
              <a:rPr sz="2200" b="1" i="0" dirty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200" b="1" i="0" dirty="0" err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suất</a:t>
            </a:r>
            <a:r>
              <a:rPr sz="2200" b="1" i="0" dirty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200" b="1" i="0" dirty="0" err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tiên</a:t>
            </a:r>
            <a:r>
              <a:rPr sz="2200" b="1" i="0" dirty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200" b="1" i="0" dirty="0" err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nghiệm</a:t>
            </a:r>
            <a:endParaRPr sz="2200" b="1" i="0" dirty="0">
              <a:solidFill>
                <a:srgbClr val="C8102E"/>
              </a:solidFill>
              <a:latin typeface="Segoe UI"/>
              <a:ea typeface="Segoe UI"/>
              <a:cs typeface="Segoe U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dirty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P(co) = 9/14 = 0,643      P(</a:t>
            </a:r>
            <a:r>
              <a:rPr sz="1900" b="0" i="0" dirty="0" err="1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khong</a:t>
            </a:r>
            <a:r>
              <a:rPr sz="1900" b="0" i="0" dirty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) = 5/14 = 0,357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sz="2200" b="1" i="0" dirty="0" err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Xác</a:t>
            </a:r>
            <a:r>
              <a:rPr sz="2200" b="1" i="0" dirty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200" b="1" i="0" dirty="0" err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suất</a:t>
            </a:r>
            <a:r>
              <a:rPr sz="2200" b="1" i="0" dirty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200" b="1" i="0" dirty="0" err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điều</a:t>
            </a:r>
            <a:r>
              <a:rPr sz="2200" b="1" i="0" dirty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200" b="1" i="0" dirty="0" err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kiện</a:t>
            </a:r>
            <a:endParaRPr sz="2200" b="1" i="0" dirty="0">
              <a:solidFill>
                <a:srgbClr val="C8102E"/>
              </a:solidFill>
              <a:latin typeface="Segoe UI"/>
              <a:ea typeface="Segoe UI"/>
              <a:cs typeface="Segoe U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dirty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P(</a:t>
            </a:r>
            <a:r>
              <a:rPr sz="1900" b="0" i="0" dirty="0" err="1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X|co</a:t>
            </a:r>
            <a:r>
              <a:rPr sz="1900" b="0" i="0" dirty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)    = 2/9 x 4/9 x 6/9 x 6/9 = 0,044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dirty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P(</a:t>
            </a:r>
            <a:r>
              <a:rPr sz="1900" b="0" i="0" dirty="0" err="1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X|khong</a:t>
            </a:r>
            <a:r>
              <a:rPr sz="1900" b="0" i="0" dirty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) = 3/5 x 2/5 x 1/5 x 2/5 = 0,019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sz="2200" b="1" i="0" dirty="0" err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Nhân</a:t>
            </a:r>
            <a:r>
              <a:rPr sz="2200" b="1" i="0" dirty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200" b="1" i="0" dirty="0" err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với</a:t>
            </a:r>
            <a:r>
              <a:rPr sz="2200" b="1" i="0" dirty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200" b="1" i="0" dirty="0" err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tiên</a:t>
            </a:r>
            <a:r>
              <a:rPr sz="2200" b="1" i="0" dirty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200" b="1" i="0" dirty="0" err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nghiệm</a:t>
            </a:r>
            <a:endParaRPr sz="2200" b="1" i="0" dirty="0">
              <a:solidFill>
                <a:srgbClr val="C8102E"/>
              </a:solidFill>
              <a:latin typeface="Segoe UI"/>
              <a:ea typeface="Segoe UI"/>
              <a:cs typeface="Segoe U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900" b="0" i="0" dirty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P(</a:t>
            </a:r>
            <a:r>
              <a:rPr sz="1900" b="0" i="0" dirty="0" err="1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co</a:t>
            </a:r>
            <a:r>
              <a:rPr lang="en-US" sz="1900" b="0" i="0" dirty="0" err="1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|X</a:t>
            </a:r>
            <a:r>
              <a:rPr lang="en-US" sz="1900" b="0" i="0" dirty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900" b="0" i="0" dirty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    : 0,044 x 0,643</a:t>
            </a:r>
            <a:r>
              <a:rPr lang="en-US" sz="1900" b="0" i="0" dirty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 / P(X)</a:t>
            </a:r>
            <a:r>
              <a:rPr sz="1900" b="0" i="0" dirty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1900" b="1" i="0" dirty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0,028</a:t>
            </a:r>
            <a:r>
              <a:rPr lang="en-US" sz="1900" b="1" i="0" dirty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 / P(X)</a:t>
            </a:r>
            <a:r>
              <a:rPr sz="1900" b="0" i="0" dirty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   </a:t>
            </a:r>
            <a:endParaRPr lang="en-US" sz="1900" b="0" i="0" dirty="0">
              <a:solidFill>
                <a:srgbClr val="12355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900" b="0" i="0" dirty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P(</a:t>
            </a:r>
            <a:r>
              <a:rPr sz="1900" b="0" i="0" dirty="0" err="1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khong</a:t>
            </a:r>
            <a:r>
              <a:rPr lang="en-US" sz="1900" b="0" i="0" dirty="0" err="1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|X</a:t>
            </a:r>
            <a:r>
              <a:rPr lang="en-US" sz="1900" b="0" i="0" dirty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900" b="0" i="0" dirty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 : 0,019 x 0,357</a:t>
            </a:r>
            <a:r>
              <a:rPr lang="en-US" sz="1900" b="0" i="0" dirty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 / P(X)</a:t>
            </a:r>
            <a:r>
              <a:rPr sz="1900" b="0" i="0" dirty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9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= 0,007</a:t>
            </a:r>
            <a:r>
              <a:rPr lang="en-US" sz="19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 / P(X)</a:t>
            </a:r>
            <a:endParaRPr sz="1900" b="0" i="0" dirty="0">
              <a:solidFill>
                <a:srgbClr val="12355B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 dirty="0" err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</a:t>
            </a:r>
            <a:r>
              <a:rPr sz="1200" b="0" i="1" dirty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Bẫy xác suất bằng không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Nếu một giá trị thuộc tính **chưa từng** xuất hiện cùng lớp C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Thì P(xᵢ|C) = 0, kéo cả tích về 0 dù thuộc tính khác ủng hộ C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Khắc phục bằng **làm trơn Laplace**: cộng 1 vào mọi số đếm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Mẫu số cộng thêm số giá trị phân biệt của thuộc tính đó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Với tập dữ liệu lớn, việc cộng 1 gần như không đổi kết quả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Phân loại theo k láng giềng gần nhất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Không **học** gì cả: chỉ lưu toàn bộ tập huấn luyện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Khi phân loại, tìm k bản ghi gần nhất rồi lấy nhãn theo đa số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Bắt buộc **chuẩn hoá giá trị** trước, vì dựa hoàn toàn trên khoảng cách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 nhỏ thì nhạy với nhiễu; k lớn thì làm mờ ranh giới giữa các lớp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Học lười: rẻ khi huấn luyện, đắt khi phân loại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Phân loại bằng tập luật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Mỗi đường đi từ gốc tới lá của cây cho **một luật IF–THEN**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Tập luật rút từ cây luôn **loại trừ nhau** và **phủ hết** dữ liệu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Học luật trực tiếp bằng **phủ tuần tự**, lặp cho tới khi phủ hết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Luật học trực tiếp thường ngắn hơn và dễ đọc hơn luật rút từ cây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Đổi lại, chúng có thể chồng lấn nên cần quy tắc sắp thứ tự ưu tiên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637215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2200" b="1" i="0">
                <a:solidFill>
                  <a:srgbClr val="F29AA8"/>
                </a:solidFill>
                <a:latin typeface="Segoe UI"/>
                <a:ea typeface="Segoe UI"/>
                <a:cs typeface="Segoe UI"/>
              </a:rPr>
              <a:t>05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Phương pháp tập hợp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52628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4800600"/>
            <a:ext cx="972281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5D2E2"/>
                </a:solidFill>
                <a:latin typeface="Segoe UI"/>
                <a:ea typeface="Segoe UI"/>
                <a:cs typeface="Segoe UI"/>
              </a:rPr>
              <a:t>Nhiều mô hình yếu ghép lại thành một mô hình mạnh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Ba phương pháp tập hợp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55648"/>
          <a:ext cx="10637214" cy="267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11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27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632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Phương pháp</a:t>
                      </a:r>
                    </a:p>
                  </a:txBody>
                  <a:tcPr marL="109728" anchor="ctr"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Cách xây</a:t>
                      </a:r>
                    </a:p>
                  </a:txBody>
                  <a:tcPr marL="109728" anchor="ctr"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Giảm được</a:t>
                      </a:r>
                    </a:p>
                  </a:txBody>
                  <a:tcPr marL="109728" anchor="ctr">
                    <a:solidFill>
                      <a:srgbClr val="1235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Bagging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Huấn luyện song song trên các mẫu bootstrap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Phương sai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Rừng ngẫu nhiên</a:t>
                      </a:r>
                    </a:p>
                  </a:txBody>
                  <a:tcPr marL="109728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Bagging cộng chọn ngẫu nhiên tập thuộc tính ở mỗi nút</a:t>
                      </a:r>
                    </a:p>
                  </a:txBody>
                  <a:tcPr marL="109728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Phương sai, chống quá khớp</a:t>
                      </a:r>
                    </a:p>
                  </a:txBody>
                  <a:tcPr marL="109728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Boosting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Tuần tự, mô hình sau chữa lỗi mô hình trước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Độ chệch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AdaBoost hoạt động thế nào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Mọi bản ghi khởi đầu với **trọng số bằng nhau** là 1/n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Huấn luyện một bộ phân loại yếu, tính tỷ lệ lỗi có trọng số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Tăng trọng số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cho bản ghi bị phân loại sai, giảm cho bản ghi đúng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Vòng sau vì thế tập trung vào đúng những chỗ vòng trước làm sai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Kết quả cuối là **bỏ phiếu có trọng số** theo độ chính xác từng mô hình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Dữ liệu mất cân bằng lớp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Gian lận, hỏng hóc, bệnh hiếm: lớp cần tìm chỉ chiếm dưới 1%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Lấy mẫu thêm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lớp thiểu số, hoặc **lấy mẫu bớt** lớp đa số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SMOTE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sinh bản ghi thiểu số mới bằng nội suy giữa các láng giềng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Học nhạy chi phí: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gán chi phí cao hơn cho lỗi bỏ sót ca dương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Luôn báo cáo độ nhạy và F1, tuyệt đối không chỉ báo độ chính xác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Chọn bộ phân loại nào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55648"/>
          <a:ext cx="10637214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9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680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Tình huống</a:t>
                      </a:r>
                    </a:p>
                  </a:txBody>
                  <a:tcPr marL="109728" anchor="ctr"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Nên dùng</a:t>
                      </a:r>
                    </a:p>
                  </a:txBody>
                  <a:tcPr marL="109728" anchor="ctr">
                    <a:solidFill>
                      <a:srgbClr val="1235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Cần giải thích cho người nghiệp vụ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Cây quyết định, tập luật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Nhiều thuộc tính định danh, dữ liệu văn bản</a:t>
                      </a:r>
                    </a:p>
                  </a:txBody>
                  <a:tcPr marL="109728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Bayes ngây thơ</a:t>
                      </a:r>
                    </a:p>
                  </a:txBody>
                  <a:tcPr marL="109728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Ranh giới lớp phức tạp, dữ liệu không quá lớn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k láng giềng gần nhất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Cần độ chính xác cao nhất, chấp nhận khó giải thích</a:t>
                      </a:r>
                    </a:p>
                  </a:txBody>
                  <a:tcPr marL="109728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Rừng ngẫu nhiên, boosting</a:t>
                      </a:r>
                    </a:p>
                  </a:txBody>
                  <a:tcPr marL="109728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637215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2200" b="1" i="0">
                <a:solidFill>
                  <a:srgbClr val="F29AA8"/>
                </a:solidFill>
                <a:latin typeface="Segoe UI"/>
                <a:ea typeface="Segoe UI"/>
                <a:cs typeface="Segoe UI"/>
              </a:rPr>
              <a:t>06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Quá khớp và cắt tỉa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52628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4800600"/>
            <a:ext cx="972281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5D2E2"/>
                </a:solidFill>
                <a:latin typeface="Segoe UI"/>
                <a:ea typeface="Segoe UI"/>
                <a:cs typeface="Segoe UI"/>
              </a:rPr>
              <a:t>Cây càng lớn chưa chắc càng tốt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Quá khớp là gì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Mô hình học thuộc cả nhiễu và trường hợp cá biệt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Chính xác rất cao khi huấn luyện, rất thấp khi kiểm thử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Biểu hiện: cây rất sâu, nhiều lá chỉ chứa một hai bản ghi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Nguyên nhân: dữ liệu nhiễu, tập huấn luyện nhỏ, thuật toán tham lam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Giải pháp: cắt tỉa cây và đánh giá trên dữ liệu tách biệt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Hai chiến lược cắt tỉa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755648"/>
            <a:ext cx="5112867" cy="566928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91440" rtlCol="0" anchor="ctr"/>
          <a:lstStyle/>
          <a:p>
            <a:pPr algn="l"/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Tiền cắt tỉa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05456"/>
            <a:ext cx="5112867" cy="34564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Dừng phát triển nhánh sớm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Điều kiện: độ lợi dưới ngưỡng, nút quá ít bản ghi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Nhanh, tiết kiệm tính toán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Rủi ro: dừng quá sớm, bỏ lỡ cấu trúc tốt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1587" y="1755648"/>
            <a:ext cx="5112867" cy="566928"/>
          </a:xfrm>
          <a:prstGeom prst="roundRect">
            <a:avLst>
              <a:gd name="adj" fmla="val 8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91440" rtlCol="0" anchor="ctr"/>
          <a:lstStyle/>
          <a:p>
            <a:pPr algn="l"/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Hậu cắt tỉa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1587" y="2505456"/>
            <a:ext cx="5112867" cy="34564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Xây cây đầy đủ rồi mới tỉa ngược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Thay cây con bằng lá nếu độ lỗi không tăng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Cho cây tốt hơn trong thực tế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Tốn kém hơn về tính toán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637215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2200" b="1" i="0">
                <a:solidFill>
                  <a:srgbClr val="F29AA8"/>
                </a:solidFill>
                <a:latin typeface="Segoe UI"/>
                <a:ea typeface="Segoe UI"/>
                <a:cs typeface="Segoe UI"/>
              </a:rPr>
              <a:t>07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Đánh giá mô hình phân loại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52628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4800600"/>
            <a:ext cx="972281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5D2E2"/>
                </a:solidFill>
                <a:latin typeface="Segoe UI"/>
                <a:ea typeface="Segoe UI"/>
                <a:cs typeface="Segoe UI"/>
              </a:rPr>
              <a:t>Một con số duy nhất không bao giờ đủ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Ma trận nhầm lẫn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700784"/>
            <a:ext cx="106372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FN và FP có chi phí nghiệp vụ rất khác nhau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63240" y="2656332"/>
            <a:ext cx="4175607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Dự đoán: Dương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8847" y="2656332"/>
            <a:ext cx="4175607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Dự đoán: Âm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159252"/>
            <a:ext cx="2176272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Thực tế: Dương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93692"/>
            <a:ext cx="2176272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Thực tế: Âm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99816" y="3195828"/>
            <a:ext cx="4102455" cy="1161288"/>
          </a:xfrm>
          <a:prstGeom prst="roundRect">
            <a:avLst>
              <a:gd name="adj" fmla="val 3937"/>
            </a:avLst>
          </a:prstGeom>
          <a:solidFill>
            <a:srgbClr val="EEF2F7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99816" y="3250692"/>
            <a:ext cx="4102455" cy="5431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9816" y="3825849"/>
            <a:ext cx="4102455" cy="4690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Dương tính đúng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75423" y="3195828"/>
            <a:ext cx="4102455" cy="1161288"/>
          </a:xfrm>
          <a:prstGeom prst="roundRect">
            <a:avLst>
              <a:gd name="adj" fmla="val 3937"/>
            </a:avLst>
          </a:prstGeom>
          <a:solidFill>
            <a:srgbClr val="FBECEE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75423" y="3250692"/>
            <a:ext cx="4102455" cy="5431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FN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75423" y="3825849"/>
            <a:ext cx="4102455" cy="4690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Bỏ sót ca dương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99816" y="4430268"/>
            <a:ext cx="4102455" cy="1161288"/>
          </a:xfrm>
          <a:prstGeom prst="roundRect">
            <a:avLst>
              <a:gd name="adj" fmla="val 3937"/>
            </a:avLst>
          </a:prstGeom>
          <a:solidFill>
            <a:srgbClr val="FBECEE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099816" y="4485132"/>
            <a:ext cx="4102455" cy="5431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FP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99816" y="5060289"/>
            <a:ext cx="4102455" cy="4690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Báo động giả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75423" y="4430268"/>
            <a:ext cx="4102455" cy="1161288"/>
          </a:xfrm>
          <a:prstGeom prst="roundRect">
            <a:avLst>
              <a:gd name="adj" fmla="val 3937"/>
            </a:avLst>
          </a:prstGeom>
          <a:solidFill>
            <a:srgbClr val="EEF2F7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75423" y="4485132"/>
            <a:ext cx="4102455" cy="5431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75423" y="5060289"/>
            <a:ext cx="4102455" cy="4690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Âm tính đúng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Ví dụ tính các độ đo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solidFill>
            <a:srgbClr val="F7F9FC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91440"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3271" y="1956816"/>
            <a:ext cx="10125151" cy="3803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Kết quả trên 10 000 bản ghi kiểm thử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TP = 6 954    FN = 46      (7 000 ban ghi thuc su duong)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FP =   412    TN = 2 588   (3 000 ban ghi thuc su am)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Các độ đo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Do chinh xac = (6954 + 2588) / 10000        = 95,42%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Do nhay      = 6954 / 7000                  = 99,34%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Do dac hieu  = 2588 / 3000                  = 86,27%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Do chuan xac = 6954 / (6954 + 412)          = 94,41%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F1           = 2 x 94,41 x 99,34 / (94,41 + 99,34) = 96,81%</a:t>
            </a:r>
          </a:p>
          <a:p>
            <a:pPr marL="292608" indent="-292608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Độ chính xác 95% che giấu việc mô hình bỏ sót 13,7% số ca âm tính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Bốn con số, bốn câu chuyện khác nhau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2514600"/>
            <a:ext cx="2467279" cy="2103120"/>
          </a:xfrm>
          <a:prstGeom prst="roundRect">
            <a:avLst>
              <a:gd name="adj" fmla="val 3478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05256" y="2679192"/>
            <a:ext cx="2211247" cy="8833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95,42%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3776472"/>
            <a:ext cx="2211247" cy="7150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Độ chính xác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00551" y="2514600"/>
            <a:ext cx="2467279" cy="2103120"/>
          </a:xfrm>
          <a:prstGeom prst="roundRect">
            <a:avLst>
              <a:gd name="adj" fmla="val 3478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28567" y="2679192"/>
            <a:ext cx="2211247" cy="8833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99,34%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28567" y="3776472"/>
            <a:ext cx="2211247" cy="7150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Độ nhạy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3863" y="2514600"/>
            <a:ext cx="2467279" cy="2103120"/>
          </a:xfrm>
          <a:prstGeom prst="roundRect">
            <a:avLst>
              <a:gd name="adj" fmla="val 3478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1879" y="2679192"/>
            <a:ext cx="2211247" cy="8833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86,27%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1879" y="3776472"/>
            <a:ext cx="2211247" cy="7150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Độ đặc hiệu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47175" y="2514600"/>
            <a:ext cx="2467279" cy="2103120"/>
          </a:xfrm>
          <a:prstGeom prst="roundRect">
            <a:avLst>
              <a:gd name="adj" fmla="val 3478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75191" y="2679192"/>
            <a:ext cx="2211247" cy="8833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94,41%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5191" y="3776472"/>
            <a:ext cx="2211247" cy="7150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Độ chuẩn xác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522976"/>
            <a:ext cx="10637215" cy="5303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8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Độ chính xác 95% che giấu việc mô hình bỏ sót 13,7% số ca âm tính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41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Bốn công thức phải nhớ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755648"/>
            <a:ext cx="10637215" cy="123444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91440" rtlCol="0" anchor="ctr"/>
          <a:lstStyle/>
          <a:p>
            <a:pPr algn="ctr"/>
            <a:r>
              <a:rPr sz="2600" b="1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F1 = 2 · P · R / ( P + R 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282696"/>
            <a:ext cx="10637215" cy="2697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Độ chính xác = (TP + TN) / tổng số bản ghi</a:t>
            </a:r>
          </a:p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Độ nhạy R = TP / (TP + FN) — bắt được bao nhiêu ca dương thật</a:t>
            </a:r>
          </a:p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Độ chuẩn xác P = TP / (TP + FP) — báo dương thì đúng bao nhiêu</a:t>
            </a:r>
          </a:p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F1 là trung bình điều hoà, phạt nặng khi một trong hai quá thấp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Đường cong ROC và diện tích dưới đường cong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700784"/>
            <a:ext cx="106372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Đánh giá mô hình ở mọi ngưỡng, không chỉ ở một ngưỡng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626967" y="2414016"/>
            <a:ext cx="5852160" cy="1609344"/>
          </a:xfrm>
          <a:prstGeom prst="rect">
            <a:avLst/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5090007" y="2414016"/>
            <a:ext cx="0" cy="1609344"/>
          </a:xfrm>
          <a:prstGeom prst="line">
            <a:avLst/>
          </a:prstGeom>
          <a:ln w="10160">
            <a:solidFill>
              <a:srgbClr val="D3DA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26967" y="2816352"/>
            <a:ext cx="5852160" cy="0"/>
          </a:xfrm>
          <a:prstGeom prst="line">
            <a:avLst/>
          </a:prstGeom>
          <a:ln w="10160">
            <a:solidFill>
              <a:srgbClr val="D3DA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553047" y="2414016"/>
            <a:ext cx="0" cy="1609344"/>
          </a:xfrm>
          <a:prstGeom prst="line">
            <a:avLst/>
          </a:prstGeom>
          <a:ln w="10160">
            <a:solidFill>
              <a:srgbClr val="D3DA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626967" y="3218688"/>
            <a:ext cx="5852160" cy="0"/>
          </a:xfrm>
          <a:prstGeom prst="line">
            <a:avLst/>
          </a:prstGeom>
          <a:ln w="10160">
            <a:solidFill>
              <a:srgbClr val="D3DA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016087" y="2414016"/>
            <a:ext cx="0" cy="1609344"/>
          </a:xfrm>
          <a:prstGeom prst="line">
            <a:avLst/>
          </a:prstGeom>
          <a:ln w="10160">
            <a:solidFill>
              <a:srgbClr val="D3DA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626967" y="3621024"/>
            <a:ext cx="5852160" cy="0"/>
          </a:xfrm>
          <a:prstGeom prst="line">
            <a:avLst/>
          </a:prstGeom>
          <a:ln w="10160">
            <a:solidFill>
              <a:srgbClr val="D3DA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77240" y="2935224"/>
            <a:ext cx="78638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TPR — độ nhạy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6967" y="4114800"/>
            <a:ext cx="58521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FPR — tỷ lệ dương tính sai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4336320" y="3340608"/>
            <a:ext cx="177338" cy="487680"/>
          </a:xfrm>
          <a:prstGeom prst="line">
            <a:avLst/>
          </a:prstGeom>
          <a:ln w="30480">
            <a:solidFill>
              <a:srgbClr val="1235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4513658" y="3072384"/>
            <a:ext cx="221673" cy="268224"/>
          </a:xfrm>
          <a:prstGeom prst="line">
            <a:avLst/>
          </a:prstGeom>
          <a:ln w="30480">
            <a:solidFill>
              <a:srgbClr val="1235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4735331" y="2913888"/>
            <a:ext cx="310342" cy="158496"/>
          </a:xfrm>
          <a:prstGeom prst="line">
            <a:avLst/>
          </a:prstGeom>
          <a:ln w="30480">
            <a:solidFill>
              <a:srgbClr val="1235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5045673" y="2791968"/>
            <a:ext cx="443345" cy="121920"/>
          </a:xfrm>
          <a:prstGeom prst="line">
            <a:avLst/>
          </a:prstGeom>
          <a:ln w="30480">
            <a:solidFill>
              <a:srgbClr val="1235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5489018" y="2718816"/>
            <a:ext cx="620684" cy="73152"/>
          </a:xfrm>
          <a:prstGeom prst="line">
            <a:avLst/>
          </a:prstGeom>
          <a:ln w="30480">
            <a:solidFill>
              <a:srgbClr val="1235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6109702" y="2657856"/>
            <a:ext cx="886691" cy="60960"/>
          </a:xfrm>
          <a:prstGeom prst="line">
            <a:avLst/>
          </a:prstGeom>
          <a:ln w="30480">
            <a:solidFill>
              <a:srgbClr val="1235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6996393" y="2621280"/>
            <a:ext cx="886690" cy="36576"/>
          </a:xfrm>
          <a:prstGeom prst="line">
            <a:avLst/>
          </a:prstGeom>
          <a:ln w="30480">
            <a:solidFill>
              <a:srgbClr val="1235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7883083" y="2609088"/>
            <a:ext cx="886691" cy="12192"/>
          </a:xfrm>
          <a:prstGeom prst="line">
            <a:avLst/>
          </a:prstGeom>
          <a:ln w="30480">
            <a:solidFill>
              <a:srgbClr val="1235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4336320" y="3218688"/>
            <a:ext cx="2216727" cy="609600"/>
          </a:xfrm>
          <a:prstGeom prst="line">
            <a:avLst/>
          </a:prstGeom>
          <a:ln w="30480">
            <a:solidFill>
              <a:srgbClr val="C810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6553047" y="2609088"/>
            <a:ext cx="2216727" cy="609600"/>
          </a:xfrm>
          <a:prstGeom prst="line">
            <a:avLst/>
          </a:prstGeom>
          <a:ln w="30480">
            <a:solidFill>
              <a:srgbClr val="C810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4240308" y="3732276"/>
            <a:ext cx="192024" cy="192024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417646" y="3244596"/>
            <a:ext cx="192024" cy="192024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639319" y="2976372"/>
            <a:ext cx="192024" cy="192024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949661" y="2817876"/>
            <a:ext cx="192024" cy="192024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5393006" y="2695956"/>
            <a:ext cx="192024" cy="192024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013690" y="2622804"/>
            <a:ext cx="192024" cy="192024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900381" y="2561844"/>
            <a:ext cx="192024" cy="192024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7787071" y="2525268"/>
            <a:ext cx="192024" cy="192024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673762" y="2513076"/>
            <a:ext cx="192024" cy="192024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4240308" y="3732276"/>
            <a:ext cx="192024" cy="19202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457035" y="3122676"/>
            <a:ext cx="192024" cy="19202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8673762" y="2513076"/>
            <a:ext cx="192024" cy="19202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2804007" y="4681728"/>
            <a:ext cx="182880" cy="182880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078327" y="4535424"/>
            <a:ext cx="294436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Mô hình · AUC ≈ 0,87</a:t>
            </a:r>
          </a:p>
        </p:txBody>
      </p:sp>
      <p:sp>
        <p:nvSpPr>
          <p:cNvPr id="39" name="Oval 38"/>
          <p:cNvSpPr/>
          <p:nvPr/>
        </p:nvSpPr>
        <p:spPr>
          <a:xfrm>
            <a:off x="6095847" y="4681728"/>
            <a:ext cx="182880" cy="1828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70167" y="4535424"/>
            <a:ext cx="294436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Đoán mò · AUC = 0,5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5212080"/>
            <a:ext cx="10637215" cy="8412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8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AUC = 0,5 là đoán mò; AUC = 1,0 là phân tách hoàn hảo</a:t>
            </a:r>
          </a:p>
          <a:p>
            <a:pPr marL="292608" indent="-292608">
              <a:lnSpc>
                <a:spcPct val="112000"/>
              </a:lnSpc>
              <a:spcAft>
                <a:spcPts val="8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Dùng AUC khi cần chọn ngưỡng, hoặc khi dữ liệu mất cân bằng lớp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43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554480" y="2148840"/>
            <a:ext cx="9082735" cy="2377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Với dữ liệu mất cân bằng, độ chính xác là con số gây hiểu lầm nhất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4617720"/>
            <a:ext cx="816833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Bài toán gian lận 1%: mô hình luôn trả lời “không gian lận” đạt độ chính xác 99%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Ba cách tách dữ liệu đánh giá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967992"/>
            <a:ext cx="3362858" cy="1771904"/>
          </a:xfrm>
          <a:prstGeom prst="roundRect">
            <a:avLst>
              <a:gd name="adj" fmla="val 4128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reeform 5"/>
          <p:cNvSpPr/>
          <p:nvPr/>
        </p:nvSpPr>
        <p:spPr>
          <a:xfrm>
            <a:off x="1071676" y="2367401"/>
            <a:ext cx="453543" cy="430866"/>
          </a:xfrm>
          <a:custGeom>
            <a:avLst/>
            <a:gdLst/>
            <a:ahLst/>
            <a:cxnLst/>
            <a:rect l="l" t="t" r="r" b="b"/>
            <a:pathLst>
              <a:path w="453543" h="430866">
                <a:moveTo>
                  <a:pt x="0" y="0"/>
                </a:moveTo>
                <a:lnTo>
                  <a:pt x="453543" y="0"/>
                </a:lnTo>
                <a:lnTo>
                  <a:pt x="283464" y="204095"/>
                </a:lnTo>
                <a:lnTo>
                  <a:pt x="283464" y="430866"/>
                </a:lnTo>
                <a:lnTo>
                  <a:pt x="170079" y="351496"/>
                </a:lnTo>
                <a:lnTo>
                  <a:pt x="170079" y="204095"/>
                </a:lnTo>
                <a:close/>
              </a:path>
            </a:pathLst>
          </a:cu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746504" y="2187448"/>
            <a:ext cx="2192426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Giữ lại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3" y="3083560"/>
            <a:ext cx="2887370" cy="455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chia một lần, ví dụ 70% huấn luyện, 30% kiểm thử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4418" y="1967992"/>
            <a:ext cx="3362858" cy="1771904"/>
          </a:xfrm>
          <a:prstGeom prst="roundRect">
            <a:avLst>
              <a:gd name="adj" fmla="val 4128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Freeform 9"/>
          <p:cNvSpPr/>
          <p:nvPr/>
        </p:nvSpPr>
        <p:spPr>
          <a:xfrm>
            <a:off x="4708855" y="2344724"/>
            <a:ext cx="453542" cy="113386"/>
          </a:xfrm>
          <a:custGeom>
            <a:avLst/>
            <a:gdLst/>
            <a:ahLst/>
            <a:cxnLst/>
            <a:rect l="l" t="t" r="r" b="b"/>
            <a:pathLst>
              <a:path w="453542" h="113386">
                <a:moveTo>
                  <a:pt x="0" y="113386"/>
                </a:moveTo>
                <a:lnTo>
                  <a:pt x="124724" y="0"/>
                </a:lnTo>
                <a:lnTo>
                  <a:pt x="453542" y="0"/>
                </a:lnTo>
                <a:lnTo>
                  <a:pt x="328818" y="113386"/>
                </a:lnTo>
                <a:close/>
              </a:path>
            </a:pathLst>
          </a:cu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708855" y="2458110"/>
            <a:ext cx="328818" cy="340156"/>
          </a:xfrm>
          <a:prstGeom prst="rect">
            <a:avLst/>
          </a:prstGeom>
          <a:solidFill>
            <a:srgbClr val="245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Freeform 11"/>
          <p:cNvSpPr/>
          <p:nvPr/>
        </p:nvSpPr>
        <p:spPr>
          <a:xfrm>
            <a:off x="5037673" y="2344724"/>
            <a:ext cx="124724" cy="453543"/>
          </a:xfrm>
          <a:custGeom>
            <a:avLst/>
            <a:gdLst/>
            <a:ahLst/>
            <a:cxnLst/>
            <a:rect l="l" t="t" r="r" b="b"/>
            <a:pathLst>
              <a:path w="124724" h="453543">
                <a:moveTo>
                  <a:pt x="0" y="113386"/>
                </a:moveTo>
                <a:lnTo>
                  <a:pt x="124724" y="0"/>
                </a:lnTo>
                <a:lnTo>
                  <a:pt x="124724" y="340157"/>
                </a:lnTo>
                <a:lnTo>
                  <a:pt x="0" y="453543"/>
                </a:lnTo>
                <a:close/>
              </a:path>
            </a:pathLst>
          </a:custGeom>
          <a:solidFill>
            <a:srgbClr val="3B7A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83682" y="2187448"/>
            <a:ext cx="2192426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- Nhanh nhưng kết quả phụ thuộc vào lần chia may rủi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1596" y="1967992"/>
            <a:ext cx="3362858" cy="1771904"/>
          </a:xfrm>
          <a:prstGeom prst="roundRect">
            <a:avLst>
              <a:gd name="adj" fmla="val 4128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334695" y="2526141"/>
            <a:ext cx="192755" cy="192755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606820" y="2594173"/>
            <a:ext cx="170078" cy="170078"/>
          </a:xfrm>
          <a:prstGeom prst="ellipse">
            <a:avLst/>
          </a:prstGeom>
          <a:solidFill>
            <a:srgbClr val="3B7A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493434" y="2333386"/>
            <a:ext cx="181416" cy="181416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20860" y="2187448"/>
            <a:ext cx="2192426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Kiểm chứng chéo k phần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9340" y="3083560"/>
            <a:ext cx="2887370" cy="455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lần lượt mỗi phần làm tập kiểm thử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977639"/>
            <a:ext cx="3362858" cy="1771904"/>
          </a:xfrm>
          <a:prstGeom prst="roundRect">
            <a:avLst>
              <a:gd name="adj" fmla="val 4128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Freeform 20"/>
          <p:cNvSpPr/>
          <p:nvPr/>
        </p:nvSpPr>
        <p:spPr>
          <a:xfrm>
            <a:off x="1071676" y="4377049"/>
            <a:ext cx="453543" cy="430866"/>
          </a:xfrm>
          <a:custGeom>
            <a:avLst/>
            <a:gdLst/>
            <a:ahLst/>
            <a:cxnLst/>
            <a:rect l="l" t="t" r="r" b="b"/>
            <a:pathLst>
              <a:path w="453543" h="430866">
                <a:moveTo>
                  <a:pt x="0" y="0"/>
                </a:moveTo>
                <a:lnTo>
                  <a:pt x="453543" y="0"/>
                </a:lnTo>
                <a:lnTo>
                  <a:pt x="283464" y="204095"/>
                </a:lnTo>
                <a:lnTo>
                  <a:pt x="283464" y="430866"/>
                </a:lnTo>
                <a:lnTo>
                  <a:pt x="170079" y="351496"/>
                </a:lnTo>
                <a:lnTo>
                  <a:pt x="170079" y="204095"/>
                </a:lnTo>
                <a:close/>
              </a:path>
            </a:pathLst>
          </a:cu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746504" y="4197096"/>
            <a:ext cx="2192426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- k = 10 là lựa chọn tiêu chuẩn trong thực tế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14418" y="3977639"/>
            <a:ext cx="3362858" cy="1771904"/>
          </a:xfrm>
          <a:prstGeom prst="roundRect">
            <a:avLst>
              <a:gd name="adj" fmla="val 4128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Freeform 23"/>
          <p:cNvSpPr/>
          <p:nvPr/>
        </p:nvSpPr>
        <p:spPr>
          <a:xfrm>
            <a:off x="4708855" y="4354372"/>
            <a:ext cx="453542" cy="113386"/>
          </a:xfrm>
          <a:custGeom>
            <a:avLst/>
            <a:gdLst/>
            <a:ahLst/>
            <a:cxnLst/>
            <a:rect l="l" t="t" r="r" b="b"/>
            <a:pathLst>
              <a:path w="453542" h="113386">
                <a:moveTo>
                  <a:pt x="0" y="113386"/>
                </a:moveTo>
                <a:lnTo>
                  <a:pt x="124724" y="0"/>
                </a:lnTo>
                <a:lnTo>
                  <a:pt x="453542" y="0"/>
                </a:lnTo>
                <a:lnTo>
                  <a:pt x="328818" y="113386"/>
                </a:lnTo>
                <a:close/>
              </a:path>
            </a:pathLst>
          </a:cu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708855" y="4467758"/>
            <a:ext cx="328818" cy="340156"/>
          </a:xfrm>
          <a:prstGeom prst="rect">
            <a:avLst/>
          </a:prstGeom>
          <a:solidFill>
            <a:srgbClr val="245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Freeform 25"/>
          <p:cNvSpPr/>
          <p:nvPr/>
        </p:nvSpPr>
        <p:spPr>
          <a:xfrm>
            <a:off x="5037673" y="4354372"/>
            <a:ext cx="124724" cy="453543"/>
          </a:xfrm>
          <a:custGeom>
            <a:avLst/>
            <a:gdLst/>
            <a:ahLst/>
            <a:cxnLst/>
            <a:rect l="l" t="t" r="r" b="b"/>
            <a:pathLst>
              <a:path w="124724" h="453543">
                <a:moveTo>
                  <a:pt x="0" y="113386"/>
                </a:moveTo>
                <a:lnTo>
                  <a:pt x="124724" y="0"/>
                </a:lnTo>
                <a:lnTo>
                  <a:pt x="124724" y="340157"/>
                </a:lnTo>
                <a:lnTo>
                  <a:pt x="0" y="453543"/>
                </a:lnTo>
                <a:close/>
              </a:path>
            </a:pathLst>
          </a:custGeom>
          <a:solidFill>
            <a:srgbClr val="3B7A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83682" y="4197096"/>
            <a:ext cx="2192426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Bootstrap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52162" y="5093208"/>
            <a:ext cx="2887370" cy="455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lấy mẫu có hoàn lại, phù hợp với tập dữ liệu nhỏ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45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Cây quyết định bằng scikit-learn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700784"/>
            <a:ext cx="106372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criterion="entropy" chính là độ lợi thông tin vừa học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322576"/>
            <a:ext cx="10637215" cy="3730752"/>
          </a:xfrm>
          <a:prstGeom prst="rect">
            <a:avLst/>
          </a:prstGeom>
          <a:solidFill>
            <a:srgbClr val="F7F9FC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91440"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33271" y="2523744"/>
            <a:ext cx="10125151" cy="33284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from sklearn.model_selection import train_test_split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from sklearn.tree import DecisionTreeClassifier, export_text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from sklearn.metrics import confusion_matrix, classification_report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X_tr, X_te, y_tr, y_te = train_test_split(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    X, y, test_size=0.3, stratify=y, random_state=42)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cay = DecisionTreeClassifier(criterion="entropy", max_depth=4,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                             random_state=42).fit(X_tr, y_tr)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print(export_text(cay, feature_names=list(X.columns)))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y_dd = cay.predict(X_te)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print(confusion_matrix(y_te, y_dd))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print(classification_report(y_te, y_dd))</a:t>
            </a:r>
          </a:p>
          <a:p>
            <a:pPr marL="292608" indent="-292608"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18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max_depth là cách tiền cắt tỉa; bỏ tham số này là cây sẽ quá khớp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Tóm tắt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Phân loại gồm hai giai đoạn tách biệt: học và áp dụng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Cây quyết định được xây tham lam, từ trên xuống, chia để trị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ID3 dùng độ lợi, C4.5 tỷ lệ độ lợi, CART chỉ số Gini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Cắt tỉa là công cụ chính chống quá khớp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Luôn báo cáo ma trận nhầm lẫn, không chỉ độ chính xác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Câu hỏi ôn tập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775967"/>
            <a:ext cx="10637215" cy="6238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91440" rtlCol="0" anchor="ctr"/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1.  </a:t>
            </a:r>
            <a:r>
              <a:rPr sz="22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Tính Info(D) cho tập có 12 bản ghi gồm 8 lớp A và 4 lớp 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527807"/>
            <a:ext cx="10637215" cy="6238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91440" rtlCol="0" anchor="ctr"/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2.  </a:t>
            </a:r>
            <a:r>
              <a:rPr sz="22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Chứng minh entropy đạt cực đại khi hai lớp có tỷ lệ bằng nhau.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279648"/>
            <a:ext cx="10637215" cy="936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91440" rtlCol="0" anchor="ctr"/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3.  </a:t>
            </a:r>
            <a:r>
              <a:rPr sz="22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Vì sao thuộc tính “số căn cước” luôn có độ lợi thông tin cao nhất?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344416"/>
            <a:ext cx="10637215" cy="936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91440" rtlCol="0" anchor="ctr"/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4.  </a:t>
            </a:r>
            <a:r>
              <a:rPr sz="22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Cho TP = 40, FN = 60, FP = 10, TN = 890: tính đủ năm độ đo và nhận xét.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409184"/>
            <a:ext cx="10637215" cy="6238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91440" rtlCol="0" anchor="ctr"/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5.  </a:t>
            </a:r>
            <a:r>
              <a:rPr sz="22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Khi nào tiền cắt tỉa được ưa dùng hơn hậu cắt tỉa?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Tài liệu tham khảo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92608" indent="-292608" algn="l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Nguyễn Quỳnh Chi (2018), Bài giảng Kho dữ liệu và Kỹ thuật khai phá, Học viện CNBCVT</a:t>
            </a:r>
          </a:p>
          <a:p>
            <a:pPr marL="292608" indent="-292608" algn="l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Han, Kamber &amp; Pei (2022), Data Mining: Concepts and Techniques, 4th ed., Morgan Kaufmann</a:t>
            </a:r>
          </a:p>
          <a:p>
            <a:pPr marL="292608" indent="-292608" algn="l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Tan, Steinbach &amp; Kumar (2019), Introduction to Data Mining, 2nd ed., Pearson</a:t>
            </a:r>
          </a:p>
          <a:p>
            <a:pPr marL="292608" indent="-292608" algn="l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Bramer (2016), Principles of Data Mining, 3rd ed., Springer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sz="14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Buổi sau là buổi bài tập: chuẩn bị trước bài tập tự luận và tiến độ bài tập lớn.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49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4901</Words>
  <Application>Microsoft Office PowerPoint</Application>
  <PresentationFormat>Widescreen</PresentationFormat>
  <Paragraphs>519</Paragraphs>
  <Slides>49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5" baseType="lpstr">
      <vt:lpstr>Aptos</vt:lpstr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Bài 8 - Phân loại bằng cây quyết định</dc:title>
  <dc:subject>INT1422 Kho dữ liệu và Khai phá dữ liệu</dc:subject>
  <dc:creator>Nguyen Quynh Chi - PTIT</dc:creator>
  <cp:keywords/>
  <dc:description>generated using python-pptx</dc:description>
  <cp:lastModifiedBy>Phan Ly Huynh</cp:lastModifiedBy>
  <cp:revision>5</cp:revision>
  <dcterms:created xsi:type="dcterms:W3CDTF">2013-01-27T09:14:16Z</dcterms:created>
  <dcterms:modified xsi:type="dcterms:W3CDTF">2026-09-22T07:09:51Z</dcterms:modified>
  <cp:category/>
</cp:coreProperties>
</file>