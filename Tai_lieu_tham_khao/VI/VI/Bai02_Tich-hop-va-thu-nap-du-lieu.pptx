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2 tiết: giảng mục 1-3 trên lớp, mục 4-6 giảng nhanh và giao đọc thêm.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 2 và 5 là phần dùng trực tiếp khi viết luồng nạp của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sinh viên đã gặp tình huống nào ở nơi thực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mức đầu công cụ giải quyết được; mức ngữ nghĩa luôn cần con người quyết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ví dụ đắt giá nhất của bài; nhiều dự án thật đã sai đúng chỗ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tập lớn thường gặp ba loại đầu; nhắc sinh viên chọn nguồn có thể lấy lại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Học phần đi theo hướng vật lý; đó là nội dung Bài 3 đến Bài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Vẽ lại sơ đồ này lên bảng và đánh dấu bài giảng nào phủ chặng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sinh viên hệ thống ở nơi thực tập nằm ở tầng nào của sơ đồ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dòng cuối: trong bài tập lớn nhóm phải đóng cả bốn vai.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Nguyên tắc chọn: bắt đầu từ độ trễ nghiệp vụ chấp nhận được, không từ công nghệ.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Cách nhìn này giải thích vì sao lô và luồng không phải hai thế giới tách biệt.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Bẫy hay gặp: dùng updated_at nhưng nguồn không cập nhật khi xoá.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Lỗi kinh điển: dùng &gt;= cả hai đầu, khiến bản ghi biên bị nạp hai lần.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 ba lỗi này đều âm thầm, chỉ lộ ra khi đối chiếu số dòng.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tập lớn hầu như luôn dùng kéo theo lịch — đơn giản và đủ dùng.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dòng thứ tư: lưu phản hồi thô là cách duy nhất gỡ lỗi được về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Log-based là chuẩn công nghiệp hiện nay; Debezium là công cụ phổ biến.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chính là đầu vào để dựng bảng chiều biến đổi chậm ở Bài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Dòng đầu là lý do vì sao phải giám sát luồng CDC sát hơn luồng theo lô.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Thực tế: chọn ít nhất một lần, rồi khử trùng lặp ở bước nạp — sẽ học ở Bài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nghĩ 30 giây vì sao bên gửi không phân biệt được hai tình huống.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lý do sâu xa vì sao mọi bước nạp phải bình phương — sẽ nói kỹ ở Bài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Truy vấn SUM(doanhThu) chỉ cần một cột; định dạng cột đọc đúng cột đó.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cần nhớ dòng cuối; ba dòng trên là để so sánh.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Thống kê min–max ở footer là thứ cho phép bỏ qua cả nhóm hàng không thoả điều kiện.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cơ chế này nhân nhau, nên lợi ích tổng thường là một bậc độ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tính lại với 30 cột và truy vấn dùng 2 cột.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Vấn đề tệp vụn sẽ quay lại ở Bài 4 khi nói về data lake.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sinh viên: nếu nguồn thêm một cột thì luồng của nhóm có gãy không?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con số này đủ để ước lượng nhanh khi thiết kế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Gấp slide lại, yêu cầu sinh viên nhắc các ý trước khi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một câu tại lớp, phần còn lại giao về nhà.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phần đọc thêm là chuẩn bị trực tiếp cho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Tích hợp và thu nạp dữ liệu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 dữ liệu, chiến lược thu nạp, độ tin cậy và định dạng lưu trữ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2 · 2 tiết · Chuẩn đầu ra: CLO1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3606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98424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Nguồn dữ liệu và bài toán tích hợp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3652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Vòng đời dữ liệu và nền tảng dữ liệu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4060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28879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Chiến lược thu nạp dữ liệu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9287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94106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biến đổi dữ liệu (CDC)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1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593335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tin cậy khi thu nạp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97423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5245607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Định dạng và tổ chức lưu trữ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1199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loại được các nguồn dữ liệu theo cách thu nạp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7977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được chiến lược thu nạp cho một yêu cầu nghiệp vụ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78352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Giải thích được ba cách bắt biến đổi dữ liệu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7692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biệt ba mức bảo đảm giao nhận dữ liệu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7550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Giải thích cấu trúc bên trong tệp Parquet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Nguồn dữ liệu và bài toán tích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Không tổ chức nào chỉ có một cơ sở dữ liệu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Năm nguyên nhân của phân mảnh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6916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3015" y="2479324"/>
            <a:ext cx="158739" cy="15873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8999" y="2672080"/>
            <a:ext cx="226771" cy="226771"/>
          </a:xfrm>
          <a:prstGeom prst="roundRect">
            <a:avLst>
              <a:gd name="adj" fmla="val 2016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3802" y="2524678"/>
            <a:ext cx="136062" cy="136062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15455" y="2694757"/>
            <a:ext cx="192755" cy="204094"/>
          </a:xfrm>
          <a:prstGeom prst="roundRect">
            <a:avLst>
              <a:gd name="adj" fmla="val 23719"/>
            </a:avLst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6504" y="238861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Mỗi phòng ban một hệ thống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Mua sắm độc lập, không ai điều phối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4418" y="216916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08855" y="2445308"/>
            <a:ext cx="453542" cy="113386"/>
          </a:xfrm>
          <a:custGeom>
            <a:avLst/>
            <a:gdLst/>
            <a:ahLst/>
            <a:cxnLst/>
            <a:rect l="l" t="t" r="r" b="b"/>
            <a:pathLst>
              <a:path w="453542" h="113386">
                <a:moveTo>
                  <a:pt x="0" y="113386"/>
                </a:moveTo>
                <a:lnTo>
                  <a:pt x="124724" y="0"/>
                </a:lnTo>
                <a:lnTo>
                  <a:pt x="453542" y="0"/>
                </a:lnTo>
                <a:lnTo>
                  <a:pt x="328818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8855" y="2558694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037673" y="2445308"/>
            <a:ext cx="124724" cy="453543"/>
          </a:xfrm>
          <a:custGeom>
            <a:avLst/>
            <a:gdLst/>
            <a:ahLst/>
            <a:cxnLst/>
            <a:rect l="l" t="t" r="r" b="b"/>
            <a:pathLst>
              <a:path w="124724" h="453543">
                <a:moveTo>
                  <a:pt x="0" y="113386"/>
                </a:moveTo>
                <a:lnTo>
                  <a:pt x="124724" y="0"/>
                </a:lnTo>
                <a:lnTo>
                  <a:pt x="124724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3682" y="238861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Khác mô hình 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2162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Quan hệ, tài liệu, tệp phẳng, hàng đợi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1596" y="216916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3356" y="2422631"/>
            <a:ext cx="498896" cy="498896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82096" y="2581371"/>
            <a:ext cx="181416" cy="1814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0860" y="238861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Khác nền tảng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9340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Hệ quản trị, hệ điều hành, giao thức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77639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071676" y="4276465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0" y="0"/>
                </a:moveTo>
                <a:lnTo>
                  <a:pt x="453543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9" y="351496"/>
                </a:lnTo>
                <a:lnTo>
                  <a:pt x="170079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46504" y="419709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Khác quy ước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489204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Tên cột, đơn vị đo, bảng mã, định dạng ngày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4418" y="3977639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08855" y="4253788"/>
            <a:ext cx="453542" cy="453542"/>
          </a:xfrm>
          <a:prstGeom prst="ellipse">
            <a:avLst/>
          </a:prstGeom>
          <a:noFill/>
          <a:ln w="279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4935626" y="4355835"/>
            <a:ext cx="0" cy="124725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35626" y="4480560"/>
            <a:ext cx="113386" cy="0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83682" y="419709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Hệ thống kế thừa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2162" y="489204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Chạy đã hai mươi năm, không ai dám thay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1596" y="3977639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346033" y="4253788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226771" y="0"/>
                </a:moveTo>
                <a:lnTo>
                  <a:pt x="453543" y="430866"/>
                </a:lnTo>
                <a:lnTo>
                  <a:pt x="0" y="430866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50127" y="4401190"/>
            <a:ext cx="45354" cy="158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50127" y="4599614"/>
            <a:ext cx="45354" cy="453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0860" y="419709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Sáp nhập, mua lại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9340" y="489204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Nhận thêm nguyên một bộ hệ thống trùng lặp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mức không đồng nhất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770"/>
                <a:gridCol w="3958033"/>
                <a:gridCol w="420541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Mức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Khác biệt ở đâu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Ví dụ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Hệ thống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Phần cứng, HĐH, giao thức mạng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Oracle trên Linux ↔ SQL Server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Cú pháp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Định dạng biểu diễn dữ liệu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CSV ↔ JSON ↔ bảng quan hệ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Lược đồ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Cấu trúc bảng, khoá, kiểu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Một bảng ↔ ba bảng chuẩn hoá lược đồ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Ngữ nghĩa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Ý nghĩa thật của dữ liệu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“Doanh thu” gồm hay chưa gồm VAT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Fong &amp; Wong (2021), Information Systems Reengineering, Integration and Normalization, 4th ed., Springer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 đồng nhất ngữ nghĩa trông thế nào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Ba nguồn cùng nói về “doanh thu”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Ban hang  : doanh_thu = don_gia * so_luong          -- chua VAT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Ke toan   : doanh_thu = tien_da_thu                 -- da tru chiet khau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Thuong mai: doanh_thu = gia_niem_yet * so_luong     -- da gom VAT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Hậu quả nếu cộng thẳng ba nguồn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Con số tổng vô nghĩa: cộng ba đại lượng khác định nghĩa với nhau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công cụ nào phát hiện được, vì cả ba đều là kiểu số hợp lệ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Cách xử lý duy nhất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Lập từ điển thuật ngữ, chốt một định nghĩa, ghi rõ nguồn nào cần quy đổi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Fong &amp; Wong (2021), Information Systems Reengineering, Integration and Normalization, 4th ed., Springer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Năm loại nguồn và cách lấy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3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303"/>
                <a:gridCol w="3457094"/>
                <a:gridCol w="452081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Loại nguồn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lấy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Vấn đề đặc thù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CSDL quan hệ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JDBC, ODBC, CDC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Truy vấn nặng làm chậm hệ tác nghiệp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Tệp phẳng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Đọc thư mục, FTP, S3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Tệp đến muộn hoặc đến hai lần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API dịch vụ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HTTP, phân trang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Giới hạn tần suất gọi, đổi phiên bản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Hàng đợi thông điệp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Kafka, RabbitMQ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Thông điệp đến sai thứ tự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Dữ liệu ngoài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Tải thủ công, mua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kiểm soát được lược đồ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Hai chiến lược tích hợp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Tích hợp ảo (liên hợp)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vẫn nằm tại nguồn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Truy vấn được phân rã và chuyển tiếp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Luôn cập nhật, không trùng lặp lưu trữ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Chậm, phụ thuộc nguồn còn sống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Tích hợp vật lý (sao chép)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được sao chép và làm sạch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Nạp theo lô hoặc theo luồng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Truy vấn nhanh, giữ được lịch sử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trễ, tốn chi phí lưu trữ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Hầu hết tổ chức chọn tích hợp vật lý, vì hệ tác nghiệp không chịu nổi tải phân tích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Một truy vấn quét mười năm lịch sử sẽ làm treo hệ thống bán hàng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Vòng đời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Năm chặng từ nguồn đến người ra quyết định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Vòng đời kỹ thuật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Sinh dữ liệu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2308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81492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Thu nạp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5656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85745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Lưu trữ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6081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89997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Biến đổi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65066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9425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Phục vụ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Ba việc xuyên suốt mọi chặng: bảo mật, quản trị dữ liệu, giám sát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3 tập trung vào chặng biến đổi; Bài 4 vào chặng lưu trữ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Các tầng của một nền tảng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738835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Tầng phục vụ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Báo cáo, OLAP, mô hình học máy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22499"/>
            <a:ext cx="10637215" cy="738835"/>
          </a:xfrm>
          <a:prstGeom prst="roundRect">
            <a:avLst>
              <a:gd name="adj" fmla="val 8000"/>
            </a:avLst>
          </a:prstGeom>
          <a:solidFill>
            <a:srgbClr val="1942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Tầng biến đổi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Làm sạch, hợp nhất, dựng bảng phân tích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89350"/>
            <a:ext cx="10637215" cy="738835"/>
          </a:xfrm>
          <a:prstGeom prst="roundRect">
            <a:avLst>
              <a:gd name="adj" fmla="val 8000"/>
            </a:avLst>
          </a:prstGeom>
          <a:solidFill>
            <a:srgbClr val="204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Tầng lưu trữ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Kho dữ liệu, data lake hoặc lakehouse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56201"/>
            <a:ext cx="10637215" cy="738835"/>
          </a:xfrm>
          <a:prstGeom prst="roundRect">
            <a:avLst>
              <a:gd name="adj" fmla="val 8000"/>
            </a:avLst>
          </a:prstGeom>
          <a:solidFill>
            <a:srgbClr val="275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Tầng thu nạp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Theo lô, theo luồng, bắt biến đổi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223052"/>
            <a:ext cx="10637215" cy="738835"/>
          </a:xfrm>
          <a:prstGeom prst="roundRect">
            <a:avLst>
              <a:gd name="adj" fmla="val 8000"/>
            </a:avLst>
          </a:prstGeom>
          <a:solidFill>
            <a:srgbClr val="2E69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Nguồn dữ liệu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Hệ tác nghiệp, API, tệp, cảm biến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Ai làm gì trên nền tảng đó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Kỹ sư dữ liệu: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dựng và vận hành ba tầng dưới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Nhà phân tích: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dùng tầng phục vụ để trả lời câu hỏi nghiệp vụ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Nhà khoa học dữ liệu: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lấy dữ liệu tầng lưu trữ để huấn luyện mô hình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Quản trị dữ liệu: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đặt quy tắc chất lượng, quyền truy cập, riêng tư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Trong bài tập lớn, nhóm phải đóng cả bốn vai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Chiến lược thu nạp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Chặng dễ bị coi nhẹ nhất và hay hỏng nhất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kiểu thu nạp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240"/>
                <a:gridCol w="2454741"/>
                <a:gridCol w="518223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Kiểu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Độ trễ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Dùng khi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Theo lô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Giờ – ngày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Báo cáo định kỳ, dữ liệu lịch sử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Lô nhỏ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Phút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Bảng điều khiển cập nhật trong ngày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Theo luồng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Giây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Cảnh báo gian lận, theo dõi thiết bị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Bắt biến đổi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Giây – phút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Đồng bộ liên tục từ CSDL tác nghiệp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Dữ liệu có biên và không có biên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Có biên: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tập dữ liệu hữu hạn, biết trước điểm kết thúc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tệp doanh thu tháng 3, bảng khách hàng tại thời điểm sao lưu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 có biên: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dòng sự kiện chảy mãi, không có điểm kết thúc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nhật ký truy cập web, tín hiệu cảm biến, giao dịch thẻ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Xử lý theo lô là **cắt** dữ liệu không biên thành từng lát có biên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Trích xuất toàn phần và trích xuất gia tăng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Toàn phần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Đọc lại toàn bộ bảng mỗi lần chạy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Đơn giản, luôn đúng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Tốn băng thông, không mở rộng được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Hợp với bảng chiều nhỏ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Gia tăng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lấy phần thay đổi từ lần chạy trước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Cần cột mốc: thời điểm sửa hoặc số phiên bản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Nhẹ, mở rộng tốt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Bỏ sót bản ghi bị xoá cứng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Trích xuất gia tăng bằng cột mốc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Lưu mốc của lần chạy trước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SELECT MAX(updated_at) FROM stg_donhang;   -- 2026-03-14 02:00:00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Lần chạy kế tiếp chỉ lấy phần mới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SELECT * FROM don_hang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WHERE updated_at &gt;  TIMESTAMP '2026-03-14 02:00:00'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AND updated_at &lt;= TIMESTAMP '2026-03-15 02:00:00';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Vì sao phải có cả cận trên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có cận trên thì bản ghi ghi vào lúc đang chạy sẽ lọt vào nửa chừng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Dùng dấu `&gt;` cho cận dưới và `&lt;=` cho cận trên để không trùng, không sót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cạm bẫy của cột mốc thời gian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Nguồn **không cập nhật** `updated_at` khi sửa bằng lệnh trực tiếp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Xoá cứng không để lại dấu vết nào để truy vấn nhìn thấy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Đồng hồ máy chủ nguồn lệch so với máy chủ chạy luồng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Khắc phục: yêu cầu **xoá mềm**, hoặc chuyển sang bắt biến đổi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Luôn đối chiếu số dòng nguồn và số dòng đích sau mỗi lần nạp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Đẩy và kéo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Kéo (pull)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Luồng chủ động hỏi nguồn theo lịch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Kiểm soát được thời điểm và tải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chỉ mới đến chu kỳ gần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Đẩy (push)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Nguồn tự gửi khi có sự kiện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trễ thấp, gần thời gian thực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Bên nhận phải luôn sẵn sàng, chịu tải đột biến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Thu nạp từ API dịch vụ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Hầu hết API **phân trang**: phải lặp cho tới khi hết trang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Có **giới hạn tần suất**: vượt là bị chặn, phải chờ và thử lại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Thử lại phải **giãn cách tăng dần**, không gọi lại ngay lập tức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Lưu lại **phản hồi thô** trước khi phân tích cú pháp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Nhà cung cấp đổi phiên bản API là luồng gãy — phải theo dõi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Bắt biến đổi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Cách đồng bộ liên tục từ cơ sở dữ liệu tác nghiệp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cách bắt biến đổi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3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770"/>
                <a:gridCol w="3958033"/>
                <a:gridCol w="420541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Cơ chế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Đánh đổi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Truy vấn theo mốc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Lọc theo cột thời điểm sửa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Dễ làm, bỏ sót bản ghi bị xoá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Kích hoạt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Trigger ghi thay đổi sang bảng phụ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Bắt đủ, nhưng làm chậm hệ tác nghiệp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Đọc nhật ký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Đọc nhật ký giao dịch của CSDL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Đủ và nhẹ nhất, nhưng khó cài đặt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Bắt biến đổi bằng trigger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Bảng phụ ghi thay đổi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CREATE TABLE cdc_khachhang (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op CHAR(1), ts TIMESTAMP, ma_kh INT, hang_the VARCHAR(10));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Trigger trên bảng nguồn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CREATE TRIGGER trg_kh AFTER UPDATE ON KhachHang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FOR EACH ROW INSERT INTO cdc_khachhang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VALUES ('u', CURRENT_TIMESTAMP, NEW.maKH, NEW.hangThe);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Cái giá phải trả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lệnh ghi ở nguồn nay tốn thêm một lệnh ghi nữa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Trigger hỏng là giao dịch nghiệp vụ hỏng theo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Bắt biến đổi bằng đọc nhật ký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Một bản ghi bị sửa ở nguồn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UPDATE KhachHang SET hangThe = 'VANG' WHERE maKH = 1042;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Bản ghi thay đổi đọc được từ nhật ký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{ "op": "u", "ts": "2026-03-14T09:21:07Z",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"before": { "maKH": 1042, "hangThe": "BAC"  },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"after":  { "maKH": 1042, "hangThe": "VANG" } }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Điều quan trọng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Có cả giá trị trước và sau, nên dựng được lịch sử thay đổi đầy đủ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được cả thao tác xoá, điều mà truy vấn theo mốc không làm được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điều cần lưu ý khi dùng CDC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Nhật ký giao dịch chỉ giữ vài giờ; luồng chết lâu là **mất dữ liệu**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Đổi lược đồ ở nguồn làm bản ghi thay đổi có hình dạng khác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Phải có **nạp mồi** một lần để lấy trạng thái ban đầu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Thứ tự thông điệp phải giữ theo từng khoá, không cần theo toàn cục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Cần quyền đọc nhật ký — thường phải xin quản trị CSDL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Độ tin cậy khi thu nạp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Mạng sẽ đứt, tiến trình sẽ chết — thiết kế phải chấp nhận điều đó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mức bảo đảm giao nhận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148"/>
                <a:gridCol w="3710656"/>
                <a:gridCol w="420541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Mức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Nghĩa là gì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Rủi ro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Nhiều nhất một lần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Gửi một lần, không thử lại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Mất dữ liệu khi lỗi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Ít nhất một lần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Thử lại cho tới khi thành công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Trùng lặp dữ liệu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Đúng một lần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mất, không trùng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Rất khó và tốn kém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Vì sao “đúng một lần” lại khó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Bên gửi không phân biệt được “chưa tới” với “tới rồi mà mất phản hồi”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không thử lại thì có nguy cơ mất; thử lại thì có nguy cơ trùng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Cách thực dụng: gửi ít nhất một lần, kèm **khoá định danh sự kiện**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Bên nhận bỏ qua sự kiện đã thấy khoá đó rồi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Hiệu quả cuối cùng tương đương đúng một lần, mà rẻ hơn nhiều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Dữ liệu đến muộn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Thời điểm sự kiện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là lúc việc xảy ra ở thế giới thật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Thời điểm xử lý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là lúc luồng nhận được bản ghi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Hai mốc này lệch nhau vì mạng, vì thiết bị mất kết nối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 ghi ngày 14/03 có thể đến vào ngày 16/03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vậy báo cáo phải **nạp bù** được, không chỉ nạp tiến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Định dạng và tổ chức lưu trữ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Chọn sai định dạng thì mọi truy vấn đều chậm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Lưu theo hàng và lưu theo cột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Cùng một bảng, hai cách xếp byte trên đĩa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656332"/>
            <a:ext cx="417560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Theo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8847" y="2656332"/>
            <a:ext cx="417560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Theo cột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9252"/>
            <a:ext cx="217627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Cách xếp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93692"/>
            <a:ext cx="217627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Hợp với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9816" y="319582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3250692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Cả bản ghi liền nhau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3825849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maKH, hoTen, tuoi · maKH, hoTen, tuoi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5423" y="319582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5423" y="3250692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Cả cột liền nhau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5423" y="3825849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maKH, maKH · hoTen, hoTen · tuoi, tuoi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99816" y="443026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EEF2F7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9816" y="4485132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OLTP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9816" y="5060289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Đọc và ghi trọn một bản ghi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5423" y="443026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EEF2F7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5423" y="4485132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OLAP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5423" y="5060289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Quét vài cột trên hàng triệu dòng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định dạng tệp thường gặp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794"/>
                <a:gridCol w="2175794"/>
                <a:gridCol w="2175794"/>
                <a:gridCol w="410983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Định dạng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Kiểu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Có lược đồ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Dùng cho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CSV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Hàng, văn bản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Trao đổi thủ công, dữ liệu nhỏ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JSON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Hàng, văn bản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Lỏng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API, dữ liệu lồng nhau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Avro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Hàng, nhị phân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Có, kèm tệp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Ghi theo luồng, hàng đợi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Parquet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Cột, nhị phân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Có, kèm tệp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Phân tích trên data lake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Bên trong một tệp Parquet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Chân tệp (footer)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Lược đồ, vị trí và thống kê min–max mỗi cột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9212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1942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Nhóm hàng 2 …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Mỗi nhóm khoảng 128 MB dữ liệu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22776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204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Nhóm hàng 1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Chứa các khối cột của cùng một tập hàng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06340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275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Khối cột → trang dữ liệu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Đơn vị nén và đọc nhỏ nhất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cơ chế giúp Parquet nhanh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Cắt cột: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chỉ đọc khối cột mà truy vấn hỏi tới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Đẩy điều kiện xuống: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dùng min–max để bỏ qua cả nhóm hàng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Nén theo cột: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giá trị cùng kiểu nằm cạnh nhau nên nén rất tốt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Mã hoá từ điển cho cột ít giá trị phân biệt, ví dụ cột tỉnh thành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Đổi lại: ghi từng dòng rất kém, và không mở bằng Excel được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Ước lượng dung lượng: CSV so với Parquet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Bảng đơn hàng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10 000 000 dong x 12 cot, trung binh 18 byte moi o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Ước lượng CSV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10^7 x 12 x 18 = 2 160 000 000 byte ~ 2,0 GB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Ước lượng Parquet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Nen theo cot dat ty le khoang 5:1  -&gt;  ~0,4 GB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Truy vấn chỉ dùng 3 trong 12 cột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CSV     : phai doc ca 2,0 GB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Parquet : doc ~0,4 x 3/12 = 0,1 GB   -&gt;  nhanh hon khoang 20 lan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Con số thực tế thay đổi theo dữ liệu, nhưng bậc độ lớn thì luôn như vậy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vùng dữ liệu theo thư mục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Chia tệp theo cột hay lọc, thường là ngày: `/nam=2026/thang=03/`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Truy vấn lọc theo ngày chỉ đọc đúng thư mục cần, bỏ qua phần còn lại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phép **nạp lại một ngày** mà không đụng tới dữ liệu ngày khác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Chia quá nhỏ sinh ra **vấn đề tệp vụn**: hàng vạn tệp vài KB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Kinh nghiệm: mỗi tệp nên khoảng 128 MB đến 1 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Lược đồ trôi và hợp đồng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Lược đồ trôi: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nguồn thêm cột, đổi kiểu, đổi tên mà không báo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Luồng gãy vào lúc nửa đêm và không ai biết vì sao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Hợp đồng dữ liệu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là cam kết bằng văn bản về lược đồ giữa hai bên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Ghi rõ tên cột, kiểu, cột bắt buộc và thời hạn báo trước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Tối thiểu: kiểm tra lược đồ ngay khi nạp và dừng luồng nếu lệch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con số cần nhớ về định dạng cột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807208"/>
            <a:ext cx="337505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971800"/>
            <a:ext cx="3119018" cy="883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4069080"/>
            <a:ext cx="3119018" cy="715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dung lượng so với CSV nhờ nén theo cột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8322" y="2807208"/>
            <a:ext cx="3375050" cy="2103120"/>
          </a:xfrm>
          <a:prstGeom prst="roundRect">
            <a:avLst>
              <a:gd name="adj" fmla="val 3478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6338" y="2971800"/>
            <a:ext cx="3119018" cy="883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128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4069080"/>
            <a:ext cx="3119018" cy="715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kích thước một nhóm hàng thường dùng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9404" y="2807208"/>
            <a:ext cx="337505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7420" y="2971800"/>
            <a:ext cx="3119018" cy="883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3/12 cột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7420" y="4069080"/>
            <a:ext cx="3119018" cy="715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chỉ đọc phần cột mà truy vấn cần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Chọn định dạng và phân vùng là quyết định khó sửa nhất của tầng lưu trữ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Đổi định dạng sau khi đã có mười terabyte nghĩa là viết lại toàn bộ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đồng nhất có bốn mức; chỉ mức ngữ nghĩa cần con người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kiểu thu nạp theo độ trễ nghiệp vụ chấp nhận được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Cột mốc thời gian bỏ sót bản ghi xoá cứng; CDC đọc nhật ký thì không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Thực tế chọn ít nhất một lần rồi khử trùng lặp khi nạp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Parquet nhanh nhờ cắt cột, đẩy điều kiện xuống và nén theo cột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77710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ba nguồn: MySQL bán hàng, tệp Excel kế toán, API giao hàng. Chọn kiểu thu nạp cho từng nguồn.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60769"/>
            <a:ext cx="10637215" cy="5258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truy vấn mốc phải dùng `&gt;` ở cận dưới và `&lt;=` ở cận trên?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314632"/>
            <a:ext cx="10637215" cy="77710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Bảng 20 triệu dòng, 30 cột, truy vấn dùng 2 cột. Ước tính lợi ích của Parquet.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219754"/>
            <a:ext cx="10637215" cy="5258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Luồng CDC chết ba ngày, nhật ký chỉ giữ 12 giờ. Phải làm gì?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73617"/>
            <a:ext cx="10637215" cy="5258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“đúng một lần” khó, và cách thực dụng thay thế là gì?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527480"/>
            <a:ext cx="10637215" cy="5258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6.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vùng theo giờ thay vì theo ngày gây hậu quả gì?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Reis &amp; Housley (2022), Fundamentals of Data Engineering, O'Reilly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Fong &amp; Wong (2021), Information Systems Reengineering, Integration and Normalization, 4th ed., Springer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Kimball &amp; Ross (2013), The Data Warehouse Toolkit, 3rd ed., Wiley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Đọc trước buổi sau: Reis &amp; Housley chương 7 (Ingestion) và chương 8 (Transformation).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2 - Tích hợp và thu nạp dữ liệu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