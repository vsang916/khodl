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10"/>
    <p:sldId id="259" r:id="rId11"/>
    <p:sldId id="260" r:id="rId12"/>
    <p:sldId id="261" r:id="rId13"/>
    <p:sldId id="262" r:id="rId14"/>
    <p:sldId id="263" r:id="rId15"/>
    <p:sldId id="264" r:id="rId16"/>
    <p:sldId id="265" r:id="rId17"/>
    <p:sldId id="266" r:id="rId18"/>
    <p:sldId id="267" r:id="rId19"/>
    <p:sldId id="268" r:id="rId20"/>
    <p:sldId id="269" r:id="rId21"/>
    <p:sldId id="270" r:id="rId22"/>
    <p:sldId id="271" r:id="rId23"/>
    <p:sldId id="272" r:id="rId24"/>
    <p:sldId id="273" r:id="rId25"/>
    <p:sldId id="274" r:id="rId26"/>
    <p:sldId id="275" r:id="rId27"/>
    <p:sldId id="276" r:id="rId28"/>
    <p:sldId id="277" r:id="rId29"/>
    <p:sldId id="278" r:id="rId30"/>
    <p:sldId id="279" r:id="rId31"/>
    <p:sldId id="280" r:id="rId32"/>
    <p:sldId id="281" r:id="rId33"/>
    <p:sldId id="282" r:id="rId34"/>
    <p:sldId id="283" r:id="rId35"/>
    <p:sldId id="284" r:id="rId36"/>
    <p:sldId id="285" r:id="rId37"/>
    <p:sldId id="286" r:id="rId38"/>
    <p:sldId id="287" r:id="rId39"/>
    <p:sldId id="288" r:id="rId40"/>
    <p:sldId id="289" r:id="rId41"/>
    <p:sldId id="290" r:id="rId42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notesMaster" Target="notesMasters/notesMaster1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Relationship Id="rId14" Type="http://schemas.openxmlformats.org/officeDocument/2006/relationships/slide" Target="slides/slide7.xml"/><Relationship Id="rId15" Type="http://schemas.openxmlformats.org/officeDocument/2006/relationships/slide" Target="slides/slide8.xml"/><Relationship Id="rId16" Type="http://schemas.openxmlformats.org/officeDocument/2006/relationships/slide" Target="slides/slide9.xml"/><Relationship Id="rId17" Type="http://schemas.openxmlformats.org/officeDocument/2006/relationships/slide" Target="slides/slide10.xml"/><Relationship Id="rId18" Type="http://schemas.openxmlformats.org/officeDocument/2006/relationships/slide" Target="slides/slide11.xml"/><Relationship Id="rId19" Type="http://schemas.openxmlformats.org/officeDocument/2006/relationships/slide" Target="slides/slide12.xml"/><Relationship Id="rId20" Type="http://schemas.openxmlformats.org/officeDocument/2006/relationships/slide" Target="slides/slide13.xml"/><Relationship Id="rId21" Type="http://schemas.openxmlformats.org/officeDocument/2006/relationships/slide" Target="slides/slide14.xml"/><Relationship Id="rId22" Type="http://schemas.openxmlformats.org/officeDocument/2006/relationships/slide" Target="slides/slide15.xml"/><Relationship Id="rId23" Type="http://schemas.openxmlformats.org/officeDocument/2006/relationships/slide" Target="slides/slide16.xml"/><Relationship Id="rId24" Type="http://schemas.openxmlformats.org/officeDocument/2006/relationships/slide" Target="slides/slide17.xml"/><Relationship Id="rId25" Type="http://schemas.openxmlformats.org/officeDocument/2006/relationships/slide" Target="slides/slide18.xml"/><Relationship Id="rId26" Type="http://schemas.openxmlformats.org/officeDocument/2006/relationships/slide" Target="slides/slide19.xml"/><Relationship Id="rId27" Type="http://schemas.openxmlformats.org/officeDocument/2006/relationships/slide" Target="slides/slide20.xml"/><Relationship Id="rId28" Type="http://schemas.openxmlformats.org/officeDocument/2006/relationships/slide" Target="slides/slide21.xml"/><Relationship Id="rId29" Type="http://schemas.openxmlformats.org/officeDocument/2006/relationships/slide" Target="slides/slide22.xml"/><Relationship Id="rId30" Type="http://schemas.openxmlformats.org/officeDocument/2006/relationships/slide" Target="slides/slide23.xml"/><Relationship Id="rId31" Type="http://schemas.openxmlformats.org/officeDocument/2006/relationships/slide" Target="slides/slide24.xml"/><Relationship Id="rId32" Type="http://schemas.openxmlformats.org/officeDocument/2006/relationships/slide" Target="slides/slide25.xml"/><Relationship Id="rId33" Type="http://schemas.openxmlformats.org/officeDocument/2006/relationships/slide" Target="slides/slide26.xml"/><Relationship Id="rId34" Type="http://schemas.openxmlformats.org/officeDocument/2006/relationships/slide" Target="slides/slide27.xml"/><Relationship Id="rId35" Type="http://schemas.openxmlformats.org/officeDocument/2006/relationships/slide" Target="slides/slide28.xml"/><Relationship Id="rId36" Type="http://schemas.openxmlformats.org/officeDocument/2006/relationships/slide" Target="slides/slide29.xml"/><Relationship Id="rId37" Type="http://schemas.openxmlformats.org/officeDocument/2006/relationships/slide" Target="slides/slide30.xml"/><Relationship Id="rId38" Type="http://schemas.openxmlformats.org/officeDocument/2006/relationships/slide" Target="slides/slide31.xml"/><Relationship Id="rId39" Type="http://schemas.openxmlformats.org/officeDocument/2006/relationships/slide" Target="slides/slide32.xml"/><Relationship Id="rId40" Type="http://schemas.openxmlformats.org/officeDocument/2006/relationships/slide" Target="slides/slide33.xml"/><Relationship Id="rId41" Type="http://schemas.openxmlformats.org/officeDocument/2006/relationships/slide" Target="slides/slide34.xml"/><Relationship Id="rId42" Type="http://schemas.openxmlformats.org/officeDocument/2006/relationships/slide" Target="slides/slide35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3.xml"/></Relationships>
</file>

<file path=ppt/notesSlides/_rels/notesSlide1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4.xml"/></Relationships>
</file>

<file path=ppt/notesSlides/_rels/notesSlide1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5.xml"/></Relationships>
</file>

<file path=ppt/notesSlides/_rels/notesSlide1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6.xml"/></Relationships>
</file>

<file path=ppt/notesSlides/_rels/notesSlide1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7.xml"/></Relationships>
</file>

<file path=ppt/notesSlides/_rels/notesSlide1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8.xml"/></Relationships>
</file>

<file path=ppt/notesSlides/_rels/notesSlide1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9.xml"/></Relationships>
</file>

<file path=ppt/notesSlides/_rels/notesSlide1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1.xml"/></Relationships>
</file>

<file path=ppt/notesSlides/_rels/notesSlide1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2.xml"/></Relationships>
</file>

<file path=ppt/notesSlides/_rels/notesSlide1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3.xml"/></Relationships>
</file>

<file path=ppt/notesSlides/_rels/notesSlide2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4.xml"/></Relationships>
</file>

<file path=ppt/notesSlides/_rels/notesSlide2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6.xml"/></Relationships>
</file>

<file path=ppt/notesSlides/_rels/notesSlide2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7.xml"/></Relationships>
</file>

<file path=ppt/notesSlides/_rels/notesSlide2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8.xml"/></Relationships>
</file>

<file path=ppt/notesSlides/_rels/notesSlide2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0.xml"/></Relationships>
</file>

<file path=ppt/notesSlides/_rels/notesSlide2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1.xml"/></Relationships>
</file>

<file path=ppt/notesSlides/_rels/notesSlide2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2.xml"/></Relationships>
</file>

<file path=ppt/notesSlides/_rels/notesSlide2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3.xml"/></Relationships>
</file>

<file path=ppt/notesSlides/_rels/notesSlide2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4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Giảng kỹ mục 2 và 3 (có ví dụ làm tay); mục 4 và 5 giới thiệu, giao đọc thêm.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Mục tiêu 3 và 4 là phần được kiểm tra bằng bài tập tính tay.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Hỏi lớp: ngân hàng phát hiện thẻ bị đánh cắp bằng cách nào?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Ví dụ nhiễu: hôm nay ăn trưa nhiều hơn một chút. Ví dụ điểm mới: chủ đề nóng mới trên mạng xã hội.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Điểm O nằm xa cả hai nhóm nên lệch với toàn bộ dữ liệu, không phụ thuộc ngữ cảnh.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Một đối tượng có thể thuộc nhiều loại cùng lúc. Ví dụ tập thể: 10% sinh viên cùng ốm trong một ngày.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30°C ở Hà Nội tháng Một là dị biệt, nhưng tháng Sáu thì bình thường. Dị biệt toàn cục là trường hợp tập ngữ cảnh rỗng.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Thách thức thứ tư thường bị bỏ qua nhưng quyết định việc mô hình có được dùng hay không.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Cách phân loại thứ hai, theo giả định mô hình: thống kê, lân cận, tái tạo — chính là ba mục tiếp theo.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Ưu điểm lớn nhất: kết luận có cơ sở thống kê, giải thích được.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Hạn chế cuối là lý do cần kiểm định Grubbs và quy tắc IQR ở các slide sau.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Bỏ 24,0 đi thì σ chỉ còn khoảng 0,16; khi đó 24,0 lệch tới gần 30σ.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Grubbs giả định dữ liệu chuẩn, mỗi lần chỉ loại một dị biệt rồi lặp lại.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Khoảng [Q1 − 1,5·IQR, Q3 + 1,5·IQR] chứa khoảng 99,3% dữ liệu nếu phân bố chuẩn.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Khoảng cách Euclid coi mọi chiều độc lập; Mahalanobis thì không. Eᵢ là trung bình chiều i. Dữ liệu nhiều nhóm thì dùng hỗn hợp phân bố chuẩn.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Điểm số dị biệt từ biểu đồ tần suất: nghịch đảo thể tích ô chứa điểm.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Có thể dừng đếm sớm khi đã đủ π·n láng giềng.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o2 là dị biệt toàn cục; o1 là dị biệt cục bộ, phương pháp khoảng cách sẽ bỏ sót.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Khoảng cách khả đạt làm trơn dao động khoảng cách giữa các điểm rất gần nhau.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Cho sinh viên tự tính lrd(B) để kiểm tra: N(B) = {A, C}, khoảng cách khả đạt 2 và 1.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Liên hệ PCA ở Bài 6: giữ r thành phần chính rồi đo phần dư.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Nối với Bài 10, 11: k-means và DBSCAN cho ngay ba phép thử này.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Mô hình một lớp phát hiện được cả kiểu dị biệt chưa từng gặp khi huấn luyện.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Với đồ thị: đồ thị con nhỏ mà hiếm, hoặc lớn mà lại phổ biến bất ngờ, là dị biệt.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ABOD: điểm ở rìa nhìn mọi điểm khác dưới góc hẹp, nên phương sai góc nhỏ.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Gợi ý thực tế: bắt đầu bằng IQR hoặc z-score, rồi LOF hoặc Isolation Forest.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Hỏi lớp: khi nào LOF tốt hơn quy tắc 3σ?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Câu 2 và 4 giao về nhà, chữa ở buổi sau.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5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6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8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9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0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1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2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3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4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5.xml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6.xml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7.xml"/></Relationships>
</file>

<file path=ppt/slides/_rels/slide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8.xml"/></Relationships>
</file>

<file path=ppt/slides/_rels/slide2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9.xml"/></Relationships>
</file>

<file path=ppt/slides/_rels/slide2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0.xml"/></Relationships>
</file>

<file path=ppt/slides/_rels/slide2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1.xml"/></Relationships>
</file>

<file path=ppt/slides/_rels/slide2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2.xml"/></Relationships>
</file>

<file path=ppt/slides/_rels/slide2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3.xml"/></Relationships>
</file>

<file path=ppt/slides/_rels/slide2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4.xml"/></Relationships>
</file>

<file path=ppt/slides/_rels/slide3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5.xml"/></Relationships>
</file>

<file path=ppt/slides/_rels/slide3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6.xml"/></Relationships>
</file>

<file path=ppt/slides/_rels/slide3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7.xml"/></Relationships>
</file>

<file path=ppt/slides/_rels/slide3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8.xml"/></Relationships>
</file>

<file path=ppt/slides/_rels/slide3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502920" cy="6858000"/>
          </a:xfrm>
          <a:prstGeom prst="rect">
            <a:avLst/>
          </a:prstGeom>
          <a:solidFill>
            <a:srgbClr val="12355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502920" y="0"/>
            <a:ext cx="82296" cy="6858000"/>
          </a:xfrm>
          <a:prstGeom prst="rect">
            <a:avLst/>
          </a:prstGeom>
          <a:solidFill>
            <a:srgbClr val="C810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143000" y="777240"/>
            <a:ext cx="10225735" cy="9144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300"/>
              </a:spcAft>
            </a:pPr>
            <a:r>
              <a:rPr sz="1300" b="1" i="0">
                <a:solidFill>
                  <a:srgbClr val="5B6673"/>
                </a:solidFill>
                <a:latin typeface="Segoe UI"/>
                <a:ea typeface="Segoe UI"/>
                <a:cs typeface="Segoe UI"/>
              </a:rPr>
              <a:t>HỌC VIỆN CÔNG NGHỆ BƯU CHÍNH VIỄN THÔNG</a:t>
            </a:r>
          </a:p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200" b="0" i="0">
                <a:solidFill>
                  <a:srgbClr val="5B6673"/>
                </a:solidFill>
                <a:latin typeface="Segoe UI"/>
                <a:ea typeface="Segoe UI"/>
                <a:cs typeface="Segoe UI"/>
              </a:rPr>
              <a:t>Khoa Công nghệ Thông tin 1 · Bộ môn Hệ thống thông tin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43000" y="1874519"/>
            <a:ext cx="10225735" cy="5486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600" b="1" i="0">
                <a:solidFill>
                  <a:srgbClr val="C8102E"/>
                </a:solidFill>
                <a:latin typeface="Segoe UI"/>
                <a:ea typeface="Segoe UI"/>
                <a:cs typeface="Segoe UI"/>
              </a:rPr>
              <a:t>INT1422 · Kho dữ liệu và Khai phá dữ liệu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43000" y="2487168"/>
            <a:ext cx="10225735" cy="20116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800"/>
              </a:spcAft>
            </a:pPr>
            <a:r>
              <a:rPr sz="2000" b="1" i="0">
                <a:solidFill>
                  <a:srgbClr val="5B6673"/>
                </a:solidFill>
                <a:latin typeface="Segoe UI"/>
                <a:ea typeface="Segoe UI"/>
                <a:cs typeface="Segoe UI"/>
              </a:rPr>
              <a:t>BÀI 13</a:t>
            </a:r>
          </a:p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4000" b="1" i="0">
                <a:solidFill>
                  <a:srgbClr val="12355B"/>
                </a:solidFill>
                <a:latin typeface="Segoe UI"/>
                <a:ea typeface="Segoe UI"/>
                <a:cs typeface="Segoe UI"/>
              </a:rPr>
              <a:t>Phát hiện dị biệt</a:t>
            </a:r>
          </a:p>
        </p:txBody>
      </p:sp>
      <p:sp>
        <p:nvSpPr>
          <p:cNvPr id="7" name="Rectangle 6"/>
          <p:cNvSpPr/>
          <p:nvPr/>
        </p:nvSpPr>
        <p:spPr>
          <a:xfrm>
            <a:off x="1143000" y="4617720"/>
            <a:ext cx="2011680" cy="38100"/>
          </a:xfrm>
          <a:prstGeom prst="rect">
            <a:avLst/>
          </a:prstGeom>
          <a:solidFill>
            <a:srgbClr val="C810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143000" y="4892040"/>
            <a:ext cx="10225735" cy="10972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800"/>
              </a:spcAft>
            </a:pPr>
            <a:r>
              <a:rPr sz="1700" b="0" i="0">
                <a:solidFill>
                  <a:srgbClr val="5B6673"/>
                </a:solidFill>
                <a:latin typeface="Segoe UI"/>
                <a:ea typeface="Segoe UI"/>
                <a:cs typeface="Segoe UI"/>
              </a:rPr>
              <a:t>Chuyên đề mở rộng: phương pháp thống kê, lân cận, LOF và các hướng nâng cao</a:t>
            </a:r>
          </a:p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300" b="0" i="0">
                <a:solidFill>
                  <a:srgbClr val="5B6673"/>
                </a:solidFill>
                <a:latin typeface="Segoe UI"/>
                <a:ea typeface="Segoe UI"/>
                <a:cs typeface="Segoe UI"/>
              </a:rPr>
              <a:t>Tuần 13 · 2 tiết · Chuẩn đầu ra: CLO2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77240" y="384048"/>
            <a:ext cx="10637215" cy="960120"/>
          </a:xfrm>
          <a:prstGeom prst="rect">
            <a:avLst/>
          </a:prstGeom>
          <a:noFill/>
        </p:spPr>
        <p:txBody>
          <a:bodyPr wrap="square" lIns="0" rIns="0" tIns="0" bIns="0" anchor="b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3400" b="1" i="0">
                <a:solidFill>
                  <a:srgbClr val="12355B"/>
                </a:solidFill>
                <a:latin typeface="Segoe UI"/>
                <a:ea typeface="Segoe UI"/>
                <a:cs typeface="Segoe UI"/>
              </a:rPr>
              <a:t>Nội dung bài học</a:t>
            </a:r>
          </a:p>
        </p:txBody>
      </p:sp>
      <p:sp>
        <p:nvSpPr>
          <p:cNvPr id="3" name="Rectangle 2"/>
          <p:cNvSpPr/>
          <p:nvPr/>
        </p:nvSpPr>
        <p:spPr>
          <a:xfrm>
            <a:off x="777240" y="1426464"/>
            <a:ext cx="1325880" cy="38100"/>
          </a:xfrm>
          <a:prstGeom prst="rect">
            <a:avLst/>
          </a:prstGeom>
          <a:solidFill>
            <a:srgbClr val="C810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2103120" y="1435608"/>
            <a:ext cx="9311335" cy="12700"/>
          </a:xfrm>
          <a:prstGeom prst="rect">
            <a:avLst/>
          </a:prstGeom>
          <a:solidFill>
            <a:srgbClr val="D3DAE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Oval 4"/>
          <p:cNvSpPr/>
          <p:nvPr/>
        </p:nvSpPr>
        <p:spPr>
          <a:xfrm>
            <a:off x="777240" y="2362199"/>
            <a:ext cx="475488" cy="475488"/>
          </a:xfrm>
          <a:prstGeom prst="ellipse">
            <a:avLst/>
          </a:prstGeom>
          <a:solidFill>
            <a:srgbClr val="12355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46304" rIns="146304" tIns="91440" bIns="91440"/>
          <a:lstStyle/>
          <a:p>
            <a:pPr algn="ctr"/>
            <a:r>
              <a:rPr sz="2000" b="1">
                <a:solidFill>
                  <a:srgbClr val="FFFFFF"/>
                </a:solidFill>
                <a:latin typeface="Segoe UI"/>
                <a:ea typeface="Segoe UI"/>
                <a:cs typeface="Segoe UI"/>
              </a:rPr>
              <a:t>1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490472" y="2310383"/>
            <a:ext cx="9923983" cy="5791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2400" b="0" i="0">
                <a:solidFill>
                  <a:srgbClr val="1F2430"/>
                </a:solidFill>
                <a:latin typeface="Segoe UI"/>
                <a:ea typeface="Segoe UI"/>
                <a:cs typeface="Segoe UI"/>
              </a:rPr>
              <a:t>Khái niệm và các loại dị biệt</a:t>
            </a:r>
          </a:p>
        </p:txBody>
      </p:sp>
      <p:sp>
        <p:nvSpPr>
          <p:cNvPr id="7" name="Oval 6"/>
          <p:cNvSpPr/>
          <p:nvPr/>
        </p:nvSpPr>
        <p:spPr>
          <a:xfrm>
            <a:off x="777240" y="3014472"/>
            <a:ext cx="475488" cy="475488"/>
          </a:xfrm>
          <a:prstGeom prst="ellipse">
            <a:avLst/>
          </a:prstGeom>
          <a:solidFill>
            <a:srgbClr val="12355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46304" rIns="146304" tIns="91440" bIns="91440"/>
          <a:lstStyle/>
          <a:p>
            <a:pPr algn="ctr"/>
            <a:r>
              <a:rPr sz="2000" b="1">
                <a:solidFill>
                  <a:srgbClr val="FFFFFF"/>
                </a:solidFill>
                <a:latin typeface="Segoe UI"/>
                <a:ea typeface="Segoe UI"/>
                <a:cs typeface="Segoe UI"/>
              </a:rPr>
              <a:t>2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490472" y="2962656"/>
            <a:ext cx="9923983" cy="5791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2400" b="0" i="0">
                <a:solidFill>
                  <a:srgbClr val="1F2430"/>
                </a:solidFill>
                <a:latin typeface="Segoe UI"/>
                <a:ea typeface="Segoe UI"/>
                <a:cs typeface="Segoe UI"/>
              </a:rPr>
              <a:t>Phương pháp thống kê</a:t>
            </a:r>
          </a:p>
        </p:txBody>
      </p:sp>
      <p:sp>
        <p:nvSpPr>
          <p:cNvPr id="9" name="Oval 8"/>
          <p:cNvSpPr/>
          <p:nvPr/>
        </p:nvSpPr>
        <p:spPr>
          <a:xfrm>
            <a:off x="777240" y="3666744"/>
            <a:ext cx="475488" cy="475488"/>
          </a:xfrm>
          <a:prstGeom prst="ellipse">
            <a:avLst/>
          </a:prstGeom>
          <a:solidFill>
            <a:srgbClr val="12355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46304" rIns="146304" tIns="91440" bIns="91440"/>
          <a:lstStyle/>
          <a:p>
            <a:pPr algn="ctr"/>
            <a:r>
              <a:rPr sz="2000" b="1">
                <a:solidFill>
                  <a:srgbClr val="FFFFFF"/>
                </a:solidFill>
                <a:latin typeface="Segoe UI"/>
                <a:ea typeface="Segoe UI"/>
                <a:cs typeface="Segoe UI"/>
              </a:rPr>
              <a:t>3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490472" y="3614928"/>
            <a:ext cx="9923983" cy="5791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2400" b="0" i="0">
                <a:solidFill>
                  <a:srgbClr val="1F2430"/>
                </a:solidFill>
                <a:latin typeface="Segoe UI"/>
                <a:ea typeface="Segoe UI"/>
                <a:cs typeface="Segoe UI"/>
              </a:rPr>
              <a:t>Phương pháp dựa trên lân cận: khoảng cách và mật độ</a:t>
            </a:r>
          </a:p>
        </p:txBody>
      </p:sp>
      <p:sp>
        <p:nvSpPr>
          <p:cNvPr id="11" name="Oval 10"/>
          <p:cNvSpPr/>
          <p:nvPr/>
        </p:nvSpPr>
        <p:spPr>
          <a:xfrm>
            <a:off x="777240" y="4319016"/>
            <a:ext cx="475488" cy="475488"/>
          </a:xfrm>
          <a:prstGeom prst="ellipse">
            <a:avLst/>
          </a:prstGeom>
          <a:solidFill>
            <a:srgbClr val="12355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46304" rIns="146304" tIns="91440" bIns="91440"/>
          <a:lstStyle/>
          <a:p>
            <a:pPr algn="ctr"/>
            <a:r>
              <a:rPr sz="2000" b="1">
                <a:solidFill>
                  <a:srgbClr val="FFFFFF"/>
                </a:solidFill>
                <a:latin typeface="Segoe UI"/>
                <a:ea typeface="Segoe UI"/>
                <a:cs typeface="Segoe UI"/>
              </a:rPr>
              <a:t>4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490472" y="4267200"/>
            <a:ext cx="9923983" cy="5791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2400" b="0" i="0">
                <a:solidFill>
                  <a:srgbClr val="1F2430"/>
                </a:solidFill>
                <a:latin typeface="Segoe UI"/>
                <a:ea typeface="Segoe UI"/>
                <a:cs typeface="Segoe UI"/>
              </a:rPr>
              <a:t>Tái tạo, phân cụm và phân loại</a:t>
            </a:r>
          </a:p>
        </p:txBody>
      </p:sp>
      <p:sp>
        <p:nvSpPr>
          <p:cNvPr id="13" name="Oval 12"/>
          <p:cNvSpPr/>
          <p:nvPr/>
        </p:nvSpPr>
        <p:spPr>
          <a:xfrm>
            <a:off x="777240" y="4971288"/>
            <a:ext cx="475488" cy="475488"/>
          </a:xfrm>
          <a:prstGeom prst="ellipse">
            <a:avLst/>
          </a:prstGeom>
          <a:solidFill>
            <a:srgbClr val="12355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46304" rIns="146304" tIns="91440" bIns="91440"/>
          <a:lstStyle/>
          <a:p>
            <a:pPr algn="ctr"/>
            <a:r>
              <a:rPr sz="2000" b="1">
                <a:solidFill>
                  <a:srgbClr val="FFFFFF"/>
                </a:solidFill>
                <a:latin typeface="Segoe UI"/>
                <a:ea typeface="Segoe UI"/>
                <a:cs typeface="Segoe UI"/>
              </a:rPr>
              <a:t>5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490472" y="4919472"/>
            <a:ext cx="9923983" cy="5791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2400" b="0" i="0">
                <a:solidFill>
                  <a:srgbClr val="1F2430"/>
                </a:solidFill>
                <a:latin typeface="Segoe UI"/>
                <a:ea typeface="Segoe UI"/>
                <a:cs typeface="Segoe UI"/>
              </a:rPr>
              <a:t>Dị biệt ngữ cảnh, tập thể và dữ liệu nhiều chiều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77240" y="6272784"/>
            <a:ext cx="7658794" cy="29260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100" b="0" i="0">
                <a:solidFill>
                  <a:srgbClr val="5B6673"/>
                </a:solidFill>
                <a:latin typeface="Segoe UI"/>
                <a:ea typeface="Segoe UI"/>
                <a:cs typeface="Segoe UI"/>
              </a:rPr>
              <a:t>INT1422 · Bài 13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9951415" y="6272784"/>
            <a:ext cx="1463040" cy="29260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100" b="0" i="0">
                <a:solidFill>
                  <a:srgbClr val="5B6673"/>
                </a:solidFill>
                <a:latin typeface="Segoe UI"/>
                <a:ea typeface="Segoe UI"/>
                <a:cs typeface="Segoe UI"/>
              </a:rPr>
              <a:t>2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77240" y="384048"/>
            <a:ext cx="10637215" cy="960120"/>
          </a:xfrm>
          <a:prstGeom prst="rect">
            <a:avLst/>
          </a:prstGeom>
          <a:noFill/>
        </p:spPr>
        <p:txBody>
          <a:bodyPr wrap="square" lIns="0" rIns="0" tIns="0" bIns="0" anchor="b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3400" b="1" i="0">
                <a:solidFill>
                  <a:srgbClr val="12355B"/>
                </a:solidFill>
                <a:latin typeface="Segoe UI"/>
                <a:ea typeface="Segoe UI"/>
                <a:cs typeface="Segoe UI"/>
              </a:rPr>
              <a:t>Mục tiêu bài học</a:t>
            </a:r>
          </a:p>
        </p:txBody>
      </p:sp>
      <p:sp>
        <p:nvSpPr>
          <p:cNvPr id="3" name="Rectangle 2"/>
          <p:cNvSpPr/>
          <p:nvPr/>
        </p:nvSpPr>
        <p:spPr>
          <a:xfrm>
            <a:off x="777240" y="1426464"/>
            <a:ext cx="1325880" cy="38100"/>
          </a:xfrm>
          <a:prstGeom prst="rect">
            <a:avLst/>
          </a:prstGeom>
          <a:solidFill>
            <a:srgbClr val="C810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2103120" y="1435608"/>
            <a:ext cx="9311335" cy="12700"/>
          </a:xfrm>
          <a:prstGeom prst="rect">
            <a:avLst/>
          </a:prstGeom>
          <a:solidFill>
            <a:srgbClr val="D3DAE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777240" y="1981199"/>
            <a:ext cx="10637215" cy="652272"/>
          </a:xfrm>
          <a:prstGeom prst="roundRect">
            <a:avLst>
              <a:gd name="adj" fmla="val 8000"/>
            </a:avLst>
          </a:prstGeom>
          <a:solidFill>
            <a:srgbClr val="EEF2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46304" rIns="146304" tIns="91440" bIns="91440"/>
          <a:lstStyle/>
          <a:p>
            <a:pPr algn="l">
              <a:lnSpc>
                <a:spcPct val="112000"/>
              </a:lnSpc>
            </a:pPr>
            <a:r>
              <a:rPr sz="2400" b="1">
                <a:solidFill>
                  <a:srgbClr val="C8102E"/>
                </a:solidFill>
                <a:latin typeface="Segoe UI"/>
                <a:ea typeface="Segoe UI"/>
                <a:cs typeface="Segoe UI"/>
              </a:rPr>
              <a:t>1   </a:t>
            </a:r>
            <a:r>
              <a:rPr sz="2400">
                <a:solidFill>
                  <a:srgbClr val="1F2430"/>
                </a:solidFill>
                <a:latin typeface="Segoe UI"/>
                <a:ea typeface="Segoe UI"/>
                <a:cs typeface="Segoe UI"/>
              </a:rPr>
              <a:t>Phân biệt dị biệt với nhiễu và với điểm mới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77240" y="2779776"/>
            <a:ext cx="10637215" cy="652272"/>
          </a:xfrm>
          <a:prstGeom prst="roundRect">
            <a:avLst>
              <a:gd name="adj" fmla="val 8000"/>
            </a:avLst>
          </a:prstGeom>
          <a:solidFill>
            <a:srgbClr val="EEF2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46304" rIns="146304" tIns="91440" bIns="91440"/>
          <a:lstStyle/>
          <a:p>
            <a:pPr algn="l">
              <a:lnSpc>
                <a:spcPct val="112000"/>
              </a:lnSpc>
            </a:pPr>
            <a:r>
              <a:rPr sz="2400" b="1">
                <a:solidFill>
                  <a:srgbClr val="C8102E"/>
                </a:solidFill>
                <a:latin typeface="Segoe UI"/>
                <a:ea typeface="Segoe UI"/>
                <a:cs typeface="Segoe UI"/>
              </a:rPr>
              <a:t>2   </a:t>
            </a:r>
            <a:r>
              <a:rPr sz="2400">
                <a:solidFill>
                  <a:srgbClr val="1F2430"/>
                </a:solidFill>
                <a:latin typeface="Segoe UI"/>
                <a:ea typeface="Segoe UI"/>
                <a:cs typeface="Segoe UI"/>
              </a:rPr>
              <a:t>Nhận diện dị biệt toàn cục, ngữ cảnh và tập thể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77240" y="3578352"/>
            <a:ext cx="10637215" cy="652272"/>
          </a:xfrm>
          <a:prstGeom prst="roundRect">
            <a:avLst>
              <a:gd name="adj" fmla="val 8000"/>
            </a:avLst>
          </a:prstGeom>
          <a:solidFill>
            <a:srgbClr val="EEF2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46304" rIns="146304" tIns="91440" bIns="91440"/>
          <a:lstStyle/>
          <a:p>
            <a:pPr algn="l">
              <a:lnSpc>
                <a:spcPct val="112000"/>
              </a:lnSpc>
            </a:pPr>
            <a:r>
              <a:rPr sz="2400" b="1">
                <a:solidFill>
                  <a:srgbClr val="C8102E"/>
                </a:solidFill>
                <a:latin typeface="Segoe UI"/>
                <a:ea typeface="Segoe UI"/>
                <a:cs typeface="Segoe UI"/>
              </a:rPr>
              <a:t>3   </a:t>
            </a:r>
            <a:r>
              <a:rPr sz="2400">
                <a:solidFill>
                  <a:srgbClr val="1F2430"/>
                </a:solidFill>
                <a:latin typeface="Segoe UI"/>
                <a:ea typeface="Segoe UI"/>
                <a:cs typeface="Segoe UI"/>
              </a:rPr>
              <a:t>Áp dụng quy tắc 3σ, kiểm định Grubbs và quy tắc IQR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77240" y="4376928"/>
            <a:ext cx="10637215" cy="652272"/>
          </a:xfrm>
          <a:prstGeom prst="roundRect">
            <a:avLst>
              <a:gd name="adj" fmla="val 8000"/>
            </a:avLst>
          </a:prstGeom>
          <a:solidFill>
            <a:srgbClr val="EEF2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46304" rIns="146304" tIns="91440" bIns="91440"/>
          <a:lstStyle/>
          <a:p>
            <a:pPr algn="l">
              <a:lnSpc>
                <a:spcPct val="112000"/>
              </a:lnSpc>
            </a:pPr>
            <a:r>
              <a:rPr sz="2400" b="1">
                <a:solidFill>
                  <a:srgbClr val="C8102E"/>
                </a:solidFill>
                <a:latin typeface="Segoe UI"/>
                <a:ea typeface="Segoe UI"/>
                <a:cs typeface="Segoe UI"/>
              </a:rPr>
              <a:t>4   </a:t>
            </a:r>
            <a:r>
              <a:rPr sz="2400">
                <a:solidFill>
                  <a:srgbClr val="1F2430"/>
                </a:solidFill>
                <a:latin typeface="Segoe UI"/>
                <a:ea typeface="Segoe UI"/>
                <a:cs typeface="Segoe UI"/>
              </a:rPr>
              <a:t>Tính được hệ số dị biệt cục bộ LOF cho tập dữ liệu nhỏ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777240" y="5175504"/>
            <a:ext cx="10637215" cy="652272"/>
          </a:xfrm>
          <a:prstGeom prst="roundRect">
            <a:avLst>
              <a:gd name="adj" fmla="val 8000"/>
            </a:avLst>
          </a:prstGeom>
          <a:solidFill>
            <a:srgbClr val="EEF2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46304" rIns="146304" tIns="91440" bIns="91440"/>
          <a:lstStyle/>
          <a:p>
            <a:pPr algn="l">
              <a:lnSpc>
                <a:spcPct val="112000"/>
              </a:lnSpc>
            </a:pPr>
            <a:r>
              <a:rPr sz="2400" b="1">
                <a:solidFill>
                  <a:srgbClr val="C8102E"/>
                </a:solidFill>
                <a:latin typeface="Segoe UI"/>
                <a:ea typeface="Segoe UI"/>
                <a:cs typeface="Segoe UI"/>
              </a:rPr>
              <a:t>5   </a:t>
            </a:r>
            <a:r>
              <a:rPr sz="2400">
                <a:solidFill>
                  <a:srgbClr val="1F2430"/>
                </a:solidFill>
                <a:latin typeface="Segoe UI"/>
                <a:ea typeface="Segoe UI"/>
                <a:cs typeface="Segoe UI"/>
              </a:rPr>
              <a:t>Chọn được họ phương pháp phù hợp với dữ liệu cho trước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77240" y="6272784"/>
            <a:ext cx="7658794" cy="29260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100" b="0" i="0">
                <a:solidFill>
                  <a:srgbClr val="5B6673"/>
                </a:solidFill>
                <a:latin typeface="Segoe UI"/>
                <a:ea typeface="Segoe UI"/>
                <a:cs typeface="Segoe UI"/>
              </a:rPr>
              <a:t>INT1422 · Bài 13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951415" y="6272784"/>
            <a:ext cx="1463040" cy="29260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100" b="0" i="0">
                <a:solidFill>
                  <a:srgbClr val="5B6673"/>
                </a:solidFill>
                <a:latin typeface="Segoe UI"/>
                <a:ea typeface="Segoe UI"/>
                <a:cs typeface="Segoe UI"/>
              </a:rPr>
              <a:t>3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2355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914400" y="2240280"/>
            <a:ext cx="10637215" cy="21945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1200"/>
              </a:spcAft>
            </a:pPr>
            <a:r>
              <a:rPr sz="2200" b="1" i="0">
                <a:solidFill>
                  <a:srgbClr val="F29AA8"/>
                </a:solidFill>
                <a:latin typeface="Segoe UI"/>
                <a:ea typeface="Segoe UI"/>
                <a:cs typeface="Segoe UI"/>
              </a:rPr>
              <a:t>01</a:t>
            </a:r>
          </a:p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4000" b="1" i="0">
                <a:solidFill>
                  <a:srgbClr val="FFFFFF"/>
                </a:solidFill>
                <a:latin typeface="Segoe UI"/>
                <a:ea typeface="Segoe UI"/>
                <a:cs typeface="Segoe UI"/>
              </a:rPr>
              <a:t>Khái niệm cơ bản</a:t>
            </a:r>
          </a:p>
        </p:txBody>
      </p:sp>
      <p:sp>
        <p:nvSpPr>
          <p:cNvPr id="4" name="Rectangle 3"/>
          <p:cNvSpPr/>
          <p:nvPr/>
        </p:nvSpPr>
        <p:spPr>
          <a:xfrm>
            <a:off x="914400" y="4526280"/>
            <a:ext cx="2011680" cy="38100"/>
          </a:xfrm>
          <a:prstGeom prst="rect">
            <a:avLst/>
          </a:prstGeom>
          <a:solidFill>
            <a:srgbClr val="C810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914400" y="4800600"/>
            <a:ext cx="9722815" cy="8229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800" b="0" i="0">
                <a:solidFill>
                  <a:srgbClr val="C5D2E2"/>
                </a:solidFill>
                <a:latin typeface="Segoe UI"/>
                <a:ea typeface="Segoe UI"/>
                <a:cs typeface="Segoe UI"/>
              </a:rPr>
              <a:t>Dị biệt là gì và vì sao đáng tìm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77240" y="384048"/>
            <a:ext cx="10637215" cy="960120"/>
          </a:xfrm>
          <a:prstGeom prst="rect">
            <a:avLst/>
          </a:prstGeom>
          <a:noFill/>
        </p:spPr>
        <p:txBody>
          <a:bodyPr wrap="square" lIns="0" rIns="0" tIns="0" bIns="0" anchor="b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3400" b="1" i="0">
                <a:solidFill>
                  <a:srgbClr val="12355B"/>
                </a:solidFill>
                <a:latin typeface="Segoe UI"/>
                <a:ea typeface="Segoe UI"/>
                <a:cs typeface="Segoe UI"/>
              </a:rPr>
              <a:t>Động lực: tìm cái bất thường</a:t>
            </a:r>
          </a:p>
        </p:txBody>
      </p:sp>
      <p:sp>
        <p:nvSpPr>
          <p:cNvPr id="3" name="Rectangle 2"/>
          <p:cNvSpPr/>
          <p:nvPr/>
        </p:nvSpPr>
        <p:spPr>
          <a:xfrm>
            <a:off x="777240" y="1426464"/>
            <a:ext cx="1325880" cy="38100"/>
          </a:xfrm>
          <a:prstGeom prst="rect">
            <a:avLst/>
          </a:prstGeom>
          <a:solidFill>
            <a:srgbClr val="C810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2103120" y="1435608"/>
            <a:ext cx="9311335" cy="12700"/>
          </a:xfrm>
          <a:prstGeom prst="rect">
            <a:avLst/>
          </a:prstGeom>
          <a:solidFill>
            <a:srgbClr val="D3DAE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77240" y="1755648"/>
            <a:ext cx="10637215" cy="42062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marL="292608" indent="-292608">
              <a:lnSpc>
                <a:spcPct val="112000"/>
              </a:lnSpc>
              <a:spcAft>
                <a:spcPts val="1200"/>
              </a:spcAft>
              <a:buClr>
                <a:srgbClr val="C8102E"/>
              </a:buClr>
              <a:buSzPct val="85000"/>
              <a:buFont typeface="Segoe UI"/>
              <a:buChar char="▪"/>
            </a:pPr>
            <a:r>
              <a:rPr sz="2400">
                <a:solidFill>
                  <a:srgbClr val="1F2430"/>
                </a:solidFill>
                <a:latin typeface="Segoe UI"/>
                <a:ea typeface="Segoe UI"/>
                <a:cs typeface="Segoe UI"/>
              </a:rPr>
              <a:t>Ví dụ: hai giao dịch thẻ cách nhau 10 phút ở hai tỉnh cách xa</a:t>
            </a:r>
          </a:p>
          <a:p>
            <a:pPr marL="292608" indent="-292608">
              <a:lnSpc>
                <a:spcPct val="112000"/>
              </a:lnSpc>
              <a:spcAft>
                <a:spcPts val="1200"/>
              </a:spcAft>
              <a:buClr>
                <a:srgbClr val="C8102E"/>
              </a:buClr>
              <a:buSzPct val="85000"/>
              <a:buFont typeface="Segoe UI"/>
              <a:buChar char="▪"/>
            </a:pPr>
            <a:r>
              <a:rPr sz="2400">
                <a:solidFill>
                  <a:srgbClr val="1F2430"/>
                </a:solidFill>
                <a:latin typeface="Segoe UI"/>
                <a:ea typeface="Segoe UI"/>
                <a:cs typeface="Segoe UI"/>
              </a:rPr>
              <a:t>Hầu hết giao dịch bình thường, chỉ rất ít là bất thường</a:t>
            </a:r>
          </a:p>
          <a:p>
            <a:pPr marL="292608" indent="-292608">
              <a:lnSpc>
                <a:spcPct val="112000"/>
              </a:lnSpc>
              <a:spcAft>
                <a:spcPts val="1200"/>
              </a:spcAft>
              <a:buClr>
                <a:srgbClr val="C8102E"/>
              </a:buClr>
              <a:buSzPct val="85000"/>
              <a:buFont typeface="Segoe UI"/>
              <a:buChar char="▪"/>
            </a:pPr>
            <a:r>
              <a:rPr sz="2400" b="1">
                <a:solidFill>
                  <a:srgbClr val="12355B"/>
                </a:solidFill>
                <a:latin typeface="Segoe UI"/>
                <a:ea typeface="Segoe UI"/>
                <a:cs typeface="Segoe UI"/>
              </a:rPr>
              <a:t>Dị biệt</a:t>
            </a:r>
            <a:r>
              <a:rPr sz="2400">
                <a:solidFill>
                  <a:srgbClr val="1F2430"/>
                </a:solidFill>
                <a:latin typeface="Segoe UI"/>
                <a:ea typeface="Segoe UI"/>
                <a:cs typeface="Segoe UI"/>
              </a:rPr>
              <a:t>: lệch hẳn số đông, như do cơ chế khác sinh ra</a:t>
            </a:r>
          </a:p>
          <a:p>
            <a:pPr marL="292608" indent="-292608">
              <a:lnSpc>
                <a:spcPct val="112000"/>
              </a:lnSpc>
              <a:spcAft>
                <a:spcPts val="1200"/>
              </a:spcAft>
              <a:buClr>
                <a:srgbClr val="C8102E"/>
              </a:buClr>
              <a:buSzPct val="85000"/>
              <a:buFont typeface="Segoe UI"/>
              <a:buChar char="▪"/>
            </a:pPr>
            <a:r>
              <a:rPr sz="2400" b="1">
                <a:solidFill>
                  <a:srgbClr val="12355B"/>
                </a:solidFill>
                <a:latin typeface="Segoe UI"/>
                <a:ea typeface="Segoe UI"/>
                <a:cs typeface="Segoe UI"/>
              </a:rPr>
              <a:t>Phát hiện dị biệt</a:t>
            </a:r>
            <a:r>
              <a:rPr sz="2400">
                <a:solidFill>
                  <a:srgbClr val="1F2430"/>
                </a:solidFill>
                <a:latin typeface="Segoe UI"/>
                <a:ea typeface="Segoe UI"/>
                <a:cs typeface="Segoe UI"/>
              </a:rPr>
              <a:t> (phát hiện bất thường) là quá trình tìm các đối tượng đó</a:t>
            </a:r>
          </a:p>
          <a:p>
            <a:pPr marL="292608" indent="-292608">
              <a:lnSpc>
                <a:spcPct val="112000"/>
              </a:lnSpc>
              <a:spcAft>
                <a:spcPts val="1200"/>
              </a:spcAft>
              <a:buClr>
                <a:srgbClr val="C8102E"/>
              </a:buClr>
              <a:buSzPct val="85000"/>
              <a:buFont typeface="Segoe UI"/>
              <a:buChar char="▪"/>
            </a:pPr>
            <a:r>
              <a:rPr sz="2400">
                <a:solidFill>
                  <a:srgbClr val="1F2430"/>
                </a:solidFill>
                <a:latin typeface="Segoe UI"/>
                <a:ea typeface="Segoe UI"/>
                <a:cs typeface="Segoe UI"/>
              </a:rPr>
              <a:t>Ứng dụng: y tế, an ninh mạng, gian lận, giám sát cảm biến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77240" y="6272784"/>
            <a:ext cx="7658794" cy="29260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100" b="0" i="0">
                <a:solidFill>
                  <a:srgbClr val="5B6673"/>
                </a:solidFill>
                <a:latin typeface="Segoe UI"/>
                <a:ea typeface="Segoe UI"/>
                <a:cs typeface="Segoe UI"/>
              </a:rPr>
              <a:t>INT1422 · Bài 13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951415" y="6272784"/>
            <a:ext cx="1463040" cy="29260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100" b="0" i="0">
                <a:solidFill>
                  <a:srgbClr val="5B6673"/>
                </a:solidFill>
                <a:latin typeface="Segoe UI"/>
                <a:ea typeface="Segoe UI"/>
                <a:cs typeface="Segoe UI"/>
              </a:rPr>
              <a:t>5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77240" y="6035040"/>
            <a:ext cx="10637215" cy="31089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200" b="0" i="1">
                <a:solidFill>
                  <a:srgbClr val="5B6673"/>
                </a:solidFill>
                <a:latin typeface="Segoe UI"/>
                <a:ea typeface="Segoe UI"/>
                <a:cs typeface="Segoe UI"/>
              </a:rPr>
              <a:t>Nguồn: Han, Kamber &amp; Pei (2022), Data Mining: Concepts and Techniques, 4th ed., Morgan Kaufmann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77240" y="384048"/>
            <a:ext cx="10637215" cy="960120"/>
          </a:xfrm>
          <a:prstGeom prst="rect">
            <a:avLst/>
          </a:prstGeom>
          <a:noFill/>
        </p:spPr>
        <p:txBody>
          <a:bodyPr wrap="square" lIns="0" rIns="0" tIns="0" bIns="0" anchor="b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3400" b="1" i="0">
                <a:solidFill>
                  <a:srgbClr val="12355B"/>
                </a:solidFill>
                <a:latin typeface="Segoe UI"/>
                <a:ea typeface="Segoe UI"/>
                <a:cs typeface="Segoe UI"/>
              </a:rPr>
              <a:t>Dị biệt khác nhiễu, điểm mới và phân cụm</a:t>
            </a:r>
          </a:p>
        </p:txBody>
      </p:sp>
      <p:sp>
        <p:nvSpPr>
          <p:cNvPr id="3" name="Rectangle 2"/>
          <p:cNvSpPr/>
          <p:nvPr/>
        </p:nvSpPr>
        <p:spPr>
          <a:xfrm>
            <a:off x="777240" y="1426464"/>
            <a:ext cx="1325880" cy="38100"/>
          </a:xfrm>
          <a:prstGeom prst="rect">
            <a:avLst/>
          </a:prstGeom>
          <a:solidFill>
            <a:srgbClr val="C810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2103120" y="1435608"/>
            <a:ext cx="9311335" cy="12700"/>
          </a:xfrm>
          <a:prstGeom prst="rect">
            <a:avLst/>
          </a:prstGeom>
          <a:solidFill>
            <a:srgbClr val="D3DAE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graphicFrame>
        <p:nvGraphicFramePr>
          <p:cNvPr id="5" name="Table 4"/>
          <p:cNvGraphicFramePr>
            <a:graphicFrameLocks noGrp="1"/>
          </p:cNvGraphicFramePr>
          <p:nvPr/>
        </p:nvGraphicFramePr>
        <p:xfrm>
          <a:off x="777240" y="1755648"/>
          <a:ext cx="10637214" cy="28346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532670"/>
                <a:gridCol w="4305539"/>
                <a:gridCol w="3799005"/>
              </a:tblGrid>
              <a:tr h="566928">
                <a:tc>
                  <a:txBody>
                    <a:bodyPr wrap="square"/>
                    <a:lstStyle/>
                    <a:p>
                      <a:r>
                        <a:rPr sz="2000" b="1">
                          <a:solidFill>
                            <a:srgbClr val="FFFFFF"/>
                          </a:solidFill>
                          <a:latin typeface="Segoe UI"/>
                          <a:ea typeface="Segoe UI"/>
                          <a:cs typeface="Segoe UI"/>
                        </a:rPr>
                        <a:t>Khái niệm</a:t>
                      </a:r>
                    </a:p>
                  </a:txBody>
                  <a:tcPr marL="109728" marR="91440" anchor="ctr">
                    <a:solidFill>
                      <a:srgbClr val="12355B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2000" b="1">
                          <a:solidFill>
                            <a:srgbClr val="FFFFFF"/>
                          </a:solidFill>
                          <a:latin typeface="Segoe UI"/>
                          <a:ea typeface="Segoe UI"/>
                          <a:cs typeface="Segoe UI"/>
                        </a:rPr>
                        <a:t>Bản chất</a:t>
                      </a:r>
                    </a:p>
                  </a:txBody>
                  <a:tcPr marL="109728" marR="91440" anchor="ctr">
                    <a:solidFill>
                      <a:srgbClr val="12355B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2000" b="1">
                          <a:solidFill>
                            <a:srgbClr val="FFFFFF"/>
                          </a:solidFill>
                          <a:latin typeface="Segoe UI"/>
                          <a:ea typeface="Segoe UI"/>
                          <a:cs typeface="Segoe UI"/>
                        </a:rPr>
                        <a:t>Cách đối xử</a:t>
                      </a:r>
                    </a:p>
                  </a:txBody>
                  <a:tcPr marL="109728" marR="91440" anchor="ctr">
                    <a:solidFill>
                      <a:srgbClr val="12355B"/>
                    </a:solidFill>
                  </a:tcPr>
                </a:tc>
              </a:tr>
              <a:tr h="566928">
                <a:tc>
                  <a:txBody>
                    <a:bodyPr wrap="square"/>
                    <a:lstStyle/>
                    <a:p>
                      <a:r>
                        <a:rPr sz="2000" b="0">
                          <a:solidFill>
                            <a:srgbClr val="12355B"/>
                          </a:solidFill>
                          <a:latin typeface="Segoe UI"/>
                          <a:ea typeface="Segoe UI"/>
                          <a:cs typeface="Segoe UI"/>
                        </a:rPr>
                        <a:t>Nhiễu</a:t>
                      </a:r>
                    </a:p>
                  </a:txBody>
                  <a:tcPr marL="109728" marR="9144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2000" b="0">
                          <a:solidFill>
                            <a:srgbClr val="1F2430"/>
                          </a:solidFill>
                          <a:latin typeface="Segoe UI"/>
                          <a:ea typeface="Segoe UI"/>
                          <a:cs typeface="Segoe UI"/>
                        </a:rPr>
                        <a:t>Sai số ngẫu nhiên trong phép đo</a:t>
                      </a:r>
                    </a:p>
                  </a:txBody>
                  <a:tcPr marL="109728" marR="9144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2000" b="0">
                          <a:solidFill>
                            <a:srgbClr val="1F2430"/>
                          </a:solidFill>
                          <a:latin typeface="Segoe UI"/>
                          <a:ea typeface="Segoe UI"/>
                          <a:cs typeface="Segoe UI"/>
                        </a:rPr>
                        <a:t>Làm sạch, không đáng quan tâm</a:t>
                      </a:r>
                    </a:p>
                  </a:txBody>
                  <a:tcPr marL="109728" marR="91440" anchor="ctr">
                    <a:solidFill>
                      <a:srgbClr val="FFFFFF"/>
                    </a:solidFill>
                  </a:tcPr>
                </a:tc>
              </a:tr>
              <a:tr h="566928">
                <a:tc>
                  <a:txBody>
                    <a:bodyPr wrap="square"/>
                    <a:lstStyle/>
                    <a:p>
                      <a:r>
                        <a:rPr sz="2000" b="0">
                          <a:solidFill>
                            <a:srgbClr val="12355B"/>
                          </a:solidFill>
                          <a:latin typeface="Segoe UI"/>
                          <a:ea typeface="Segoe UI"/>
                          <a:cs typeface="Segoe UI"/>
                        </a:rPr>
                        <a:t>Dị biệt</a:t>
                      </a:r>
                    </a:p>
                  </a:txBody>
                  <a:tcPr marL="109728" marR="91440" anchor="ctr">
                    <a:solidFill>
                      <a:srgbClr val="F7F9FC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2000" b="0">
                          <a:solidFill>
                            <a:srgbClr val="1F2430"/>
                          </a:solidFill>
                          <a:latin typeface="Segoe UI"/>
                          <a:ea typeface="Segoe UI"/>
                          <a:cs typeface="Segoe UI"/>
                        </a:rPr>
                        <a:t>Nghi do một cơ chế khác sinh ra</a:t>
                      </a:r>
                    </a:p>
                  </a:txBody>
                  <a:tcPr marL="109728" marR="91440" anchor="ctr">
                    <a:solidFill>
                      <a:srgbClr val="F7F9FC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2000" b="0">
                          <a:solidFill>
                            <a:srgbClr val="1F2430"/>
                          </a:solidFill>
                          <a:latin typeface="Segoe UI"/>
                          <a:ea typeface="Segoe UI"/>
                          <a:cs typeface="Segoe UI"/>
                        </a:rPr>
                        <a:t>Phải giải thích vì sao nó khác</a:t>
                      </a:r>
                    </a:p>
                  </a:txBody>
                  <a:tcPr marL="109728" marR="91440" anchor="ctr">
                    <a:solidFill>
                      <a:srgbClr val="F7F9FC"/>
                    </a:solidFill>
                  </a:tcPr>
                </a:tc>
              </a:tr>
              <a:tr h="566928">
                <a:tc>
                  <a:txBody>
                    <a:bodyPr wrap="square"/>
                    <a:lstStyle/>
                    <a:p>
                      <a:r>
                        <a:rPr sz="2000" b="0">
                          <a:solidFill>
                            <a:srgbClr val="12355B"/>
                          </a:solidFill>
                          <a:latin typeface="Segoe UI"/>
                          <a:ea typeface="Segoe UI"/>
                          <a:cs typeface="Segoe UI"/>
                        </a:rPr>
                        <a:t>Điểm mới</a:t>
                      </a:r>
                    </a:p>
                  </a:txBody>
                  <a:tcPr marL="109728" marR="9144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2000" b="0">
                          <a:solidFill>
                            <a:srgbClr val="1F2430"/>
                          </a:solidFill>
                          <a:latin typeface="Segoe UI"/>
                          <a:ea typeface="Segoe UI"/>
                          <a:cs typeface="Segoe UI"/>
                        </a:rPr>
                        <a:t>Mẫu mới xuất hiện, ban đầu giống dị biệt</a:t>
                      </a:r>
                    </a:p>
                  </a:txBody>
                  <a:tcPr marL="109728" marR="9144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2000" b="0">
                          <a:solidFill>
                            <a:srgbClr val="1F2430"/>
                          </a:solidFill>
                          <a:latin typeface="Segoe UI"/>
                          <a:ea typeface="Segoe UI"/>
                          <a:cs typeface="Segoe UI"/>
                        </a:rPr>
                        <a:t>Xác nhận xong thì nhập vào mô hình</a:t>
                      </a:r>
                    </a:p>
                  </a:txBody>
                  <a:tcPr marL="109728" marR="91440" anchor="ctr">
                    <a:solidFill>
                      <a:srgbClr val="FFFFFF"/>
                    </a:solidFill>
                  </a:tcPr>
                </a:tc>
              </a:tr>
              <a:tr h="566928">
                <a:tc>
                  <a:txBody>
                    <a:bodyPr wrap="square"/>
                    <a:lstStyle/>
                    <a:p>
                      <a:r>
                        <a:rPr sz="2000" b="0">
                          <a:solidFill>
                            <a:srgbClr val="12355B"/>
                          </a:solidFill>
                          <a:latin typeface="Segoe UI"/>
                          <a:ea typeface="Segoe UI"/>
                          <a:cs typeface="Segoe UI"/>
                        </a:rPr>
                        <a:t>Phân cụm</a:t>
                      </a:r>
                    </a:p>
                  </a:txBody>
                  <a:tcPr marL="109728" marR="91440" anchor="ctr">
                    <a:solidFill>
                      <a:srgbClr val="F7F9FC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2000" b="0">
                          <a:solidFill>
                            <a:srgbClr val="1F2430"/>
                          </a:solidFill>
                          <a:latin typeface="Segoe UI"/>
                          <a:ea typeface="Segoe UI"/>
                          <a:cs typeface="Segoe UI"/>
                        </a:rPr>
                        <a:t>Tìm mẫu của số đông</a:t>
                      </a:r>
                    </a:p>
                  </a:txBody>
                  <a:tcPr marL="109728" marR="91440" anchor="ctr">
                    <a:solidFill>
                      <a:srgbClr val="F7F9FC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2000" b="0">
                          <a:solidFill>
                            <a:srgbClr val="1F2430"/>
                          </a:solidFill>
                          <a:latin typeface="Segoe UI"/>
                          <a:ea typeface="Segoe UI"/>
                          <a:cs typeface="Segoe UI"/>
                        </a:rPr>
                        <a:t>Dị biệt tìm ngoại lệ so với số đông</a:t>
                      </a:r>
                    </a:p>
                  </a:txBody>
                  <a:tcPr marL="109728" marR="91440" anchor="ctr">
                    <a:solidFill>
                      <a:srgbClr val="F7F9FC"/>
                    </a:solidFill>
                  </a:tcPr>
                </a:tc>
              </a:tr>
            </a:tbl>
          </a:graphicData>
        </a:graphic>
      </p:graphicFrame>
      <p:sp>
        <p:nvSpPr>
          <p:cNvPr id="6" name="TextBox 5"/>
          <p:cNvSpPr txBox="1"/>
          <p:nvPr/>
        </p:nvSpPr>
        <p:spPr>
          <a:xfrm>
            <a:off x="777240" y="6272784"/>
            <a:ext cx="7658794" cy="29260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100" b="0" i="0">
                <a:solidFill>
                  <a:srgbClr val="5B6673"/>
                </a:solidFill>
                <a:latin typeface="Segoe UI"/>
                <a:ea typeface="Segoe UI"/>
                <a:cs typeface="Segoe UI"/>
              </a:rPr>
              <a:t>INT1422 · Bài 13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951415" y="6272784"/>
            <a:ext cx="1463040" cy="29260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100" b="0" i="0">
                <a:solidFill>
                  <a:srgbClr val="5B6673"/>
                </a:solidFill>
                <a:latin typeface="Segoe UI"/>
                <a:ea typeface="Segoe UI"/>
                <a:cs typeface="Segoe UI"/>
              </a:rPr>
              <a:t>6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77240" y="6035040"/>
            <a:ext cx="10637215" cy="31089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200" b="0" i="1">
                <a:solidFill>
                  <a:srgbClr val="5B6673"/>
                </a:solidFill>
                <a:latin typeface="Segoe UI"/>
                <a:ea typeface="Segoe UI"/>
                <a:cs typeface="Segoe UI"/>
              </a:rPr>
              <a:t>Nguồn: Han, Kamber &amp; Pei (2022), Data Mining: Concepts and Techniques, 4th ed., Morgan Kaufmann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77240" y="384048"/>
            <a:ext cx="10637215" cy="960120"/>
          </a:xfrm>
          <a:prstGeom prst="rect">
            <a:avLst/>
          </a:prstGeom>
          <a:noFill/>
        </p:spPr>
        <p:txBody>
          <a:bodyPr wrap="square" lIns="0" rIns="0" tIns="0" bIns="0" anchor="b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3400" b="1" i="0">
                <a:solidFill>
                  <a:srgbClr val="12355B"/>
                </a:solidFill>
                <a:latin typeface="Segoe UI"/>
                <a:ea typeface="Segoe UI"/>
                <a:cs typeface="Segoe UI"/>
              </a:rPr>
              <a:t>Dị biệt toàn cục</a:t>
            </a:r>
          </a:p>
        </p:txBody>
      </p:sp>
      <p:sp>
        <p:nvSpPr>
          <p:cNvPr id="3" name="Rectangle 2"/>
          <p:cNvSpPr/>
          <p:nvPr/>
        </p:nvSpPr>
        <p:spPr>
          <a:xfrm>
            <a:off x="777240" y="1426464"/>
            <a:ext cx="1325880" cy="38100"/>
          </a:xfrm>
          <a:prstGeom prst="rect">
            <a:avLst/>
          </a:prstGeom>
          <a:solidFill>
            <a:srgbClr val="C810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2103120" y="1435608"/>
            <a:ext cx="9311335" cy="12700"/>
          </a:xfrm>
          <a:prstGeom prst="rect">
            <a:avLst/>
          </a:prstGeom>
          <a:solidFill>
            <a:srgbClr val="D3DAE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77240" y="1700784"/>
            <a:ext cx="10637215" cy="457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2200" b="0" i="0">
                <a:solidFill>
                  <a:srgbClr val="5B6673"/>
                </a:solidFill>
                <a:latin typeface="Segoe UI"/>
                <a:ea typeface="Segoe UI"/>
                <a:cs typeface="Segoe UI"/>
              </a:rPr>
              <a:t>Điểm lệch hẳn khỏi toàn bộ tập dữ liệu</a:t>
            </a:r>
          </a:p>
        </p:txBody>
      </p:sp>
      <p:sp>
        <p:nvSpPr>
          <p:cNvPr id="6" name="Rectangle 5"/>
          <p:cNvSpPr/>
          <p:nvPr/>
        </p:nvSpPr>
        <p:spPr>
          <a:xfrm>
            <a:off x="3626967" y="2761488"/>
            <a:ext cx="5852160" cy="1572768"/>
          </a:xfrm>
          <a:prstGeom prst="rect">
            <a:avLst/>
          </a:prstGeom>
          <a:solidFill>
            <a:srgbClr val="F7F9FC"/>
          </a:solidFill>
          <a:ln w="12700">
            <a:solidFill>
              <a:srgbClr val="D3DAE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7" name="Connector 6"/>
          <p:cNvCxnSpPr/>
          <p:nvPr/>
        </p:nvCxnSpPr>
        <p:spPr>
          <a:xfrm>
            <a:off x="5090007" y="2761488"/>
            <a:ext cx="0" cy="1572768"/>
          </a:xfrm>
          <a:prstGeom prst="line">
            <a:avLst/>
          </a:prstGeom>
          <a:ln w="10160">
            <a:solidFill>
              <a:srgbClr val="D3DAE3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" name="Connector 7"/>
          <p:cNvCxnSpPr/>
          <p:nvPr/>
        </p:nvCxnSpPr>
        <p:spPr>
          <a:xfrm>
            <a:off x="3626967" y="3154680"/>
            <a:ext cx="5852160" cy="0"/>
          </a:xfrm>
          <a:prstGeom prst="line">
            <a:avLst/>
          </a:prstGeom>
          <a:ln w="10160">
            <a:solidFill>
              <a:srgbClr val="D3DAE3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" name="Connector 8"/>
          <p:cNvCxnSpPr/>
          <p:nvPr/>
        </p:nvCxnSpPr>
        <p:spPr>
          <a:xfrm>
            <a:off x="6553047" y="2761488"/>
            <a:ext cx="0" cy="1572768"/>
          </a:xfrm>
          <a:prstGeom prst="line">
            <a:avLst/>
          </a:prstGeom>
          <a:ln w="10160">
            <a:solidFill>
              <a:srgbClr val="D3DAE3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" name="Connector 9"/>
          <p:cNvCxnSpPr/>
          <p:nvPr/>
        </p:nvCxnSpPr>
        <p:spPr>
          <a:xfrm>
            <a:off x="3626967" y="3547872"/>
            <a:ext cx="5852160" cy="0"/>
          </a:xfrm>
          <a:prstGeom prst="line">
            <a:avLst/>
          </a:prstGeom>
          <a:ln w="10160">
            <a:solidFill>
              <a:srgbClr val="D3DAE3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" name="Connector 10"/>
          <p:cNvCxnSpPr/>
          <p:nvPr/>
        </p:nvCxnSpPr>
        <p:spPr>
          <a:xfrm>
            <a:off x="8016087" y="2761488"/>
            <a:ext cx="0" cy="1572768"/>
          </a:xfrm>
          <a:prstGeom prst="line">
            <a:avLst/>
          </a:prstGeom>
          <a:ln w="10160">
            <a:solidFill>
              <a:srgbClr val="D3DAE3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2" name="Connector 11"/>
          <p:cNvCxnSpPr/>
          <p:nvPr/>
        </p:nvCxnSpPr>
        <p:spPr>
          <a:xfrm>
            <a:off x="3626967" y="3941064"/>
            <a:ext cx="5852160" cy="0"/>
          </a:xfrm>
          <a:prstGeom prst="line">
            <a:avLst/>
          </a:prstGeom>
          <a:ln w="10160">
            <a:solidFill>
              <a:srgbClr val="D3DAE3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3" name="TextBox 12"/>
          <p:cNvSpPr txBox="1"/>
          <p:nvPr/>
        </p:nvSpPr>
        <p:spPr>
          <a:xfrm>
            <a:off x="777240" y="3264408"/>
            <a:ext cx="786384" cy="56692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r">
              <a:lnSpc>
                <a:spcPct val="108000"/>
              </a:lnSpc>
              <a:spcBef>
                <a:spcPts val="0"/>
              </a:spcBef>
              <a:spcAft>
                <a:spcPts val="0"/>
              </a:spcAft>
            </a:pPr>
            <a:r>
              <a:rPr sz="1600" b="0" i="0">
                <a:solidFill>
                  <a:srgbClr val="5B6673"/>
                </a:solidFill>
                <a:latin typeface="Segoe UI"/>
                <a:ea typeface="Segoe UI"/>
                <a:cs typeface="Segoe UI"/>
              </a:rPr>
              <a:t>y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626967" y="4425696"/>
            <a:ext cx="5852160" cy="32918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08000"/>
              </a:lnSpc>
              <a:spcBef>
                <a:spcPts val="0"/>
              </a:spcBef>
              <a:spcAft>
                <a:spcPts val="0"/>
              </a:spcAft>
            </a:pPr>
            <a:r>
              <a:rPr sz="1600" b="0" i="0">
                <a:solidFill>
                  <a:srgbClr val="5B6673"/>
                </a:solidFill>
                <a:latin typeface="Segoe UI"/>
                <a:ea typeface="Segoe UI"/>
                <a:cs typeface="Segoe UI"/>
              </a:rPr>
              <a:t>x</a:t>
            </a:r>
          </a:p>
        </p:txBody>
      </p:sp>
      <p:sp>
        <p:nvSpPr>
          <p:cNvPr id="15" name="Oval 14"/>
          <p:cNvSpPr/>
          <p:nvPr/>
        </p:nvSpPr>
        <p:spPr>
          <a:xfrm>
            <a:off x="4240308" y="3901282"/>
            <a:ext cx="192024" cy="192024"/>
          </a:xfrm>
          <a:prstGeom prst="ellipse">
            <a:avLst/>
          </a:prstGeom>
          <a:solidFill>
            <a:srgbClr val="12355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Oval 15"/>
          <p:cNvSpPr/>
          <p:nvPr/>
        </p:nvSpPr>
        <p:spPr>
          <a:xfrm>
            <a:off x="4501099" y="3775861"/>
            <a:ext cx="192024" cy="192024"/>
          </a:xfrm>
          <a:prstGeom prst="ellipse">
            <a:avLst/>
          </a:prstGeom>
          <a:solidFill>
            <a:srgbClr val="12355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Oval 16"/>
          <p:cNvSpPr/>
          <p:nvPr/>
        </p:nvSpPr>
        <p:spPr>
          <a:xfrm>
            <a:off x="4827089" y="3859475"/>
            <a:ext cx="192024" cy="192024"/>
          </a:xfrm>
          <a:prstGeom prst="ellipse">
            <a:avLst/>
          </a:prstGeom>
          <a:solidFill>
            <a:srgbClr val="12355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Oval 17"/>
          <p:cNvSpPr/>
          <p:nvPr/>
        </p:nvSpPr>
        <p:spPr>
          <a:xfrm>
            <a:off x="4957484" y="3734055"/>
            <a:ext cx="192024" cy="192024"/>
          </a:xfrm>
          <a:prstGeom prst="ellipse">
            <a:avLst/>
          </a:prstGeom>
          <a:solidFill>
            <a:srgbClr val="12355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Oval 18"/>
          <p:cNvSpPr/>
          <p:nvPr/>
        </p:nvSpPr>
        <p:spPr>
          <a:xfrm>
            <a:off x="4631495" y="3650441"/>
            <a:ext cx="192024" cy="192024"/>
          </a:xfrm>
          <a:prstGeom prst="ellipse">
            <a:avLst/>
          </a:prstGeom>
          <a:solidFill>
            <a:srgbClr val="12355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Oval 19"/>
          <p:cNvSpPr/>
          <p:nvPr/>
        </p:nvSpPr>
        <p:spPr>
          <a:xfrm>
            <a:off x="5218276" y="3817668"/>
            <a:ext cx="192024" cy="192024"/>
          </a:xfrm>
          <a:prstGeom prst="ellipse">
            <a:avLst/>
          </a:prstGeom>
          <a:solidFill>
            <a:srgbClr val="12355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Oval 20"/>
          <p:cNvSpPr/>
          <p:nvPr/>
        </p:nvSpPr>
        <p:spPr>
          <a:xfrm>
            <a:off x="4370704" y="3713151"/>
            <a:ext cx="192024" cy="192024"/>
          </a:xfrm>
          <a:prstGeom prst="ellipse">
            <a:avLst/>
          </a:prstGeom>
          <a:solidFill>
            <a:srgbClr val="12355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Oval 21"/>
          <p:cNvSpPr/>
          <p:nvPr/>
        </p:nvSpPr>
        <p:spPr>
          <a:xfrm>
            <a:off x="5087880" y="3629538"/>
            <a:ext cx="192024" cy="192024"/>
          </a:xfrm>
          <a:prstGeom prst="ellipse">
            <a:avLst/>
          </a:prstGeom>
          <a:solidFill>
            <a:srgbClr val="12355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Oval 22"/>
          <p:cNvSpPr/>
          <p:nvPr/>
        </p:nvSpPr>
        <p:spPr>
          <a:xfrm>
            <a:off x="6848222" y="3044244"/>
            <a:ext cx="192024" cy="192024"/>
          </a:xfrm>
          <a:prstGeom prst="ellipse">
            <a:avLst/>
          </a:prstGeom>
          <a:solidFill>
            <a:srgbClr val="12355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Oval 23"/>
          <p:cNvSpPr/>
          <p:nvPr/>
        </p:nvSpPr>
        <p:spPr>
          <a:xfrm>
            <a:off x="7174212" y="3148761"/>
            <a:ext cx="192024" cy="192024"/>
          </a:xfrm>
          <a:prstGeom prst="ellipse">
            <a:avLst/>
          </a:prstGeom>
          <a:solidFill>
            <a:srgbClr val="12355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Oval 24"/>
          <p:cNvSpPr/>
          <p:nvPr/>
        </p:nvSpPr>
        <p:spPr>
          <a:xfrm>
            <a:off x="7435003" y="3002437"/>
            <a:ext cx="192024" cy="192024"/>
          </a:xfrm>
          <a:prstGeom prst="ellipse">
            <a:avLst/>
          </a:prstGeom>
          <a:solidFill>
            <a:srgbClr val="12355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Oval 25"/>
          <p:cNvSpPr/>
          <p:nvPr/>
        </p:nvSpPr>
        <p:spPr>
          <a:xfrm>
            <a:off x="7043816" y="2897921"/>
            <a:ext cx="192024" cy="192024"/>
          </a:xfrm>
          <a:prstGeom prst="ellipse">
            <a:avLst/>
          </a:prstGeom>
          <a:solidFill>
            <a:srgbClr val="12355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Oval 26"/>
          <p:cNvSpPr/>
          <p:nvPr/>
        </p:nvSpPr>
        <p:spPr>
          <a:xfrm>
            <a:off x="7630597" y="3106954"/>
            <a:ext cx="192024" cy="192024"/>
          </a:xfrm>
          <a:prstGeom prst="ellipse">
            <a:avLst/>
          </a:prstGeom>
          <a:solidFill>
            <a:srgbClr val="12355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Oval 27"/>
          <p:cNvSpPr/>
          <p:nvPr/>
        </p:nvSpPr>
        <p:spPr>
          <a:xfrm>
            <a:off x="6717827" y="2939727"/>
            <a:ext cx="192024" cy="192024"/>
          </a:xfrm>
          <a:prstGeom prst="ellipse">
            <a:avLst/>
          </a:prstGeom>
          <a:solidFill>
            <a:srgbClr val="12355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Oval 28"/>
          <p:cNvSpPr/>
          <p:nvPr/>
        </p:nvSpPr>
        <p:spPr>
          <a:xfrm>
            <a:off x="7304607" y="2856114"/>
            <a:ext cx="192024" cy="192024"/>
          </a:xfrm>
          <a:prstGeom prst="ellipse">
            <a:avLst/>
          </a:prstGeom>
          <a:solidFill>
            <a:srgbClr val="12355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Oval 29"/>
          <p:cNvSpPr/>
          <p:nvPr/>
        </p:nvSpPr>
        <p:spPr>
          <a:xfrm>
            <a:off x="8673762" y="4047605"/>
            <a:ext cx="192024" cy="192024"/>
          </a:xfrm>
          <a:prstGeom prst="ellipse">
            <a:avLst/>
          </a:prstGeom>
          <a:solidFill>
            <a:srgbClr val="C810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8349150" y="3686417"/>
            <a:ext cx="841248" cy="2743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08000"/>
              </a:lnSpc>
              <a:spcBef>
                <a:spcPts val="0"/>
              </a:spcBef>
              <a:spcAft>
                <a:spcPts val="0"/>
              </a:spcAft>
            </a:pPr>
            <a:r>
              <a:rPr sz="1500" b="0" i="0">
                <a:solidFill>
                  <a:srgbClr val="5B6673"/>
                </a:solidFill>
                <a:latin typeface="Segoe UI"/>
                <a:ea typeface="Segoe UI"/>
                <a:cs typeface="Segoe UI"/>
              </a:rPr>
              <a:t>O</a:t>
            </a:r>
          </a:p>
        </p:txBody>
      </p:sp>
      <p:sp>
        <p:nvSpPr>
          <p:cNvPr id="32" name="Oval 31"/>
          <p:cNvSpPr/>
          <p:nvPr/>
        </p:nvSpPr>
        <p:spPr>
          <a:xfrm>
            <a:off x="2804007" y="4992624"/>
            <a:ext cx="182880" cy="182880"/>
          </a:xfrm>
          <a:prstGeom prst="ellipse">
            <a:avLst/>
          </a:prstGeom>
          <a:solidFill>
            <a:srgbClr val="12355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3078327" y="4846320"/>
            <a:ext cx="2944368" cy="47548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8000"/>
              </a:lnSpc>
              <a:spcBef>
                <a:spcPts val="0"/>
              </a:spcBef>
              <a:spcAft>
                <a:spcPts val="0"/>
              </a:spcAft>
            </a:pPr>
            <a:r>
              <a:rPr sz="1600" b="0" i="0">
                <a:solidFill>
                  <a:srgbClr val="1F2430"/>
                </a:solidFill>
                <a:latin typeface="Segoe UI"/>
                <a:ea typeface="Segoe UI"/>
                <a:cs typeface="Segoe UI"/>
              </a:rPr>
              <a:t>Đối tượng bình thường</a:t>
            </a:r>
          </a:p>
        </p:txBody>
      </p:sp>
      <p:sp>
        <p:nvSpPr>
          <p:cNvPr id="34" name="Oval 33"/>
          <p:cNvSpPr/>
          <p:nvPr/>
        </p:nvSpPr>
        <p:spPr>
          <a:xfrm>
            <a:off x="6095847" y="4992624"/>
            <a:ext cx="182880" cy="182880"/>
          </a:xfrm>
          <a:prstGeom prst="ellipse">
            <a:avLst/>
          </a:prstGeom>
          <a:solidFill>
            <a:srgbClr val="C810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6370167" y="4846320"/>
            <a:ext cx="2944368" cy="47548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8000"/>
              </a:lnSpc>
              <a:spcBef>
                <a:spcPts val="0"/>
              </a:spcBef>
              <a:spcAft>
                <a:spcPts val="0"/>
              </a:spcAft>
            </a:pPr>
            <a:r>
              <a:rPr sz="1600" b="0" i="0">
                <a:solidFill>
                  <a:srgbClr val="1F2430"/>
                </a:solidFill>
                <a:latin typeface="Segoe UI"/>
                <a:ea typeface="Segoe UI"/>
                <a:cs typeface="Segoe UI"/>
              </a:rPr>
              <a:t>Dị biệt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777240" y="5522976"/>
            <a:ext cx="10637215" cy="530351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marL="292608" indent="-292608">
              <a:lnSpc>
                <a:spcPct val="112000"/>
              </a:lnSpc>
              <a:spcAft>
                <a:spcPts val="800"/>
              </a:spcAft>
              <a:buClr>
                <a:srgbClr val="C8102E"/>
              </a:buClr>
              <a:buSzPct val="85000"/>
              <a:buFont typeface="Segoe UI"/>
              <a:buChar char="▪"/>
            </a:pPr>
            <a:r>
              <a:rPr sz="2000">
                <a:solidFill>
                  <a:srgbClr val="1F2430"/>
                </a:solidFill>
                <a:latin typeface="Segoe UI"/>
                <a:ea typeface="Segoe UI"/>
                <a:cs typeface="Segoe UI"/>
              </a:rPr>
              <a:t>Đây là loại đơn giản nhất; đa số phương pháp nhắm vào loại này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777240" y="6272784"/>
            <a:ext cx="7658794" cy="29260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100" b="0" i="0">
                <a:solidFill>
                  <a:srgbClr val="5B6673"/>
                </a:solidFill>
                <a:latin typeface="Segoe UI"/>
                <a:ea typeface="Segoe UI"/>
                <a:cs typeface="Segoe UI"/>
              </a:rPr>
              <a:t>INT1422 · Bài 13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9951415" y="6272784"/>
            <a:ext cx="1463040" cy="29260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100" b="0" i="0">
                <a:solidFill>
                  <a:srgbClr val="5B6673"/>
                </a:solidFill>
                <a:latin typeface="Segoe UI"/>
                <a:ea typeface="Segoe UI"/>
                <a:cs typeface="Segoe UI"/>
              </a:rPr>
              <a:t>7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777240" y="6035040"/>
            <a:ext cx="10637215" cy="31089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200" b="0" i="1">
                <a:solidFill>
                  <a:srgbClr val="5B6673"/>
                </a:solidFill>
                <a:latin typeface="Segoe UI"/>
                <a:ea typeface="Segoe UI"/>
                <a:cs typeface="Segoe UI"/>
              </a:rPr>
              <a:t>Nguồn: Han, Kamber &amp; Pei (2022), Data Mining: Concepts and Techniques, 4th ed., Morgan Kaufmann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77240" y="384048"/>
            <a:ext cx="10637215" cy="960120"/>
          </a:xfrm>
          <a:prstGeom prst="rect">
            <a:avLst/>
          </a:prstGeom>
          <a:noFill/>
        </p:spPr>
        <p:txBody>
          <a:bodyPr wrap="square" lIns="0" rIns="0" tIns="0" bIns="0" anchor="b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3400" b="1" i="0">
                <a:solidFill>
                  <a:srgbClr val="12355B"/>
                </a:solidFill>
                <a:latin typeface="Segoe UI"/>
                <a:ea typeface="Segoe UI"/>
                <a:cs typeface="Segoe UI"/>
              </a:rPr>
              <a:t>Ba loại dị biệt</a:t>
            </a:r>
          </a:p>
        </p:txBody>
      </p:sp>
      <p:sp>
        <p:nvSpPr>
          <p:cNvPr id="3" name="Rectangle 2"/>
          <p:cNvSpPr/>
          <p:nvPr/>
        </p:nvSpPr>
        <p:spPr>
          <a:xfrm>
            <a:off x="777240" y="1426464"/>
            <a:ext cx="1325880" cy="38100"/>
          </a:xfrm>
          <a:prstGeom prst="rect">
            <a:avLst/>
          </a:prstGeom>
          <a:solidFill>
            <a:srgbClr val="C810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2103120" y="1435608"/>
            <a:ext cx="9311335" cy="12700"/>
          </a:xfrm>
          <a:prstGeom prst="rect">
            <a:avLst/>
          </a:prstGeom>
          <a:solidFill>
            <a:srgbClr val="D3DAE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777240" y="3073400"/>
            <a:ext cx="3362858" cy="1570736"/>
          </a:xfrm>
          <a:prstGeom prst="roundRect">
            <a:avLst>
              <a:gd name="adj" fmla="val 4657"/>
            </a:avLst>
          </a:prstGeom>
          <a:solidFill>
            <a:srgbClr val="F7F9FC"/>
          </a:solidFill>
          <a:ln w="12700">
            <a:solidFill>
              <a:srgbClr val="D3DAE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Oval 5"/>
          <p:cNvSpPr/>
          <p:nvPr/>
        </p:nvSpPr>
        <p:spPr>
          <a:xfrm>
            <a:off x="1071676" y="3349548"/>
            <a:ext cx="340156" cy="340156"/>
          </a:xfrm>
          <a:prstGeom prst="ellipse">
            <a:avLst/>
          </a:prstGeom>
          <a:noFill/>
          <a:ln w="30480">
            <a:solidFill>
              <a:srgbClr val="12355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7" name="Connector 6"/>
          <p:cNvCxnSpPr/>
          <p:nvPr/>
        </p:nvCxnSpPr>
        <p:spPr>
          <a:xfrm>
            <a:off x="1366479" y="3644351"/>
            <a:ext cx="158740" cy="158740"/>
          </a:xfrm>
          <a:prstGeom prst="line">
            <a:avLst/>
          </a:prstGeom>
          <a:ln w="35560">
            <a:solidFill>
              <a:srgbClr val="12355B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" name="TextBox 7"/>
          <p:cNvSpPr txBox="1"/>
          <p:nvPr/>
        </p:nvSpPr>
        <p:spPr>
          <a:xfrm>
            <a:off x="1746504" y="3292856"/>
            <a:ext cx="2192426" cy="56692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8000"/>
              </a:lnSpc>
              <a:spcBef>
                <a:spcPts val="0"/>
              </a:spcBef>
              <a:spcAft>
                <a:spcPts val="0"/>
              </a:spcAft>
            </a:pPr>
            <a:r>
              <a:rPr sz="1800" b="1" i="0">
                <a:solidFill>
                  <a:srgbClr val="12355B"/>
                </a:solidFill>
                <a:latin typeface="Segoe UI"/>
                <a:ea typeface="Segoe UI"/>
                <a:cs typeface="Segoe UI"/>
              </a:rPr>
              <a:t>Toàn cục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14983" y="3987799"/>
            <a:ext cx="2887370" cy="455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8000"/>
              </a:lnSpc>
              <a:spcBef>
                <a:spcPts val="0"/>
              </a:spcBef>
              <a:spcAft>
                <a:spcPts val="0"/>
              </a:spcAft>
            </a:pPr>
            <a:r>
              <a:rPr sz="1600" b="0" i="0">
                <a:solidFill>
                  <a:srgbClr val="1F2430"/>
                </a:solidFill>
                <a:latin typeface="Segoe UI"/>
                <a:ea typeface="Segoe UI"/>
                <a:cs typeface="Segoe UI"/>
              </a:rPr>
              <a:t>Lệch hẳn khỏi toàn bộ tập dữ liệu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414418" y="3073400"/>
            <a:ext cx="3362858" cy="1570736"/>
          </a:xfrm>
          <a:prstGeom prst="roundRect">
            <a:avLst>
              <a:gd name="adj" fmla="val 4657"/>
            </a:avLst>
          </a:prstGeom>
          <a:solidFill>
            <a:srgbClr val="F7F9FC"/>
          </a:solidFill>
          <a:ln w="12700">
            <a:solidFill>
              <a:srgbClr val="D3DAE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Oval 10"/>
          <p:cNvSpPr/>
          <p:nvPr/>
        </p:nvSpPr>
        <p:spPr>
          <a:xfrm>
            <a:off x="4708855" y="3349548"/>
            <a:ext cx="453542" cy="453542"/>
          </a:xfrm>
          <a:prstGeom prst="ellipse">
            <a:avLst/>
          </a:prstGeom>
          <a:noFill/>
          <a:ln w="27940">
            <a:solidFill>
              <a:srgbClr val="12355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12" name="Connector 11"/>
          <p:cNvCxnSpPr/>
          <p:nvPr/>
        </p:nvCxnSpPr>
        <p:spPr>
          <a:xfrm flipV="1">
            <a:off x="4935626" y="3451595"/>
            <a:ext cx="0" cy="124725"/>
          </a:xfrm>
          <a:prstGeom prst="line">
            <a:avLst/>
          </a:prstGeom>
          <a:ln w="25400">
            <a:solidFill>
              <a:srgbClr val="12355B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3" name="Connector 12"/>
          <p:cNvCxnSpPr/>
          <p:nvPr/>
        </p:nvCxnSpPr>
        <p:spPr>
          <a:xfrm>
            <a:off x="4935626" y="3576320"/>
            <a:ext cx="113386" cy="0"/>
          </a:xfrm>
          <a:prstGeom prst="line">
            <a:avLst/>
          </a:prstGeom>
          <a:ln w="25400">
            <a:solidFill>
              <a:srgbClr val="12355B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4" name="TextBox 13"/>
          <p:cNvSpPr txBox="1"/>
          <p:nvPr/>
        </p:nvSpPr>
        <p:spPr>
          <a:xfrm>
            <a:off x="5383682" y="3292856"/>
            <a:ext cx="2192426" cy="56692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8000"/>
              </a:lnSpc>
              <a:spcBef>
                <a:spcPts val="0"/>
              </a:spcBef>
              <a:spcAft>
                <a:spcPts val="0"/>
              </a:spcAft>
            </a:pPr>
            <a:r>
              <a:rPr sz="1800" b="1" i="0">
                <a:solidFill>
                  <a:srgbClr val="12355B"/>
                </a:solidFill>
                <a:latin typeface="Segoe UI"/>
                <a:ea typeface="Segoe UI"/>
                <a:cs typeface="Segoe UI"/>
              </a:rPr>
              <a:t>Ngữ cảnh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652162" y="3987799"/>
            <a:ext cx="2887370" cy="455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8000"/>
              </a:lnSpc>
              <a:spcBef>
                <a:spcPts val="0"/>
              </a:spcBef>
              <a:spcAft>
                <a:spcPts val="0"/>
              </a:spcAft>
            </a:pPr>
            <a:r>
              <a:rPr sz="1600" b="0" i="0">
                <a:solidFill>
                  <a:srgbClr val="1F2430"/>
                </a:solidFill>
                <a:latin typeface="Segoe UI"/>
                <a:ea typeface="Segoe UI"/>
                <a:cs typeface="Segoe UI"/>
              </a:rPr>
              <a:t>Chỉ bất thường trong một ngữ cảnh cụ thể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8051596" y="3073400"/>
            <a:ext cx="3362858" cy="1570736"/>
          </a:xfrm>
          <a:prstGeom prst="roundRect">
            <a:avLst>
              <a:gd name="adj" fmla="val 4657"/>
            </a:avLst>
          </a:prstGeom>
          <a:solidFill>
            <a:srgbClr val="F7F9FC"/>
          </a:solidFill>
          <a:ln w="12700">
            <a:solidFill>
              <a:srgbClr val="D3DAE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Oval 16"/>
          <p:cNvSpPr/>
          <p:nvPr/>
        </p:nvSpPr>
        <p:spPr>
          <a:xfrm>
            <a:off x="8357372" y="3383564"/>
            <a:ext cx="158739" cy="158739"/>
          </a:xfrm>
          <a:prstGeom prst="ellipse">
            <a:avLst/>
          </a:prstGeom>
          <a:solidFill>
            <a:srgbClr val="12355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ounded Rectangle 17"/>
          <p:cNvSpPr/>
          <p:nvPr/>
        </p:nvSpPr>
        <p:spPr>
          <a:xfrm>
            <a:off x="8323356" y="3576320"/>
            <a:ext cx="226771" cy="226771"/>
          </a:xfrm>
          <a:prstGeom prst="roundRect">
            <a:avLst>
              <a:gd name="adj" fmla="val 20161"/>
            </a:avLst>
          </a:prstGeom>
          <a:solidFill>
            <a:srgbClr val="12355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Oval 18"/>
          <p:cNvSpPr/>
          <p:nvPr/>
        </p:nvSpPr>
        <p:spPr>
          <a:xfrm>
            <a:off x="8618159" y="3428918"/>
            <a:ext cx="136062" cy="136062"/>
          </a:xfrm>
          <a:prstGeom prst="ellipse">
            <a:avLst/>
          </a:prstGeom>
          <a:solidFill>
            <a:srgbClr val="3B7AB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ounded Rectangle 19"/>
          <p:cNvSpPr/>
          <p:nvPr/>
        </p:nvSpPr>
        <p:spPr>
          <a:xfrm>
            <a:off x="8589812" y="3598997"/>
            <a:ext cx="192755" cy="204094"/>
          </a:xfrm>
          <a:prstGeom prst="roundRect">
            <a:avLst>
              <a:gd name="adj" fmla="val 23719"/>
            </a:avLst>
          </a:prstGeom>
          <a:solidFill>
            <a:srgbClr val="3B7AB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9020860" y="3292856"/>
            <a:ext cx="2192426" cy="56692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8000"/>
              </a:lnSpc>
              <a:spcBef>
                <a:spcPts val="0"/>
              </a:spcBef>
              <a:spcAft>
                <a:spcPts val="0"/>
              </a:spcAft>
            </a:pPr>
            <a:r>
              <a:rPr sz="1800" b="1" i="0">
                <a:solidFill>
                  <a:srgbClr val="12355B"/>
                </a:solidFill>
                <a:latin typeface="Segoe UI"/>
                <a:ea typeface="Segoe UI"/>
                <a:cs typeface="Segoe UI"/>
              </a:rPr>
              <a:t>Tập thể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289340" y="3987799"/>
            <a:ext cx="2887370" cy="455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8000"/>
              </a:lnSpc>
              <a:spcBef>
                <a:spcPts val="0"/>
              </a:spcBef>
              <a:spcAft>
                <a:spcPts val="0"/>
              </a:spcAft>
            </a:pPr>
            <a:r>
              <a:rPr sz="1600" b="0" i="0">
                <a:solidFill>
                  <a:srgbClr val="1F2430"/>
                </a:solidFill>
                <a:latin typeface="Segoe UI"/>
                <a:ea typeface="Segoe UI"/>
                <a:cs typeface="Segoe UI"/>
              </a:rPr>
              <a:t>Cả nhóm bất thường dù từng đối tượng thì không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777240" y="6272784"/>
            <a:ext cx="7658794" cy="29260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100" b="0" i="0">
                <a:solidFill>
                  <a:srgbClr val="5B6673"/>
                </a:solidFill>
                <a:latin typeface="Segoe UI"/>
                <a:ea typeface="Segoe UI"/>
                <a:cs typeface="Segoe UI"/>
              </a:rPr>
              <a:t>INT1422 · Bài 13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9951415" y="6272784"/>
            <a:ext cx="1463040" cy="29260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100" b="0" i="0">
                <a:solidFill>
                  <a:srgbClr val="5B6673"/>
                </a:solidFill>
                <a:latin typeface="Segoe UI"/>
                <a:ea typeface="Segoe UI"/>
                <a:cs typeface="Segoe UI"/>
              </a:rPr>
              <a:t>8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777240" y="6035040"/>
            <a:ext cx="10637215" cy="31089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200" b="0" i="1">
                <a:solidFill>
                  <a:srgbClr val="5B6673"/>
                </a:solidFill>
                <a:latin typeface="Segoe UI"/>
                <a:ea typeface="Segoe UI"/>
                <a:cs typeface="Segoe UI"/>
              </a:rPr>
              <a:t>Nguồn: Han, Kamber &amp; Pei (2022), Data Mining: Concepts and Techniques, 4th ed., Morgan Kaufmann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77240" y="384048"/>
            <a:ext cx="10637215" cy="960120"/>
          </a:xfrm>
          <a:prstGeom prst="rect">
            <a:avLst/>
          </a:prstGeom>
          <a:noFill/>
        </p:spPr>
        <p:txBody>
          <a:bodyPr wrap="square" lIns="0" rIns="0" tIns="0" bIns="0" anchor="b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3400" b="1" i="0">
                <a:solidFill>
                  <a:srgbClr val="12355B"/>
                </a:solidFill>
                <a:latin typeface="Segoe UI"/>
                <a:ea typeface="Segoe UI"/>
                <a:cs typeface="Segoe UI"/>
              </a:rPr>
              <a:t>Dị biệt ngữ cảnh: hai nhóm thuộc tính</a:t>
            </a:r>
          </a:p>
        </p:txBody>
      </p:sp>
      <p:sp>
        <p:nvSpPr>
          <p:cNvPr id="3" name="Rectangle 2"/>
          <p:cNvSpPr/>
          <p:nvPr/>
        </p:nvSpPr>
        <p:spPr>
          <a:xfrm>
            <a:off x="777240" y="1426464"/>
            <a:ext cx="1325880" cy="38100"/>
          </a:xfrm>
          <a:prstGeom prst="rect">
            <a:avLst/>
          </a:prstGeom>
          <a:solidFill>
            <a:srgbClr val="C810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2103120" y="1435608"/>
            <a:ext cx="9311335" cy="12700"/>
          </a:xfrm>
          <a:prstGeom prst="rect">
            <a:avLst/>
          </a:prstGeom>
          <a:solidFill>
            <a:srgbClr val="D3DAE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777240" y="1755648"/>
            <a:ext cx="5112867" cy="566928"/>
          </a:xfrm>
          <a:prstGeom prst="roundRect">
            <a:avLst>
              <a:gd name="adj" fmla="val 8000"/>
            </a:avLst>
          </a:prstGeom>
          <a:solidFill>
            <a:srgbClr val="EEF2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46304" rIns="146304" tIns="91440" bIns="91440"/>
          <a:lstStyle/>
          <a:p>
            <a:pPr algn="l"/>
            <a:r>
              <a:rPr sz="2400" b="1">
                <a:solidFill>
                  <a:srgbClr val="12355B"/>
                </a:solidFill>
                <a:latin typeface="Segoe UI"/>
                <a:ea typeface="Segoe UI"/>
                <a:cs typeface="Segoe UI"/>
              </a:rPr>
              <a:t>Thuộc tính ngữ cảnh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77240" y="2505456"/>
            <a:ext cx="5112867" cy="345643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marL="292608" indent="-292608">
              <a:lnSpc>
                <a:spcPct val="112000"/>
              </a:lnSpc>
              <a:spcAft>
                <a:spcPts val="900"/>
              </a:spcAft>
              <a:buClr>
                <a:srgbClr val="C8102E"/>
              </a:buClr>
              <a:buSzPct val="85000"/>
              <a:buFont typeface="Segoe UI"/>
              <a:buChar char="▪"/>
            </a:pPr>
            <a:r>
              <a:rPr sz="2000">
                <a:solidFill>
                  <a:srgbClr val="1F2430"/>
                </a:solidFill>
                <a:latin typeface="Segoe UI"/>
                <a:ea typeface="Segoe UI"/>
                <a:cs typeface="Segoe UI"/>
              </a:rPr>
              <a:t>Xác định ngữ cảnh của đối tượng</a:t>
            </a:r>
          </a:p>
          <a:p>
            <a:pPr marL="292608" indent="-292608">
              <a:lnSpc>
                <a:spcPct val="112000"/>
              </a:lnSpc>
              <a:spcAft>
                <a:spcPts val="900"/>
              </a:spcAft>
              <a:buClr>
                <a:srgbClr val="C8102E"/>
              </a:buClr>
              <a:buSzPct val="85000"/>
              <a:buFont typeface="Segoe UI"/>
              <a:buChar char="▪"/>
            </a:pPr>
            <a:r>
              <a:rPr sz="2000">
                <a:solidFill>
                  <a:srgbClr val="1F2430"/>
                </a:solidFill>
                <a:latin typeface="Segoe UI"/>
                <a:ea typeface="Segoe UI"/>
                <a:cs typeface="Segoe UI"/>
              </a:rPr>
              <a:t>Ví dụ: ngày, tháng và địa điểm đo</a:t>
            </a:r>
          </a:p>
          <a:p>
            <a:pPr marL="292608" indent="-292608">
              <a:lnSpc>
                <a:spcPct val="112000"/>
              </a:lnSpc>
              <a:spcAft>
                <a:spcPts val="900"/>
              </a:spcAft>
              <a:buClr>
                <a:srgbClr val="C8102E"/>
              </a:buClr>
              <a:buSzPct val="85000"/>
              <a:buFont typeface="Segoe UI"/>
              <a:buChar char="▪"/>
            </a:pPr>
            <a:r>
              <a:rPr sz="2000">
                <a:solidFill>
                  <a:srgbClr val="1F2430"/>
                </a:solidFill>
                <a:latin typeface="Segoe UI"/>
                <a:ea typeface="Segoe UI"/>
                <a:cs typeface="Segoe UI"/>
              </a:rPr>
              <a:t>Phải nêu rõ trong định nghĩa bài toán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301587" y="1755648"/>
            <a:ext cx="5112867" cy="566928"/>
          </a:xfrm>
          <a:prstGeom prst="roundRect">
            <a:avLst>
              <a:gd name="adj" fmla="val 8000"/>
            </a:avLst>
          </a:prstGeom>
          <a:solidFill>
            <a:srgbClr val="FBEC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46304" rIns="146304" tIns="91440" bIns="91440"/>
          <a:lstStyle/>
          <a:p>
            <a:pPr algn="l"/>
            <a:r>
              <a:rPr sz="2400" b="1">
                <a:solidFill>
                  <a:srgbClr val="C8102E"/>
                </a:solidFill>
                <a:latin typeface="Segoe UI"/>
                <a:ea typeface="Segoe UI"/>
                <a:cs typeface="Segoe UI"/>
              </a:rPr>
              <a:t>Thuộc tính hành vi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301587" y="2505456"/>
            <a:ext cx="5112867" cy="345643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marL="292608" indent="-292608">
              <a:lnSpc>
                <a:spcPct val="112000"/>
              </a:lnSpc>
              <a:spcAft>
                <a:spcPts val="900"/>
              </a:spcAft>
              <a:buClr>
                <a:srgbClr val="C8102E"/>
              </a:buClr>
              <a:buSzPct val="85000"/>
              <a:buFont typeface="Segoe UI"/>
              <a:buChar char="▪"/>
            </a:pPr>
            <a:r>
              <a:rPr sz="2000">
                <a:solidFill>
                  <a:srgbClr val="1F2430"/>
                </a:solidFill>
                <a:latin typeface="Segoe UI"/>
                <a:ea typeface="Segoe UI"/>
                <a:cs typeface="Segoe UI"/>
              </a:rPr>
              <a:t>Mô tả đặc điểm cần đánh giá</a:t>
            </a:r>
          </a:p>
          <a:p>
            <a:pPr marL="292608" indent="-292608">
              <a:lnSpc>
                <a:spcPct val="112000"/>
              </a:lnSpc>
              <a:spcAft>
                <a:spcPts val="900"/>
              </a:spcAft>
              <a:buClr>
                <a:srgbClr val="C8102E"/>
              </a:buClr>
              <a:buSzPct val="85000"/>
              <a:buFont typeface="Segoe UI"/>
              <a:buChar char="▪"/>
            </a:pPr>
            <a:r>
              <a:rPr sz="2000">
                <a:solidFill>
                  <a:srgbClr val="1F2430"/>
                </a:solidFill>
                <a:latin typeface="Segoe UI"/>
                <a:ea typeface="Segoe UI"/>
                <a:cs typeface="Segoe UI"/>
              </a:rPr>
              <a:t>Ví dụ: nhiệt độ, độ ẩm, áp suất</a:t>
            </a:r>
          </a:p>
          <a:p>
            <a:pPr marL="292608" indent="-292608">
              <a:lnSpc>
                <a:spcPct val="112000"/>
              </a:lnSpc>
              <a:spcAft>
                <a:spcPts val="900"/>
              </a:spcAft>
              <a:buClr>
                <a:srgbClr val="C8102E"/>
              </a:buClr>
              <a:buSzPct val="85000"/>
              <a:buFont typeface="Segoe UI"/>
              <a:buChar char="▪"/>
            </a:pPr>
            <a:r>
              <a:rPr sz="2000">
                <a:solidFill>
                  <a:srgbClr val="1F2430"/>
                </a:solidFill>
                <a:latin typeface="Segoe UI"/>
                <a:ea typeface="Segoe UI"/>
                <a:cs typeface="Segoe UI"/>
              </a:rPr>
              <a:t>Được so với số đông trong cùng ngữ cảnh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77240" y="6272784"/>
            <a:ext cx="7658794" cy="29260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100" b="0" i="0">
                <a:solidFill>
                  <a:srgbClr val="5B6673"/>
                </a:solidFill>
                <a:latin typeface="Segoe UI"/>
                <a:ea typeface="Segoe UI"/>
                <a:cs typeface="Segoe UI"/>
              </a:rPr>
              <a:t>INT1422 · Bài 13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951415" y="6272784"/>
            <a:ext cx="1463040" cy="29260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100" b="0" i="0">
                <a:solidFill>
                  <a:srgbClr val="5B6673"/>
                </a:solidFill>
                <a:latin typeface="Segoe UI"/>
                <a:ea typeface="Segoe UI"/>
                <a:cs typeface="Segoe UI"/>
              </a:rPr>
              <a:t>9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77240" y="6035040"/>
            <a:ext cx="10637215" cy="31089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200" b="0" i="1">
                <a:solidFill>
                  <a:srgbClr val="5B6673"/>
                </a:solidFill>
                <a:latin typeface="Segoe UI"/>
                <a:ea typeface="Segoe UI"/>
                <a:cs typeface="Segoe UI"/>
              </a:rPr>
              <a:t>Nguồn: Han, Kamber &amp; Pei (2022), Data Mining: Concepts and Techniques, 4th ed., Morgan Kaufmann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77240" y="384048"/>
            <a:ext cx="10637215" cy="960120"/>
          </a:xfrm>
          <a:prstGeom prst="rect">
            <a:avLst/>
          </a:prstGeom>
          <a:noFill/>
        </p:spPr>
        <p:txBody>
          <a:bodyPr wrap="square" lIns="0" rIns="0" tIns="0" bIns="0" anchor="b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3400" b="1" i="0">
                <a:solidFill>
                  <a:srgbClr val="12355B"/>
                </a:solidFill>
                <a:latin typeface="Segoe UI"/>
                <a:ea typeface="Segoe UI"/>
                <a:cs typeface="Segoe UI"/>
              </a:rPr>
              <a:t>Thách thức của phát hiện dị biệt</a:t>
            </a:r>
          </a:p>
        </p:txBody>
      </p:sp>
      <p:sp>
        <p:nvSpPr>
          <p:cNvPr id="3" name="Rectangle 2"/>
          <p:cNvSpPr/>
          <p:nvPr/>
        </p:nvSpPr>
        <p:spPr>
          <a:xfrm>
            <a:off x="777240" y="1426464"/>
            <a:ext cx="1325880" cy="38100"/>
          </a:xfrm>
          <a:prstGeom prst="rect">
            <a:avLst/>
          </a:prstGeom>
          <a:solidFill>
            <a:srgbClr val="C810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2103120" y="1435608"/>
            <a:ext cx="9311335" cy="12700"/>
          </a:xfrm>
          <a:prstGeom prst="rect">
            <a:avLst/>
          </a:prstGeom>
          <a:solidFill>
            <a:srgbClr val="D3DAE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777240" y="2396744"/>
            <a:ext cx="5181447" cy="1343152"/>
          </a:xfrm>
          <a:prstGeom prst="roundRect">
            <a:avLst>
              <a:gd name="adj" fmla="val 5446"/>
            </a:avLst>
          </a:prstGeom>
          <a:solidFill>
            <a:srgbClr val="F7F9FC"/>
          </a:solidFill>
          <a:ln w="12700">
            <a:solidFill>
              <a:srgbClr val="D3DAE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Freeform 5"/>
          <p:cNvSpPr/>
          <p:nvPr/>
        </p:nvSpPr>
        <p:spPr>
          <a:xfrm>
            <a:off x="1071676" y="2695569"/>
            <a:ext cx="453543" cy="430866"/>
          </a:xfrm>
          <a:custGeom>
            <a:avLst/>
            <a:gdLst/>
            <a:ahLst/>
            <a:cxnLst/>
            <a:rect l="l" t="t" r="r" b="b"/>
            <a:pathLst>
              <a:path w="453543" h="430866">
                <a:moveTo>
                  <a:pt x="0" y="0"/>
                </a:moveTo>
                <a:lnTo>
                  <a:pt x="453543" y="0"/>
                </a:lnTo>
                <a:lnTo>
                  <a:pt x="283464" y="204095"/>
                </a:lnTo>
                <a:lnTo>
                  <a:pt x="283464" y="430866"/>
                </a:lnTo>
                <a:lnTo>
                  <a:pt x="170079" y="351496"/>
                </a:lnTo>
                <a:lnTo>
                  <a:pt x="170079" y="204095"/>
                </a:lnTo>
                <a:close/>
              </a:path>
            </a:pathLst>
          </a:custGeom>
          <a:solidFill>
            <a:srgbClr val="12355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746504" y="2616200"/>
            <a:ext cx="4011015" cy="56692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8000"/>
              </a:lnSpc>
              <a:spcBef>
                <a:spcPts val="0"/>
              </a:spcBef>
              <a:spcAft>
                <a:spcPts val="0"/>
              </a:spcAft>
            </a:pPr>
            <a:r>
              <a:rPr sz="1800" b="1" i="0">
                <a:solidFill>
                  <a:srgbClr val="12355B"/>
                </a:solidFill>
                <a:latin typeface="Segoe UI"/>
                <a:ea typeface="Segoe UI"/>
                <a:cs typeface="Segoe UI"/>
              </a:rPr>
              <a:t>Ranh giới mờ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14983" y="3311144"/>
            <a:ext cx="4705959" cy="22758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8000"/>
              </a:lnSpc>
              <a:spcBef>
                <a:spcPts val="0"/>
              </a:spcBef>
              <a:spcAft>
                <a:spcPts val="0"/>
              </a:spcAft>
            </a:pPr>
            <a:r>
              <a:rPr sz="1600" b="0" i="0">
                <a:solidFill>
                  <a:srgbClr val="1F2430"/>
                </a:solidFill>
                <a:latin typeface="Segoe UI"/>
                <a:ea typeface="Segoe UI"/>
                <a:cs typeface="Segoe UI"/>
              </a:rPr>
              <a:t>Bình thường và bất thường không tách bạch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233007" y="2396744"/>
            <a:ext cx="5181447" cy="1343152"/>
          </a:xfrm>
          <a:prstGeom prst="roundRect">
            <a:avLst>
              <a:gd name="adj" fmla="val 5446"/>
            </a:avLst>
          </a:prstGeom>
          <a:solidFill>
            <a:srgbClr val="F7F9FC"/>
          </a:solidFill>
          <a:ln w="12700">
            <a:solidFill>
              <a:srgbClr val="D3DAE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Oval 9"/>
          <p:cNvSpPr/>
          <p:nvPr/>
        </p:nvSpPr>
        <p:spPr>
          <a:xfrm>
            <a:off x="6504767" y="2650215"/>
            <a:ext cx="498896" cy="498896"/>
          </a:xfrm>
          <a:prstGeom prst="ellipse">
            <a:avLst/>
          </a:prstGeom>
          <a:solidFill>
            <a:srgbClr val="12355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Oval 10"/>
          <p:cNvSpPr/>
          <p:nvPr/>
        </p:nvSpPr>
        <p:spPr>
          <a:xfrm>
            <a:off x="6663507" y="2808955"/>
            <a:ext cx="181416" cy="181416"/>
          </a:xfrm>
          <a:prstGeom prst="ellipse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7202271" y="2616200"/>
            <a:ext cx="4011015" cy="56692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8000"/>
              </a:lnSpc>
              <a:spcBef>
                <a:spcPts val="0"/>
              </a:spcBef>
              <a:spcAft>
                <a:spcPts val="0"/>
              </a:spcAft>
            </a:pPr>
            <a:r>
              <a:rPr sz="1800" b="1" i="0">
                <a:solidFill>
                  <a:srgbClr val="12355B"/>
                </a:solidFill>
                <a:latin typeface="Segoe UI"/>
                <a:ea typeface="Segoe UI"/>
                <a:cs typeface="Segoe UI"/>
              </a:rPr>
              <a:t>Phụ thuộc ứng dụng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470751" y="3311144"/>
            <a:ext cx="4705959" cy="22758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8000"/>
              </a:lnSpc>
              <a:spcBef>
                <a:spcPts val="0"/>
              </a:spcBef>
              <a:spcAft>
                <a:spcPts val="0"/>
              </a:spcAft>
            </a:pPr>
            <a:r>
              <a:rPr sz="1600" b="0" i="0">
                <a:solidFill>
                  <a:srgbClr val="1F2430"/>
                </a:solidFill>
                <a:latin typeface="Segoe UI"/>
                <a:ea typeface="Segoe UI"/>
                <a:cs typeface="Segoe UI"/>
              </a:rPr>
              <a:t>Độ đo lệch mỗi lĩnh vực một khác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777240" y="3977640"/>
            <a:ext cx="5181447" cy="1343152"/>
          </a:xfrm>
          <a:prstGeom prst="roundRect">
            <a:avLst>
              <a:gd name="adj" fmla="val 5446"/>
            </a:avLst>
          </a:prstGeom>
          <a:solidFill>
            <a:srgbClr val="F7F9FC"/>
          </a:solidFill>
          <a:ln w="12700">
            <a:solidFill>
              <a:srgbClr val="D3DAE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Freeform 14"/>
          <p:cNvSpPr/>
          <p:nvPr/>
        </p:nvSpPr>
        <p:spPr>
          <a:xfrm>
            <a:off x="1071676" y="4253788"/>
            <a:ext cx="453543" cy="430866"/>
          </a:xfrm>
          <a:custGeom>
            <a:avLst/>
            <a:gdLst/>
            <a:ahLst/>
            <a:cxnLst/>
            <a:rect l="l" t="t" r="r" b="b"/>
            <a:pathLst>
              <a:path w="453543" h="430866">
                <a:moveTo>
                  <a:pt x="226772" y="0"/>
                </a:moveTo>
                <a:lnTo>
                  <a:pt x="453543" y="430866"/>
                </a:lnTo>
                <a:lnTo>
                  <a:pt x="0" y="430866"/>
                </a:lnTo>
                <a:close/>
              </a:path>
            </a:pathLst>
          </a:custGeom>
          <a:solidFill>
            <a:srgbClr val="C810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1275770" y="4401190"/>
            <a:ext cx="45354" cy="158739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1275770" y="4599614"/>
            <a:ext cx="45354" cy="45354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1746504" y="4197096"/>
            <a:ext cx="4011015" cy="56692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8000"/>
              </a:lnSpc>
              <a:spcBef>
                <a:spcPts val="0"/>
              </a:spcBef>
              <a:spcAft>
                <a:spcPts val="0"/>
              </a:spcAft>
            </a:pPr>
            <a:r>
              <a:rPr sz="1800" b="1" i="0">
                <a:solidFill>
                  <a:srgbClr val="12355B"/>
                </a:solidFill>
                <a:latin typeface="Segoe UI"/>
                <a:ea typeface="Segoe UI"/>
                <a:cs typeface="Segoe UI"/>
              </a:rPr>
              <a:t>Nhiễu che lấp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014983" y="4892040"/>
            <a:ext cx="4705959" cy="22758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8000"/>
              </a:lnSpc>
              <a:spcBef>
                <a:spcPts val="0"/>
              </a:spcBef>
              <a:spcAft>
                <a:spcPts val="0"/>
              </a:spcAft>
            </a:pPr>
            <a:r>
              <a:rPr sz="1600" b="0" i="0">
                <a:solidFill>
                  <a:srgbClr val="1F2430"/>
                </a:solidFill>
                <a:latin typeface="Segoe UI"/>
                <a:ea typeface="Segoe UI"/>
                <a:cs typeface="Segoe UI"/>
              </a:rPr>
              <a:t>Nhiễu làm dị biệt thật lẫn vào số đông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6233007" y="3977640"/>
            <a:ext cx="5181447" cy="1343152"/>
          </a:xfrm>
          <a:prstGeom prst="roundRect">
            <a:avLst>
              <a:gd name="adj" fmla="val 5446"/>
            </a:avLst>
          </a:prstGeom>
          <a:solidFill>
            <a:srgbClr val="F7F9FC"/>
          </a:solidFill>
          <a:ln w="12700">
            <a:solidFill>
              <a:srgbClr val="D3DAE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Oval 20"/>
          <p:cNvSpPr/>
          <p:nvPr/>
        </p:nvSpPr>
        <p:spPr>
          <a:xfrm>
            <a:off x="6606814" y="4253788"/>
            <a:ext cx="294802" cy="294802"/>
          </a:xfrm>
          <a:prstGeom prst="ellipse">
            <a:avLst/>
          </a:prstGeom>
          <a:solidFill>
            <a:srgbClr val="12355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6686184" y="4537252"/>
            <a:ext cx="136062" cy="90708"/>
          </a:xfrm>
          <a:prstGeom prst="rect">
            <a:avLst/>
          </a:prstGeom>
          <a:solidFill>
            <a:srgbClr val="12355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6703192" y="4650638"/>
            <a:ext cx="102047" cy="51023"/>
          </a:xfrm>
          <a:prstGeom prst="rect">
            <a:avLst/>
          </a:prstGeom>
          <a:solidFill>
            <a:srgbClr val="12355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7202271" y="4197096"/>
            <a:ext cx="4011015" cy="56692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8000"/>
              </a:lnSpc>
              <a:spcBef>
                <a:spcPts val="0"/>
              </a:spcBef>
              <a:spcAft>
                <a:spcPts val="0"/>
              </a:spcAft>
            </a:pPr>
            <a:r>
              <a:rPr sz="1800" b="1" i="0">
                <a:solidFill>
                  <a:srgbClr val="12355B"/>
                </a:solidFill>
                <a:latin typeface="Segoe UI"/>
                <a:ea typeface="Segoe UI"/>
                <a:cs typeface="Segoe UI"/>
              </a:rPr>
              <a:t>Khả năng giải thích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470751" y="4892040"/>
            <a:ext cx="4705959" cy="22758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8000"/>
              </a:lnSpc>
              <a:spcBef>
                <a:spcPts val="0"/>
              </a:spcBef>
              <a:spcAft>
                <a:spcPts val="0"/>
              </a:spcAft>
            </a:pPr>
            <a:r>
              <a:rPr sz="1600" b="0" i="0">
                <a:solidFill>
                  <a:srgbClr val="1F2430"/>
                </a:solidFill>
                <a:latin typeface="Segoe UI"/>
                <a:ea typeface="Segoe UI"/>
                <a:cs typeface="Segoe UI"/>
              </a:rPr>
              <a:t>Người dùng cần biết vì sao là dị biệt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777240" y="6272784"/>
            <a:ext cx="7658794" cy="29260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100" b="0" i="0">
                <a:solidFill>
                  <a:srgbClr val="5B6673"/>
                </a:solidFill>
                <a:latin typeface="Segoe UI"/>
                <a:ea typeface="Segoe UI"/>
                <a:cs typeface="Segoe UI"/>
              </a:rPr>
              <a:t>INT1422 · Bài 13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9951415" y="6272784"/>
            <a:ext cx="1463040" cy="29260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100" b="0" i="0">
                <a:solidFill>
                  <a:srgbClr val="5B6673"/>
                </a:solidFill>
                <a:latin typeface="Segoe UI"/>
                <a:ea typeface="Segoe UI"/>
                <a:cs typeface="Segoe UI"/>
              </a:rPr>
              <a:t>10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777240" y="6035040"/>
            <a:ext cx="10637215" cy="31089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200" b="0" i="1">
                <a:solidFill>
                  <a:srgbClr val="5B6673"/>
                </a:solidFill>
                <a:latin typeface="Segoe UI"/>
                <a:ea typeface="Segoe UI"/>
                <a:cs typeface="Segoe UI"/>
              </a:rPr>
              <a:t>Nguồn: Han, Kamber &amp; Pei (2022), Data Mining: Concepts and Techniques, 4th ed., Morgan Kaufmann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77240" y="384048"/>
            <a:ext cx="10637215" cy="960120"/>
          </a:xfrm>
          <a:prstGeom prst="rect">
            <a:avLst/>
          </a:prstGeom>
          <a:noFill/>
        </p:spPr>
        <p:txBody>
          <a:bodyPr wrap="square" lIns="0" rIns="0" tIns="0" bIns="0" anchor="b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3400" b="1" i="0">
                <a:solidFill>
                  <a:srgbClr val="12355B"/>
                </a:solidFill>
                <a:latin typeface="Segoe UI"/>
                <a:ea typeface="Segoe UI"/>
                <a:cs typeface="Segoe UI"/>
              </a:rPr>
              <a:t>Phân loại theo mức sẵn có của nhãn</a:t>
            </a:r>
          </a:p>
        </p:txBody>
      </p:sp>
      <p:sp>
        <p:nvSpPr>
          <p:cNvPr id="3" name="Rectangle 2"/>
          <p:cNvSpPr/>
          <p:nvPr/>
        </p:nvSpPr>
        <p:spPr>
          <a:xfrm>
            <a:off x="777240" y="1426464"/>
            <a:ext cx="1325880" cy="38100"/>
          </a:xfrm>
          <a:prstGeom prst="rect">
            <a:avLst/>
          </a:prstGeom>
          <a:solidFill>
            <a:srgbClr val="C810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2103120" y="1435608"/>
            <a:ext cx="9311335" cy="12700"/>
          </a:xfrm>
          <a:prstGeom prst="rect">
            <a:avLst/>
          </a:prstGeom>
          <a:solidFill>
            <a:srgbClr val="D3DAE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graphicFrame>
        <p:nvGraphicFramePr>
          <p:cNvPr id="5" name="Table 4"/>
          <p:cNvGraphicFramePr>
            <a:graphicFrameLocks noGrp="1"/>
          </p:cNvGraphicFramePr>
          <p:nvPr/>
        </p:nvGraphicFramePr>
        <p:xfrm>
          <a:off x="777240" y="1755648"/>
          <a:ext cx="10637214" cy="2267712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785937"/>
                <a:gridCol w="4052272"/>
                <a:gridCol w="3799005"/>
              </a:tblGrid>
              <a:tr h="566928">
                <a:tc>
                  <a:txBody>
                    <a:bodyPr wrap="square"/>
                    <a:lstStyle/>
                    <a:p>
                      <a:r>
                        <a:rPr sz="2000" b="1">
                          <a:solidFill>
                            <a:srgbClr val="FFFFFF"/>
                          </a:solidFill>
                          <a:latin typeface="Segoe UI"/>
                          <a:ea typeface="Segoe UI"/>
                          <a:cs typeface="Segoe UI"/>
                        </a:rPr>
                        <a:t>Nhóm</a:t>
                      </a:r>
                    </a:p>
                  </a:txBody>
                  <a:tcPr marL="109728" marR="91440" anchor="ctr">
                    <a:solidFill>
                      <a:srgbClr val="12355B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2000" b="1">
                          <a:solidFill>
                            <a:srgbClr val="FFFFFF"/>
                          </a:solidFill>
                          <a:latin typeface="Segoe UI"/>
                          <a:ea typeface="Segoe UI"/>
                          <a:cs typeface="Segoe UI"/>
                        </a:rPr>
                        <a:t>Giả định</a:t>
                      </a:r>
                    </a:p>
                  </a:txBody>
                  <a:tcPr marL="109728" marR="91440" anchor="ctr">
                    <a:solidFill>
                      <a:srgbClr val="12355B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2000" b="1">
                          <a:solidFill>
                            <a:srgbClr val="FFFFFF"/>
                          </a:solidFill>
                          <a:latin typeface="Segoe UI"/>
                          <a:ea typeface="Segoe UI"/>
                          <a:cs typeface="Segoe UI"/>
                        </a:rPr>
                        <a:t>Khó khăn</a:t>
                      </a:r>
                    </a:p>
                  </a:txBody>
                  <a:tcPr marL="109728" marR="91440" anchor="ctr">
                    <a:solidFill>
                      <a:srgbClr val="12355B"/>
                    </a:solidFill>
                  </a:tcPr>
                </a:tc>
              </a:tr>
              <a:tr h="566928">
                <a:tc>
                  <a:txBody>
                    <a:bodyPr wrap="square"/>
                    <a:lstStyle/>
                    <a:p>
                      <a:r>
                        <a:rPr sz="2000" b="0">
                          <a:solidFill>
                            <a:srgbClr val="12355B"/>
                          </a:solidFill>
                          <a:latin typeface="Segoe UI"/>
                          <a:ea typeface="Segoe UI"/>
                          <a:cs typeface="Segoe UI"/>
                        </a:rPr>
                        <a:t>Có giám sát</a:t>
                      </a:r>
                    </a:p>
                  </a:txBody>
                  <a:tcPr marL="109728" marR="9144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2000" b="0">
                          <a:solidFill>
                            <a:srgbClr val="1F2430"/>
                          </a:solidFill>
                          <a:latin typeface="Segoe UI"/>
                          <a:ea typeface="Segoe UI"/>
                          <a:cs typeface="Segoe UI"/>
                        </a:rPr>
                        <a:t>Có nhãn bình thường và dị biệt</a:t>
                      </a:r>
                    </a:p>
                  </a:txBody>
                  <a:tcPr marL="109728" marR="9144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2000" b="0">
                          <a:solidFill>
                            <a:srgbClr val="1F2430"/>
                          </a:solidFill>
                          <a:latin typeface="Segoe UI"/>
                          <a:ea typeface="Segoe UI"/>
                          <a:cs typeface="Segoe UI"/>
                        </a:rPr>
                        <a:t>Dữ liệu mất cân bằng nặng</a:t>
                      </a:r>
                    </a:p>
                  </a:txBody>
                  <a:tcPr marL="109728" marR="91440" anchor="ctr">
                    <a:solidFill>
                      <a:srgbClr val="FFFFFF"/>
                    </a:solidFill>
                  </a:tcPr>
                </a:tc>
              </a:tr>
              <a:tr h="566928">
                <a:tc>
                  <a:txBody>
                    <a:bodyPr wrap="square"/>
                    <a:lstStyle/>
                    <a:p>
                      <a:r>
                        <a:rPr sz="2000" b="0">
                          <a:solidFill>
                            <a:srgbClr val="12355B"/>
                          </a:solidFill>
                          <a:latin typeface="Segoe UI"/>
                          <a:ea typeface="Segoe UI"/>
                          <a:cs typeface="Segoe UI"/>
                        </a:rPr>
                        <a:t>Bán giám sát</a:t>
                      </a:r>
                    </a:p>
                  </a:txBody>
                  <a:tcPr marL="109728" marR="91440" anchor="ctr">
                    <a:solidFill>
                      <a:srgbClr val="F7F9FC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2000" b="0">
                          <a:solidFill>
                            <a:srgbClr val="1F2430"/>
                          </a:solidFill>
                          <a:latin typeface="Segoe UI"/>
                          <a:ea typeface="Segoe UI"/>
                          <a:cs typeface="Segoe UI"/>
                        </a:rPr>
                        <a:t>Chỉ có ít mẫu được gán nhãn</a:t>
                      </a:r>
                    </a:p>
                  </a:txBody>
                  <a:tcPr marL="109728" marR="91440" anchor="ctr">
                    <a:solidFill>
                      <a:srgbClr val="F7F9FC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2000" b="0">
                          <a:solidFill>
                            <a:srgbClr val="1F2430"/>
                          </a:solidFill>
                          <a:latin typeface="Segoe UI"/>
                          <a:ea typeface="Segoe UI"/>
                          <a:cs typeface="Segoe UI"/>
                        </a:rPr>
                        <a:t>Phải lan nhãn sang dữ liệu khác</a:t>
                      </a:r>
                    </a:p>
                  </a:txBody>
                  <a:tcPr marL="109728" marR="91440" anchor="ctr">
                    <a:solidFill>
                      <a:srgbClr val="F7F9FC"/>
                    </a:solidFill>
                  </a:tcPr>
                </a:tc>
              </a:tr>
              <a:tr h="566928">
                <a:tc>
                  <a:txBody>
                    <a:bodyPr wrap="square"/>
                    <a:lstStyle/>
                    <a:p>
                      <a:r>
                        <a:rPr sz="2000" b="0">
                          <a:solidFill>
                            <a:srgbClr val="12355B"/>
                          </a:solidFill>
                          <a:latin typeface="Segoe UI"/>
                          <a:ea typeface="Segoe UI"/>
                          <a:cs typeface="Segoe UI"/>
                        </a:rPr>
                        <a:t>Không giám sát</a:t>
                      </a:r>
                    </a:p>
                  </a:txBody>
                  <a:tcPr marL="109728" marR="9144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2000" b="0">
                          <a:solidFill>
                            <a:srgbClr val="1F2430"/>
                          </a:solidFill>
                          <a:latin typeface="Segoe UI"/>
                          <a:ea typeface="Segoe UI"/>
                          <a:cs typeface="Segoe UI"/>
                        </a:rPr>
                        <a:t>Đối tượng bình thường tụ thành cụm</a:t>
                      </a:r>
                    </a:p>
                  </a:txBody>
                  <a:tcPr marL="109728" marR="9144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2000" b="0">
                          <a:solidFill>
                            <a:srgbClr val="1F2430"/>
                          </a:solidFill>
                          <a:latin typeface="Segoe UI"/>
                          <a:ea typeface="Segoe UI"/>
                          <a:cs typeface="Segoe UI"/>
                        </a:rPr>
                        <a:t>Dễ báo động nhầm nhiều</a:t>
                      </a:r>
                    </a:p>
                  </a:txBody>
                  <a:tcPr marL="109728" marR="91440" anchor="ctr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6" name="TextBox 5"/>
          <p:cNvSpPr txBox="1"/>
          <p:nvPr/>
        </p:nvSpPr>
        <p:spPr>
          <a:xfrm>
            <a:off x="777240" y="6272784"/>
            <a:ext cx="7658794" cy="29260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100" b="0" i="0">
                <a:solidFill>
                  <a:srgbClr val="5B6673"/>
                </a:solidFill>
                <a:latin typeface="Segoe UI"/>
                <a:ea typeface="Segoe UI"/>
                <a:cs typeface="Segoe UI"/>
              </a:rPr>
              <a:t>INT1422 · Bài 13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951415" y="6272784"/>
            <a:ext cx="1463040" cy="29260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100" b="0" i="0">
                <a:solidFill>
                  <a:srgbClr val="5B6673"/>
                </a:solidFill>
                <a:latin typeface="Segoe UI"/>
                <a:ea typeface="Segoe UI"/>
                <a:cs typeface="Segoe UI"/>
              </a:rPr>
              <a:t>11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77240" y="6035040"/>
            <a:ext cx="10637215" cy="31089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200" b="0" i="1">
                <a:solidFill>
                  <a:srgbClr val="5B6673"/>
                </a:solidFill>
                <a:latin typeface="Segoe UI"/>
                <a:ea typeface="Segoe UI"/>
                <a:cs typeface="Segoe UI"/>
              </a:rPr>
              <a:t>Nguồn: Han, Kamber &amp; Pei (2022), Data Mining: Concepts and Techniques, 4th ed., Morgan Kaufmann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2355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914400" y="2240280"/>
            <a:ext cx="10637215" cy="21945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1200"/>
              </a:spcAft>
            </a:pPr>
            <a:r>
              <a:rPr sz="2200" b="1" i="0">
                <a:solidFill>
                  <a:srgbClr val="F29AA8"/>
                </a:solidFill>
                <a:latin typeface="Segoe UI"/>
                <a:ea typeface="Segoe UI"/>
                <a:cs typeface="Segoe UI"/>
              </a:rPr>
              <a:t>02</a:t>
            </a:r>
          </a:p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4000" b="1" i="0">
                <a:solidFill>
                  <a:srgbClr val="FFFFFF"/>
                </a:solidFill>
                <a:latin typeface="Segoe UI"/>
                <a:ea typeface="Segoe UI"/>
                <a:cs typeface="Segoe UI"/>
              </a:rPr>
              <a:t>Phương pháp thống kê</a:t>
            </a:r>
          </a:p>
        </p:txBody>
      </p:sp>
      <p:sp>
        <p:nvSpPr>
          <p:cNvPr id="4" name="Rectangle 3"/>
          <p:cNvSpPr/>
          <p:nvPr/>
        </p:nvSpPr>
        <p:spPr>
          <a:xfrm>
            <a:off x="914400" y="4526280"/>
            <a:ext cx="2011680" cy="38100"/>
          </a:xfrm>
          <a:prstGeom prst="rect">
            <a:avLst/>
          </a:prstGeom>
          <a:solidFill>
            <a:srgbClr val="C810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914400" y="4800600"/>
            <a:ext cx="9722815" cy="8229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800" b="0" i="0">
                <a:solidFill>
                  <a:srgbClr val="C5D2E2"/>
                </a:solidFill>
                <a:latin typeface="Segoe UI"/>
                <a:ea typeface="Segoe UI"/>
                <a:cs typeface="Segoe UI"/>
              </a:rPr>
              <a:t>Dị biệt nằm ở vùng xác suất thấp của mô hình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77240" y="384048"/>
            <a:ext cx="10637215" cy="960120"/>
          </a:xfrm>
          <a:prstGeom prst="rect">
            <a:avLst/>
          </a:prstGeom>
          <a:noFill/>
        </p:spPr>
        <p:txBody>
          <a:bodyPr wrap="square" lIns="0" rIns="0" tIns="0" bIns="0" anchor="b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3400" b="1" i="0">
                <a:solidFill>
                  <a:srgbClr val="12355B"/>
                </a:solidFill>
                <a:latin typeface="Segoe UI"/>
                <a:ea typeface="Segoe UI"/>
                <a:cs typeface="Segoe UI"/>
              </a:rPr>
              <a:t>Ý tưởng chung</a:t>
            </a:r>
          </a:p>
        </p:txBody>
      </p:sp>
      <p:sp>
        <p:nvSpPr>
          <p:cNvPr id="3" name="Rectangle 2"/>
          <p:cNvSpPr/>
          <p:nvPr/>
        </p:nvSpPr>
        <p:spPr>
          <a:xfrm>
            <a:off x="777240" y="1426464"/>
            <a:ext cx="1325880" cy="38100"/>
          </a:xfrm>
          <a:prstGeom prst="rect">
            <a:avLst/>
          </a:prstGeom>
          <a:solidFill>
            <a:srgbClr val="C810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2103120" y="1435608"/>
            <a:ext cx="9311335" cy="12700"/>
          </a:xfrm>
          <a:prstGeom prst="rect">
            <a:avLst/>
          </a:prstGeom>
          <a:solidFill>
            <a:srgbClr val="D3DAE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77240" y="1755648"/>
            <a:ext cx="10637215" cy="42062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marL="292608" indent="-292608">
              <a:lnSpc>
                <a:spcPct val="112000"/>
              </a:lnSpc>
              <a:spcAft>
                <a:spcPts val="1200"/>
              </a:spcAft>
              <a:buClr>
                <a:srgbClr val="C8102E"/>
              </a:buClr>
              <a:buSzPct val="85000"/>
              <a:buFont typeface="Segoe UI"/>
              <a:buChar char="▪"/>
            </a:pPr>
            <a:r>
              <a:rPr sz="2400">
                <a:solidFill>
                  <a:srgbClr val="1F2430"/>
                </a:solidFill>
                <a:latin typeface="Segoe UI"/>
                <a:ea typeface="Segoe UI"/>
                <a:cs typeface="Segoe UI"/>
              </a:rPr>
              <a:t>Học một mô hình sinh khớp với dữ liệu đã cho</a:t>
            </a:r>
          </a:p>
          <a:p>
            <a:pPr marL="292608" indent="-292608">
              <a:lnSpc>
                <a:spcPct val="112000"/>
              </a:lnSpc>
              <a:spcAft>
                <a:spcPts val="1200"/>
              </a:spcAft>
              <a:buClr>
                <a:srgbClr val="C8102E"/>
              </a:buClr>
              <a:buSzPct val="85000"/>
              <a:buFont typeface="Segoe UI"/>
              <a:buChar char="▪"/>
            </a:pPr>
            <a:r>
              <a:rPr sz="2400">
                <a:solidFill>
                  <a:srgbClr val="1F2430"/>
                </a:solidFill>
                <a:latin typeface="Segoe UI"/>
                <a:ea typeface="Segoe UI"/>
                <a:cs typeface="Segoe UI"/>
              </a:rPr>
              <a:t>Đối tượng rơi vào vùng xác suất thấp là dị biệt</a:t>
            </a:r>
          </a:p>
          <a:p>
            <a:pPr marL="292608" indent="-292608">
              <a:lnSpc>
                <a:spcPct val="112000"/>
              </a:lnSpc>
              <a:spcAft>
                <a:spcPts val="1200"/>
              </a:spcAft>
              <a:buClr>
                <a:srgbClr val="C8102E"/>
              </a:buClr>
              <a:buSzPct val="85000"/>
              <a:buFont typeface="Segoe UI"/>
              <a:buChar char="▪"/>
            </a:pPr>
            <a:r>
              <a:rPr sz="2400" b="1">
                <a:solidFill>
                  <a:srgbClr val="12355B"/>
                </a:solidFill>
                <a:latin typeface="Segoe UI"/>
                <a:ea typeface="Segoe UI"/>
                <a:cs typeface="Segoe UI"/>
              </a:rPr>
              <a:t>Tham số</a:t>
            </a:r>
            <a:r>
              <a:rPr sz="2400">
                <a:solidFill>
                  <a:srgbClr val="1F2430"/>
                </a:solidFill>
                <a:latin typeface="Segoe UI"/>
                <a:ea typeface="Segoe UI"/>
                <a:cs typeface="Segoe UI"/>
              </a:rPr>
              <a:t>: giả định phân bố f(x, Θ) với hữu hạn tham số Θ</a:t>
            </a:r>
          </a:p>
          <a:p>
            <a:pPr marL="292608" indent="-292608">
              <a:lnSpc>
                <a:spcPct val="112000"/>
              </a:lnSpc>
              <a:spcAft>
                <a:spcPts val="1200"/>
              </a:spcAft>
              <a:buClr>
                <a:srgbClr val="C8102E"/>
              </a:buClr>
              <a:buSzPct val="85000"/>
              <a:buFont typeface="Segoe UI"/>
              <a:buChar char="▪"/>
            </a:pPr>
            <a:r>
              <a:rPr sz="2400">
                <a:solidFill>
                  <a:srgbClr val="1F2430"/>
                </a:solidFill>
                <a:latin typeface="Segoe UI"/>
                <a:ea typeface="Segoe UI"/>
                <a:cs typeface="Segoe UI"/>
              </a:rPr>
              <a:t>f(x, Θ) càng nhỏ thì x càng có khả năng là dị biệt</a:t>
            </a:r>
          </a:p>
          <a:p>
            <a:pPr marL="292608" indent="-292608">
              <a:lnSpc>
                <a:spcPct val="112000"/>
              </a:lnSpc>
              <a:spcAft>
                <a:spcPts val="1200"/>
              </a:spcAft>
              <a:buClr>
                <a:srgbClr val="C8102E"/>
              </a:buClr>
              <a:buSzPct val="85000"/>
              <a:buFont typeface="Segoe UI"/>
              <a:buChar char="▪"/>
            </a:pPr>
            <a:r>
              <a:rPr sz="2400" b="1">
                <a:solidFill>
                  <a:srgbClr val="12355B"/>
                </a:solidFill>
                <a:latin typeface="Segoe UI"/>
                <a:ea typeface="Segoe UI"/>
                <a:cs typeface="Segoe UI"/>
              </a:rPr>
              <a:t>Phi tham số</a:t>
            </a:r>
            <a:r>
              <a:rPr sz="2400">
                <a:solidFill>
                  <a:srgbClr val="1F2430"/>
                </a:solidFill>
                <a:latin typeface="Segoe UI"/>
                <a:ea typeface="Segoe UI"/>
                <a:cs typeface="Segoe UI"/>
              </a:rPr>
              <a:t>: để dữ liệu tự xác định mô hình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77240" y="6272784"/>
            <a:ext cx="7658794" cy="29260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100" b="0" i="0">
                <a:solidFill>
                  <a:srgbClr val="5B6673"/>
                </a:solidFill>
                <a:latin typeface="Segoe UI"/>
                <a:ea typeface="Segoe UI"/>
                <a:cs typeface="Segoe UI"/>
              </a:rPr>
              <a:t>INT1422 · Bài 13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951415" y="6272784"/>
            <a:ext cx="1463040" cy="29260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100" b="0" i="0">
                <a:solidFill>
                  <a:srgbClr val="5B6673"/>
                </a:solidFill>
                <a:latin typeface="Segoe UI"/>
                <a:ea typeface="Segoe UI"/>
                <a:cs typeface="Segoe UI"/>
              </a:rPr>
              <a:t>13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77240" y="6035040"/>
            <a:ext cx="10637215" cy="31089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200" b="0" i="1">
                <a:solidFill>
                  <a:srgbClr val="5B6673"/>
                </a:solidFill>
                <a:latin typeface="Segoe UI"/>
                <a:ea typeface="Segoe UI"/>
                <a:cs typeface="Segoe UI"/>
              </a:rPr>
              <a:t>Nguồn: Han, Kamber &amp; Pei (2022), Data Mining: Concepts and Techniques, 4th ed., Morgan Kaufmann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77240" y="384048"/>
            <a:ext cx="10637215" cy="960120"/>
          </a:xfrm>
          <a:prstGeom prst="rect">
            <a:avLst/>
          </a:prstGeom>
          <a:noFill/>
        </p:spPr>
        <p:txBody>
          <a:bodyPr wrap="square" lIns="0" rIns="0" tIns="0" bIns="0" anchor="b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3400" b="1" i="0">
                <a:solidFill>
                  <a:srgbClr val="12355B"/>
                </a:solidFill>
                <a:latin typeface="Segoe UI"/>
                <a:ea typeface="Segoe UI"/>
                <a:cs typeface="Segoe UI"/>
              </a:rPr>
              <a:t>Dữ liệu một chiều theo phân bố chuẩn</a:t>
            </a:r>
          </a:p>
        </p:txBody>
      </p:sp>
      <p:sp>
        <p:nvSpPr>
          <p:cNvPr id="3" name="Rectangle 2"/>
          <p:cNvSpPr/>
          <p:nvPr/>
        </p:nvSpPr>
        <p:spPr>
          <a:xfrm>
            <a:off x="777240" y="1426464"/>
            <a:ext cx="1325880" cy="38100"/>
          </a:xfrm>
          <a:prstGeom prst="rect">
            <a:avLst/>
          </a:prstGeom>
          <a:solidFill>
            <a:srgbClr val="C810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2103120" y="1435608"/>
            <a:ext cx="9311335" cy="12700"/>
          </a:xfrm>
          <a:prstGeom prst="rect">
            <a:avLst/>
          </a:prstGeom>
          <a:solidFill>
            <a:srgbClr val="D3DAE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777240" y="1755648"/>
            <a:ext cx="10637215" cy="1234440"/>
          </a:xfrm>
          <a:prstGeom prst="roundRect">
            <a:avLst>
              <a:gd name="adj" fmla="val 8000"/>
            </a:avLst>
          </a:prstGeom>
          <a:solidFill>
            <a:srgbClr val="EEF2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46304" rIns="146304" tIns="91440" bIns="91440"/>
          <a:lstStyle/>
          <a:p>
            <a:pPr algn="ctr"/>
            <a:r>
              <a:rPr sz="2600" b="1">
                <a:solidFill>
                  <a:srgbClr val="12355B"/>
                </a:solidFill>
                <a:latin typeface="Consolas"/>
                <a:ea typeface="Consolas"/>
                <a:cs typeface="Consolas"/>
              </a:rPr>
              <a:t>z = (x − μ) / σ       dị biệt nếu |z| &gt; 3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77240" y="3282696"/>
            <a:ext cx="10637215" cy="2606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marL="292608" indent="-292608">
              <a:lnSpc>
                <a:spcPct val="112000"/>
              </a:lnSpc>
              <a:spcAft>
                <a:spcPts val="1000"/>
              </a:spcAft>
              <a:buClr>
                <a:srgbClr val="C8102E"/>
              </a:buClr>
              <a:buSzPct val="85000"/>
              <a:buFont typeface="Segoe UI"/>
              <a:buChar char="▪"/>
            </a:pPr>
            <a:r>
              <a:rPr sz="2400">
                <a:solidFill>
                  <a:srgbClr val="1F2430"/>
                </a:solidFill>
                <a:latin typeface="Segoe UI"/>
                <a:ea typeface="Segoe UI"/>
                <a:cs typeface="Segoe UI"/>
              </a:rPr>
              <a:t>Ước lượng μ và σ từ dữ liệu bằng hợp lý cực đại</a:t>
            </a:r>
          </a:p>
          <a:p>
            <a:pPr marL="292608" indent="-292608">
              <a:lnSpc>
                <a:spcPct val="112000"/>
              </a:lnSpc>
              <a:spcAft>
                <a:spcPts val="1000"/>
              </a:spcAft>
              <a:buClr>
                <a:srgbClr val="C8102E"/>
              </a:buClr>
              <a:buSzPct val="85000"/>
              <a:buFont typeface="Segoe UI"/>
              <a:buChar char="▪"/>
            </a:pPr>
            <a:r>
              <a:rPr sz="2400">
                <a:solidFill>
                  <a:srgbClr val="1F2430"/>
                </a:solidFill>
                <a:latin typeface="Segoe UI"/>
                <a:ea typeface="Segoe UI"/>
                <a:cs typeface="Segoe UI"/>
              </a:rPr>
              <a:t>Vùng μ ± 3σ chứa 99,7% dữ liệu của phân bố chuẩn</a:t>
            </a:r>
          </a:p>
          <a:p>
            <a:pPr marL="292608" indent="-292608">
              <a:lnSpc>
                <a:spcPct val="112000"/>
              </a:lnSpc>
              <a:spcAft>
                <a:spcPts val="1000"/>
              </a:spcAft>
              <a:buClr>
                <a:srgbClr val="C8102E"/>
              </a:buClr>
              <a:buSzPct val="85000"/>
              <a:buFont typeface="Segoe UI"/>
              <a:buChar char="▪"/>
            </a:pPr>
            <a:r>
              <a:rPr sz="2400">
                <a:solidFill>
                  <a:srgbClr val="1F2430"/>
                </a:solidFill>
                <a:latin typeface="Segoe UI"/>
                <a:ea typeface="Segoe UI"/>
                <a:cs typeface="Segoe UI"/>
              </a:rPr>
              <a:t>Điểm nằm ngoài vùng này có xác suất chỉ 0,3%</a:t>
            </a:r>
          </a:p>
          <a:p>
            <a:pPr marL="292608" indent="-292608">
              <a:lnSpc>
                <a:spcPct val="112000"/>
              </a:lnSpc>
              <a:spcAft>
                <a:spcPts val="1000"/>
              </a:spcAft>
              <a:buClr>
                <a:srgbClr val="C8102E"/>
              </a:buClr>
              <a:buSzPct val="85000"/>
              <a:buFont typeface="Segoe UI"/>
              <a:buChar char="▪"/>
            </a:pPr>
            <a:r>
              <a:rPr sz="2400">
                <a:solidFill>
                  <a:srgbClr val="1F2430"/>
                </a:solidFill>
                <a:latin typeface="Segoe UI"/>
                <a:ea typeface="Segoe UI"/>
                <a:cs typeface="Segoe UI"/>
              </a:rPr>
              <a:t>Hạn chế: chính dị biệt làm phình σ và che giấu bản thân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77240" y="6272784"/>
            <a:ext cx="7658794" cy="29260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100" b="0" i="0">
                <a:solidFill>
                  <a:srgbClr val="5B6673"/>
                </a:solidFill>
                <a:latin typeface="Segoe UI"/>
                <a:ea typeface="Segoe UI"/>
                <a:cs typeface="Segoe UI"/>
              </a:rPr>
              <a:t>INT1422 · Bài 13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951415" y="6272784"/>
            <a:ext cx="1463040" cy="29260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100" b="0" i="0">
                <a:solidFill>
                  <a:srgbClr val="5B6673"/>
                </a:solidFill>
                <a:latin typeface="Segoe UI"/>
                <a:ea typeface="Segoe UI"/>
                <a:cs typeface="Segoe UI"/>
              </a:rPr>
              <a:t>14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77240" y="6035040"/>
            <a:ext cx="10637215" cy="31089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200" b="0" i="1">
                <a:solidFill>
                  <a:srgbClr val="5B6673"/>
                </a:solidFill>
                <a:latin typeface="Segoe UI"/>
                <a:ea typeface="Segoe UI"/>
                <a:cs typeface="Segoe UI"/>
              </a:rPr>
              <a:t>Nguồn: Han, Kamber &amp; Pei (2022), Data Mining: Concepts and Techniques, 4th ed., Morgan Kaufmann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77240" y="384048"/>
            <a:ext cx="10637215" cy="960120"/>
          </a:xfrm>
          <a:prstGeom prst="rect">
            <a:avLst/>
          </a:prstGeom>
          <a:noFill/>
        </p:spPr>
        <p:txBody>
          <a:bodyPr wrap="square" lIns="0" rIns="0" tIns="0" bIns="0" anchor="b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3400" b="1" i="0">
                <a:solidFill>
                  <a:srgbClr val="12355B"/>
                </a:solidFill>
                <a:latin typeface="Segoe UI"/>
                <a:ea typeface="Segoe UI"/>
                <a:cs typeface="Segoe UI"/>
              </a:rPr>
              <a:t>Ví dụ: nhiệt độ trung bình 10 năm</a:t>
            </a:r>
          </a:p>
        </p:txBody>
      </p:sp>
      <p:sp>
        <p:nvSpPr>
          <p:cNvPr id="3" name="Rectangle 2"/>
          <p:cNvSpPr/>
          <p:nvPr/>
        </p:nvSpPr>
        <p:spPr>
          <a:xfrm>
            <a:off x="777240" y="1426464"/>
            <a:ext cx="1325880" cy="38100"/>
          </a:xfrm>
          <a:prstGeom prst="rect">
            <a:avLst/>
          </a:prstGeom>
          <a:solidFill>
            <a:srgbClr val="C810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2103120" y="1435608"/>
            <a:ext cx="9311335" cy="12700"/>
          </a:xfrm>
          <a:prstGeom prst="rect">
            <a:avLst/>
          </a:prstGeom>
          <a:solidFill>
            <a:srgbClr val="D3DAE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777240" y="1755648"/>
            <a:ext cx="10637215" cy="4206240"/>
          </a:xfrm>
          <a:prstGeom prst="rect">
            <a:avLst/>
          </a:prstGeom>
          <a:solidFill>
            <a:srgbClr val="F7F9FC"/>
          </a:solidFill>
          <a:ln w="15875">
            <a:solidFill>
              <a:srgbClr val="D3DAE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46304" rIns="146304" tIns="91440" bIns="91440"/>
          <a:lstStyle/>
          <a:p/>
        </p:txBody>
      </p:sp>
      <p:sp>
        <p:nvSpPr>
          <p:cNvPr id="6" name="TextBox 5"/>
          <p:cNvSpPr txBox="1"/>
          <p:nvPr/>
        </p:nvSpPr>
        <p:spPr>
          <a:xfrm>
            <a:off x="1033271" y="1956816"/>
            <a:ext cx="10125151" cy="380390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15000"/>
              </a:lnSpc>
              <a:spcBef>
                <a:spcPts val="400"/>
              </a:spcBef>
              <a:spcAft>
                <a:spcPts val="600"/>
              </a:spcAft>
            </a:pPr>
            <a:r>
              <a:rPr sz="2400" b="1" i="0">
                <a:solidFill>
                  <a:srgbClr val="C8102E"/>
                </a:solidFill>
                <a:latin typeface="Segoe UI"/>
                <a:ea typeface="Segoe UI"/>
                <a:cs typeface="Segoe UI"/>
              </a:rPr>
              <a:t>Dữ liệu, °C</a:t>
            </a:r>
          </a:p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600"/>
              </a:spcAft>
            </a:pPr>
            <a:r>
              <a:rPr sz="2000" b="0" i="0">
                <a:solidFill>
                  <a:srgbClr val="12355B"/>
                </a:solidFill>
                <a:latin typeface="Consolas"/>
                <a:ea typeface="Consolas"/>
                <a:cs typeface="Consolas"/>
              </a:rPr>
              <a:t>24,0  28,9  28,9  29,0  29,1  29,1  29,2  29,2  29,3  29,4</a:t>
            </a:r>
          </a:p>
          <a:p>
            <a:pPr algn="l">
              <a:lnSpc>
                <a:spcPct val="115000"/>
              </a:lnSpc>
              <a:spcBef>
                <a:spcPts val="400"/>
              </a:spcBef>
              <a:spcAft>
                <a:spcPts val="600"/>
              </a:spcAft>
            </a:pPr>
            <a:r>
              <a:rPr sz="2400" b="1" i="0">
                <a:solidFill>
                  <a:srgbClr val="C8102E"/>
                </a:solidFill>
                <a:latin typeface="Segoe UI"/>
                <a:ea typeface="Segoe UI"/>
                <a:cs typeface="Segoe UI"/>
              </a:rPr>
              <a:t>Tính toán</a:t>
            </a:r>
          </a:p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600"/>
              </a:spcAft>
            </a:pPr>
            <a:r>
              <a:rPr sz="2000" b="0" i="0">
                <a:solidFill>
                  <a:srgbClr val="12355B"/>
                </a:solidFill>
                <a:latin typeface="Consolas"/>
                <a:ea typeface="Consolas"/>
                <a:cs typeface="Consolas"/>
              </a:rPr>
              <a:t>mu    = 286,1 / 10 = 28,61</a:t>
            </a:r>
          </a:p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600"/>
              </a:spcAft>
            </a:pPr>
            <a:r>
              <a:rPr sz="2000" b="0" i="0">
                <a:solidFill>
                  <a:srgbClr val="12355B"/>
                </a:solidFill>
                <a:latin typeface="Consolas"/>
                <a:ea typeface="Consolas"/>
                <a:cs typeface="Consolas"/>
              </a:rPr>
              <a:t>sigma = 1,544</a:t>
            </a:r>
          </a:p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600"/>
              </a:spcAft>
            </a:pPr>
            <a:r>
              <a:rPr sz="2000" b="0" i="0">
                <a:solidFill>
                  <a:srgbClr val="12355B"/>
                </a:solidFill>
                <a:latin typeface="Consolas"/>
                <a:ea typeface="Consolas"/>
                <a:cs typeface="Consolas"/>
              </a:rPr>
              <a:t>z(24,0) = (24,0 - 28,61) / 1,544 = -2,99</a:t>
            </a:r>
          </a:p>
          <a:p>
            <a:pPr algn="l">
              <a:lnSpc>
                <a:spcPct val="115000"/>
              </a:lnSpc>
              <a:spcBef>
                <a:spcPts val="400"/>
              </a:spcBef>
              <a:spcAft>
                <a:spcPts val="600"/>
              </a:spcAft>
            </a:pPr>
            <a:r>
              <a:rPr sz="2400" b="1" i="0">
                <a:solidFill>
                  <a:srgbClr val="C8102E"/>
                </a:solidFill>
                <a:latin typeface="Segoe UI"/>
                <a:ea typeface="Segoe UI"/>
                <a:cs typeface="Segoe UI"/>
              </a:rPr>
              <a:t>Nhận xét</a:t>
            </a:r>
          </a:p>
          <a:p>
            <a:pPr algn="l" marL="292608" indent="-292608">
              <a:lnSpc>
                <a:spcPct val="115000"/>
              </a:lnSpc>
              <a:spcBef>
                <a:spcPts val="0"/>
              </a:spcBef>
              <a:spcAft>
                <a:spcPts val="600"/>
              </a:spcAft>
              <a:buClr>
                <a:srgbClr val="5B6673"/>
              </a:buClr>
              <a:buSzPct val="85000"/>
              <a:buFont typeface="Segoe UI"/>
              <a:buChar char="▪"/>
            </a:pPr>
            <a:r>
              <a:rPr sz="2000" b="0" i="0">
                <a:solidFill>
                  <a:srgbClr val="1F2430"/>
                </a:solidFill>
                <a:latin typeface="Segoe UI"/>
                <a:ea typeface="Segoe UI"/>
                <a:cs typeface="Segoe UI"/>
              </a:rPr>
              <a:t>|z| = 2,99 sát ngưỡng 3: quy tắc 3σ chưa kết luận được</a:t>
            </a:r>
          </a:p>
          <a:p>
            <a:pPr algn="l" marL="292608" indent="-292608">
              <a:lnSpc>
                <a:spcPct val="115000"/>
              </a:lnSpc>
              <a:spcBef>
                <a:spcPts val="0"/>
              </a:spcBef>
              <a:spcAft>
                <a:spcPts val="600"/>
              </a:spcAft>
              <a:buClr>
                <a:srgbClr val="5B6673"/>
              </a:buClr>
              <a:buSzPct val="85000"/>
              <a:buFont typeface="Segoe UI"/>
              <a:buChar char="▪"/>
            </a:pPr>
            <a:r>
              <a:rPr sz="2000" b="0" i="0">
                <a:solidFill>
                  <a:srgbClr val="1F2430"/>
                </a:solidFill>
                <a:latin typeface="Segoe UI"/>
                <a:ea typeface="Segoe UI"/>
                <a:cs typeface="Segoe UI"/>
              </a:rPr>
              <a:t>Năm 24,0 kéo σ lên gấp nhiều lần — hiệu ứng che giấu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77240" y="6272784"/>
            <a:ext cx="7658794" cy="29260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100" b="0" i="0">
                <a:solidFill>
                  <a:srgbClr val="5B6673"/>
                </a:solidFill>
                <a:latin typeface="Segoe UI"/>
                <a:ea typeface="Segoe UI"/>
                <a:cs typeface="Segoe UI"/>
              </a:rPr>
              <a:t>INT1422 · Bài 13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951415" y="6272784"/>
            <a:ext cx="1463040" cy="29260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100" b="0" i="0">
                <a:solidFill>
                  <a:srgbClr val="5B6673"/>
                </a:solidFill>
                <a:latin typeface="Segoe UI"/>
                <a:ea typeface="Segoe UI"/>
                <a:cs typeface="Segoe UI"/>
              </a:rPr>
              <a:t>15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77240" y="6035040"/>
            <a:ext cx="10637215" cy="31089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200" b="0" i="1">
                <a:solidFill>
                  <a:srgbClr val="5B6673"/>
                </a:solidFill>
                <a:latin typeface="Segoe UI"/>
                <a:ea typeface="Segoe UI"/>
                <a:cs typeface="Segoe UI"/>
              </a:rPr>
              <a:t>Nguồn: Han, Kamber &amp; Pei (2022), Data Mining: Concepts and Techniques, 4th ed., Morgan Kaufmann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77240" y="384048"/>
            <a:ext cx="10637215" cy="960120"/>
          </a:xfrm>
          <a:prstGeom prst="rect">
            <a:avLst/>
          </a:prstGeom>
          <a:noFill/>
        </p:spPr>
        <p:txBody>
          <a:bodyPr wrap="square" lIns="0" rIns="0" tIns="0" bIns="0" anchor="b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3400" b="1" i="0">
                <a:solidFill>
                  <a:srgbClr val="12355B"/>
                </a:solidFill>
                <a:latin typeface="Segoe UI"/>
                <a:ea typeface="Segoe UI"/>
                <a:cs typeface="Segoe UI"/>
              </a:rPr>
              <a:t>Kiểm định Grubbs</a:t>
            </a:r>
          </a:p>
        </p:txBody>
      </p:sp>
      <p:sp>
        <p:nvSpPr>
          <p:cNvPr id="3" name="Rectangle 2"/>
          <p:cNvSpPr/>
          <p:nvPr/>
        </p:nvSpPr>
        <p:spPr>
          <a:xfrm>
            <a:off x="777240" y="1426464"/>
            <a:ext cx="1325880" cy="38100"/>
          </a:xfrm>
          <a:prstGeom prst="rect">
            <a:avLst/>
          </a:prstGeom>
          <a:solidFill>
            <a:srgbClr val="C810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2103120" y="1435608"/>
            <a:ext cx="9311335" cy="12700"/>
          </a:xfrm>
          <a:prstGeom prst="rect">
            <a:avLst/>
          </a:prstGeom>
          <a:solidFill>
            <a:srgbClr val="D3DAE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777240" y="1755648"/>
            <a:ext cx="10637215" cy="1234440"/>
          </a:xfrm>
          <a:prstGeom prst="roundRect">
            <a:avLst>
              <a:gd name="adj" fmla="val 8000"/>
            </a:avLst>
          </a:prstGeom>
          <a:solidFill>
            <a:srgbClr val="EEF2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46304" rIns="146304" tIns="91440" bIns="91440"/>
          <a:lstStyle/>
          <a:p>
            <a:pPr algn="ctr"/>
            <a:r>
              <a:rPr sz="2600" b="1">
                <a:solidFill>
                  <a:srgbClr val="12355B"/>
                </a:solidFill>
                <a:latin typeface="Consolas"/>
                <a:ea typeface="Consolas"/>
                <a:cs typeface="Consolas"/>
              </a:rPr>
              <a:t>G = max |xᵢ − mean(x)| / 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77240" y="3282696"/>
            <a:ext cx="10637215" cy="2606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marL="292608" indent="-292608">
              <a:lnSpc>
                <a:spcPct val="112000"/>
              </a:lnSpc>
              <a:spcAft>
                <a:spcPts val="1000"/>
              </a:spcAft>
              <a:buClr>
                <a:srgbClr val="C8102E"/>
              </a:buClr>
              <a:buSzPct val="85000"/>
              <a:buFont typeface="Segoe UI"/>
              <a:buChar char="▪"/>
            </a:pPr>
            <a:r>
              <a:rPr sz="2400" b="1">
                <a:solidFill>
                  <a:srgbClr val="12355B"/>
                </a:solidFill>
                <a:latin typeface="Segoe UI"/>
                <a:ea typeface="Segoe UI"/>
                <a:cs typeface="Segoe UI"/>
              </a:rPr>
              <a:t>G &gt; G_crit(N, α)</a:t>
            </a:r>
            <a:r>
              <a:rPr sz="2400">
                <a:solidFill>
                  <a:srgbClr val="1F2430"/>
                </a:solidFill>
                <a:latin typeface="Segoe UI"/>
                <a:ea typeface="Segoe UI"/>
                <a:cs typeface="Segoe UI"/>
              </a:rPr>
              <a:t> thì kết luận là dị biệt; s là độ lệch chuẩn mẫu</a:t>
            </a:r>
          </a:p>
          <a:p>
            <a:pPr marL="292608" indent="-292608">
              <a:lnSpc>
                <a:spcPct val="112000"/>
              </a:lnSpc>
              <a:spcAft>
                <a:spcPts val="1000"/>
              </a:spcAft>
              <a:buClr>
                <a:srgbClr val="C8102E"/>
              </a:buClr>
              <a:buSzPct val="85000"/>
              <a:buFont typeface="Segoe UI"/>
              <a:buChar char="▪"/>
            </a:pPr>
            <a:r>
              <a:rPr sz="2400">
                <a:solidFill>
                  <a:srgbClr val="1F2430"/>
                </a:solidFill>
                <a:latin typeface="Segoe UI"/>
                <a:ea typeface="Segoe UI"/>
                <a:cs typeface="Segoe UI"/>
              </a:rPr>
              <a:t>G_crit = ((N−1)/√N) · √(t² / (N − 2 + t²)), t lấy ở mức α/(2N)</a:t>
            </a:r>
          </a:p>
          <a:p>
            <a:pPr marL="292608" indent="-292608">
              <a:lnSpc>
                <a:spcPct val="112000"/>
              </a:lnSpc>
              <a:spcAft>
                <a:spcPts val="1000"/>
              </a:spcAft>
              <a:buClr>
                <a:srgbClr val="C8102E"/>
              </a:buClr>
              <a:buSzPct val="85000"/>
              <a:buFont typeface="Segoe UI"/>
              <a:buChar char="▪"/>
            </a:pPr>
            <a:r>
              <a:rPr sz="2400">
                <a:solidFill>
                  <a:srgbClr val="1F2430"/>
                </a:solidFill>
                <a:latin typeface="Segoe UI"/>
                <a:ea typeface="Segoe UI"/>
                <a:cs typeface="Segoe UI"/>
              </a:rPr>
              <a:t>Với dữ liệu nhiệt độ: s = 1,628 nên G = 4,61 / 1,628 = 2,83</a:t>
            </a:r>
          </a:p>
          <a:p>
            <a:pPr marL="292608" indent="-292608">
              <a:lnSpc>
                <a:spcPct val="112000"/>
              </a:lnSpc>
              <a:spcAft>
                <a:spcPts val="1000"/>
              </a:spcAft>
              <a:buClr>
                <a:srgbClr val="C8102E"/>
              </a:buClr>
              <a:buSzPct val="85000"/>
              <a:buFont typeface="Segoe UI"/>
              <a:buChar char="▪"/>
            </a:pPr>
            <a:r>
              <a:rPr sz="2400" b="1">
                <a:solidFill>
                  <a:srgbClr val="12355B"/>
                </a:solidFill>
                <a:latin typeface="Segoe UI"/>
                <a:ea typeface="Segoe UI"/>
                <a:cs typeface="Segoe UI"/>
              </a:rPr>
              <a:t>24,0 là dị biệt</a:t>
            </a:r>
            <a:r>
              <a:rPr sz="2400">
                <a:solidFill>
                  <a:srgbClr val="1F2430"/>
                </a:solidFill>
                <a:latin typeface="Segoe UI"/>
                <a:ea typeface="Segoe UI"/>
                <a:cs typeface="Segoe UI"/>
              </a:rPr>
              <a:t>: N = 10, α = 0,05 cho G_crit ≈ 2,29 &lt; 2,83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77240" y="6272784"/>
            <a:ext cx="7658794" cy="29260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100" b="0" i="0">
                <a:solidFill>
                  <a:srgbClr val="5B6673"/>
                </a:solidFill>
                <a:latin typeface="Segoe UI"/>
                <a:ea typeface="Segoe UI"/>
                <a:cs typeface="Segoe UI"/>
              </a:rPr>
              <a:t>INT1422 · Bài 13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951415" y="6272784"/>
            <a:ext cx="1463040" cy="29260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100" b="0" i="0">
                <a:solidFill>
                  <a:srgbClr val="5B6673"/>
                </a:solidFill>
                <a:latin typeface="Segoe UI"/>
                <a:ea typeface="Segoe UI"/>
                <a:cs typeface="Segoe UI"/>
              </a:rPr>
              <a:t>16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77240" y="6035040"/>
            <a:ext cx="10637215" cy="31089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200" b="0" i="1">
                <a:solidFill>
                  <a:srgbClr val="5B6673"/>
                </a:solidFill>
                <a:latin typeface="Segoe UI"/>
                <a:ea typeface="Segoe UI"/>
                <a:cs typeface="Segoe UI"/>
              </a:rPr>
              <a:t>Nguồn: Han, Kamber &amp; Pei (2022), Data Mining: Concepts and Techniques, 4th ed., Morgan Kaufmann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77240" y="384048"/>
            <a:ext cx="10637215" cy="960120"/>
          </a:xfrm>
          <a:prstGeom prst="rect">
            <a:avLst/>
          </a:prstGeom>
          <a:noFill/>
        </p:spPr>
        <p:txBody>
          <a:bodyPr wrap="square" lIns="0" rIns="0" tIns="0" bIns="0" anchor="b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3400" b="1" i="0">
                <a:solidFill>
                  <a:srgbClr val="12355B"/>
                </a:solidFill>
                <a:latin typeface="Segoe UI"/>
                <a:ea typeface="Segoe UI"/>
                <a:cs typeface="Segoe UI"/>
              </a:rPr>
              <a:t>Quy tắc IQR và biểu đồ hộp</a:t>
            </a:r>
          </a:p>
        </p:txBody>
      </p:sp>
      <p:sp>
        <p:nvSpPr>
          <p:cNvPr id="3" name="Rectangle 2"/>
          <p:cNvSpPr/>
          <p:nvPr/>
        </p:nvSpPr>
        <p:spPr>
          <a:xfrm>
            <a:off x="777240" y="1426464"/>
            <a:ext cx="1325880" cy="38100"/>
          </a:xfrm>
          <a:prstGeom prst="rect">
            <a:avLst/>
          </a:prstGeom>
          <a:solidFill>
            <a:srgbClr val="C810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2103120" y="1435608"/>
            <a:ext cx="9311335" cy="12700"/>
          </a:xfrm>
          <a:prstGeom prst="rect">
            <a:avLst/>
          </a:prstGeom>
          <a:solidFill>
            <a:srgbClr val="D3DAE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777240" y="1755648"/>
            <a:ext cx="10637215" cy="4206240"/>
          </a:xfrm>
          <a:prstGeom prst="rect">
            <a:avLst/>
          </a:prstGeom>
          <a:solidFill>
            <a:srgbClr val="F7F9FC"/>
          </a:solidFill>
          <a:ln w="15875">
            <a:solidFill>
              <a:srgbClr val="D3DAE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46304" rIns="146304" tIns="91440" bIns="91440"/>
          <a:lstStyle/>
          <a:p/>
        </p:txBody>
      </p:sp>
      <p:sp>
        <p:nvSpPr>
          <p:cNvPr id="6" name="TextBox 5"/>
          <p:cNvSpPr txBox="1"/>
          <p:nvPr/>
        </p:nvSpPr>
        <p:spPr>
          <a:xfrm>
            <a:off x="1033271" y="1956816"/>
            <a:ext cx="10125151" cy="380390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15000"/>
              </a:lnSpc>
              <a:spcBef>
                <a:spcPts val="400"/>
              </a:spcBef>
              <a:spcAft>
                <a:spcPts val="600"/>
              </a:spcAft>
            </a:pPr>
            <a:r>
              <a:rPr sz="2400" b="1" i="0">
                <a:solidFill>
                  <a:srgbClr val="C8102E"/>
                </a:solidFill>
                <a:latin typeface="Segoe UI"/>
                <a:ea typeface="Segoe UI"/>
                <a:cs typeface="Segoe UI"/>
              </a:rPr>
              <a:t>Mười hai giá trị đã sắp xếp</a:t>
            </a:r>
          </a:p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600"/>
              </a:spcAft>
            </a:pPr>
            <a:r>
              <a:rPr sz="2000" b="0" i="0">
                <a:solidFill>
                  <a:srgbClr val="12355B"/>
                </a:solidFill>
                <a:latin typeface="Consolas"/>
                <a:ea typeface="Consolas"/>
                <a:cs typeface="Consolas"/>
              </a:rPr>
              <a:t>5  7  8  9  10  11  12  13  14  15  16  40</a:t>
            </a:r>
          </a:p>
          <a:p>
            <a:pPr algn="l">
              <a:lnSpc>
                <a:spcPct val="115000"/>
              </a:lnSpc>
              <a:spcBef>
                <a:spcPts val="400"/>
              </a:spcBef>
              <a:spcAft>
                <a:spcPts val="600"/>
              </a:spcAft>
            </a:pPr>
            <a:r>
              <a:rPr sz="2400" b="1" i="0">
                <a:solidFill>
                  <a:srgbClr val="C8102E"/>
                </a:solidFill>
                <a:latin typeface="Segoe UI"/>
                <a:ea typeface="Segoe UI"/>
                <a:cs typeface="Segoe UI"/>
              </a:rPr>
              <a:t>Tứ phân vị</a:t>
            </a:r>
          </a:p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600"/>
              </a:spcAft>
            </a:pPr>
            <a:r>
              <a:rPr sz="2000" b="0" i="0">
                <a:solidFill>
                  <a:srgbClr val="12355B"/>
                </a:solidFill>
                <a:latin typeface="Consolas"/>
                <a:ea typeface="Consolas"/>
                <a:cs typeface="Consolas"/>
              </a:rPr>
              <a:t>Q1 = (8 + 9)/2 = 8,5     Q3 = (14 + 15)/2 = 14,5</a:t>
            </a:r>
          </a:p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600"/>
              </a:spcAft>
            </a:pPr>
            <a:r>
              <a:rPr sz="2000" b="0" i="0">
                <a:solidFill>
                  <a:srgbClr val="12355B"/>
                </a:solidFill>
                <a:latin typeface="Consolas"/>
                <a:ea typeface="Consolas"/>
                <a:cs typeface="Consolas"/>
              </a:rPr>
              <a:t>IQR = Q3 - Q1 = 6</a:t>
            </a:r>
          </a:p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600"/>
              </a:spcAft>
            </a:pPr>
            <a:r>
              <a:rPr sz="2000" b="0" i="0">
                <a:solidFill>
                  <a:srgbClr val="12355B"/>
                </a:solidFill>
                <a:latin typeface="Consolas"/>
                <a:ea typeface="Consolas"/>
                <a:cs typeface="Consolas"/>
              </a:rPr>
              <a:t>Can duoi = 8,5 - 1,5*6 = -0,5    Can tren = 14,5 + 1,5*6 = 23,5</a:t>
            </a:r>
          </a:p>
          <a:p>
            <a:pPr algn="l">
              <a:lnSpc>
                <a:spcPct val="115000"/>
              </a:lnSpc>
              <a:spcBef>
                <a:spcPts val="400"/>
              </a:spcBef>
              <a:spcAft>
                <a:spcPts val="600"/>
              </a:spcAft>
            </a:pPr>
            <a:r>
              <a:rPr sz="2400" b="1" i="0">
                <a:solidFill>
                  <a:srgbClr val="C8102E"/>
                </a:solidFill>
                <a:latin typeface="Segoe UI"/>
                <a:ea typeface="Segoe UI"/>
                <a:cs typeface="Segoe UI"/>
              </a:rPr>
              <a:t>Kết luận</a:t>
            </a:r>
          </a:p>
          <a:p>
            <a:pPr algn="l" marL="292608" indent="-292608">
              <a:lnSpc>
                <a:spcPct val="115000"/>
              </a:lnSpc>
              <a:spcBef>
                <a:spcPts val="0"/>
              </a:spcBef>
              <a:spcAft>
                <a:spcPts val="600"/>
              </a:spcAft>
              <a:buClr>
                <a:srgbClr val="5B6673"/>
              </a:buClr>
              <a:buSzPct val="85000"/>
              <a:buFont typeface="Segoe UI"/>
              <a:buChar char="▪"/>
            </a:pPr>
            <a:r>
              <a:rPr sz="2000" b="0" i="0">
                <a:solidFill>
                  <a:srgbClr val="1F2430"/>
                </a:solidFill>
                <a:latin typeface="Segoe UI"/>
                <a:ea typeface="Segoe UI"/>
                <a:cs typeface="Segoe UI"/>
              </a:rPr>
              <a:t>Chỉ có 40 vượt cận trên 23,5 nên 40 là dị biệt</a:t>
            </a:r>
          </a:p>
          <a:p>
            <a:pPr algn="l" marL="292608" indent="-292608">
              <a:lnSpc>
                <a:spcPct val="115000"/>
              </a:lnSpc>
              <a:spcBef>
                <a:spcPts val="0"/>
              </a:spcBef>
              <a:spcAft>
                <a:spcPts val="600"/>
              </a:spcAft>
              <a:buClr>
                <a:srgbClr val="5B6673"/>
              </a:buClr>
              <a:buSzPct val="85000"/>
              <a:buFont typeface="Segoe UI"/>
              <a:buChar char="▪"/>
            </a:pPr>
            <a:r>
              <a:rPr sz="2000" b="0" i="0">
                <a:solidFill>
                  <a:srgbClr val="1F2430"/>
                </a:solidFill>
                <a:latin typeface="Segoe UI"/>
                <a:ea typeface="Segoe UI"/>
                <a:cs typeface="Segoe UI"/>
              </a:rPr>
              <a:t>Không cần giả định phân bố, và bền trước chính dị biệt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77240" y="6272784"/>
            <a:ext cx="7658794" cy="29260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100" b="0" i="0">
                <a:solidFill>
                  <a:srgbClr val="5B6673"/>
                </a:solidFill>
                <a:latin typeface="Segoe UI"/>
                <a:ea typeface="Segoe UI"/>
                <a:cs typeface="Segoe UI"/>
              </a:rPr>
              <a:t>INT1422 · Bài 13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951415" y="6272784"/>
            <a:ext cx="1463040" cy="29260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100" b="0" i="0">
                <a:solidFill>
                  <a:srgbClr val="5B6673"/>
                </a:solidFill>
                <a:latin typeface="Segoe UI"/>
                <a:ea typeface="Segoe UI"/>
                <a:cs typeface="Segoe UI"/>
              </a:rPr>
              <a:t>17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77240" y="6035040"/>
            <a:ext cx="10637215" cy="31089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200" b="0" i="1">
                <a:solidFill>
                  <a:srgbClr val="5B6673"/>
                </a:solidFill>
                <a:latin typeface="Segoe UI"/>
                <a:ea typeface="Segoe UI"/>
                <a:cs typeface="Segoe UI"/>
              </a:rPr>
              <a:t>Nguồn: Han, Kamber &amp; Pei (2022), Data Mining: Concepts and Techniques, 4th ed., Morgan Kaufmann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77240" y="384048"/>
            <a:ext cx="10637215" cy="960120"/>
          </a:xfrm>
          <a:prstGeom prst="rect">
            <a:avLst/>
          </a:prstGeom>
          <a:noFill/>
        </p:spPr>
        <p:txBody>
          <a:bodyPr wrap="square" lIns="0" rIns="0" tIns="0" bIns="0" anchor="b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3400" b="1" i="0">
                <a:solidFill>
                  <a:srgbClr val="12355B"/>
                </a:solidFill>
                <a:latin typeface="Segoe UI"/>
                <a:ea typeface="Segoe UI"/>
                <a:cs typeface="Segoe UI"/>
              </a:rPr>
              <a:t>Dị biệt đa biến</a:t>
            </a:r>
          </a:p>
        </p:txBody>
      </p:sp>
      <p:sp>
        <p:nvSpPr>
          <p:cNvPr id="3" name="Rectangle 2"/>
          <p:cNvSpPr/>
          <p:nvPr/>
        </p:nvSpPr>
        <p:spPr>
          <a:xfrm>
            <a:off x="777240" y="1426464"/>
            <a:ext cx="1325880" cy="38100"/>
          </a:xfrm>
          <a:prstGeom prst="rect">
            <a:avLst/>
          </a:prstGeom>
          <a:solidFill>
            <a:srgbClr val="C810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2103120" y="1435608"/>
            <a:ext cx="9311335" cy="12700"/>
          </a:xfrm>
          <a:prstGeom prst="rect">
            <a:avLst/>
          </a:prstGeom>
          <a:solidFill>
            <a:srgbClr val="D3DAE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777240" y="1755648"/>
            <a:ext cx="10637215" cy="1234440"/>
          </a:xfrm>
          <a:prstGeom prst="roundRect">
            <a:avLst>
              <a:gd name="adj" fmla="val 8000"/>
            </a:avLst>
          </a:prstGeom>
          <a:solidFill>
            <a:srgbClr val="EEF2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46304" rIns="146304" tIns="91440" bIns="91440"/>
          <a:lstStyle/>
          <a:p>
            <a:pPr algn="ctr"/>
            <a:r>
              <a:rPr sz="2600" b="1">
                <a:solidFill>
                  <a:srgbClr val="12355B"/>
                </a:solidFill>
                <a:latin typeface="Consolas"/>
                <a:ea typeface="Consolas"/>
                <a:cs typeface="Consolas"/>
              </a:rPr>
              <a:t>MDist(o, ō) = (o − ō)ᵀ S⁻¹ (o − ō)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77240" y="3282696"/>
            <a:ext cx="10637215" cy="2606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marL="292608" indent="-292608">
              <a:lnSpc>
                <a:spcPct val="112000"/>
              </a:lnSpc>
              <a:spcAft>
                <a:spcPts val="1000"/>
              </a:spcAft>
              <a:buClr>
                <a:srgbClr val="C8102E"/>
              </a:buClr>
              <a:buSzPct val="85000"/>
              <a:buFont typeface="Segoe UI"/>
              <a:buChar char="▪"/>
            </a:pPr>
            <a:r>
              <a:rPr sz="2400">
                <a:solidFill>
                  <a:srgbClr val="1F2430"/>
                </a:solidFill>
                <a:latin typeface="Segoe UI"/>
                <a:ea typeface="Segoe UI"/>
                <a:cs typeface="Segoe UI"/>
              </a:rPr>
              <a:t>Ý tưởng: quy dữ liệu nhiều chiều về một đại lượng một chiều</a:t>
            </a:r>
          </a:p>
          <a:p>
            <a:pPr marL="292608" indent="-292608">
              <a:lnSpc>
                <a:spcPct val="112000"/>
              </a:lnSpc>
              <a:spcAft>
                <a:spcPts val="1000"/>
              </a:spcAft>
              <a:buClr>
                <a:srgbClr val="C8102E"/>
              </a:buClr>
              <a:buSzPct val="85000"/>
              <a:buFont typeface="Segoe UI"/>
              <a:buChar char="▪"/>
            </a:pPr>
            <a:r>
              <a:rPr sz="2400" b="1">
                <a:solidFill>
                  <a:srgbClr val="12355B"/>
                </a:solidFill>
                <a:latin typeface="Segoe UI"/>
                <a:ea typeface="Segoe UI"/>
                <a:cs typeface="Segoe UI"/>
              </a:rPr>
              <a:t>Mahalanobis</a:t>
            </a:r>
            <a:r>
              <a:rPr sz="2400">
                <a:solidFill>
                  <a:srgbClr val="1F2430"/>
                </a:solidFill>
                <a:latin typeface="Segoe UI"/>
                <a:ea typeface="Segoe UI"/>
                <a:cs typeface="Segoe UI"/>
              </a:rPr>
              <a:t> tính đến tương quan giữa các thuộc tính qua ma trận S</a:t>
            </a:r>
          </a:p>
          <a:p>
            <a:pPr marL="292608" indent="-292608">
              <a:lnSpc>
                <a:spcPct val="112000"/>
              </a:lnSpc>
              <a:spcAft>
                <a:spcPts val="1000"/>
              </a:spcAft>
              <a:buClr>
                <a:srgbClr val="C8102E"/>
              </a:buClr>
              <a:buSzPct val="85000"/>
              <a:buFont typeface="Segoe UI"/>
              <a:buChar char="▪"/>
            </a:pPr>
            <a:r>
              <a:rPr sz="2400">
                <a:solidFill>
                  <a:srgbClr val="1F2430"/>
                </a:solidFill>
                <a:latin typeface="Segoe UI"/>
                <a:ea typeface="Segoe UI"/>
                <a:cs typeface="Segoe UI"/>
              </a:rPr>
              <a:t>Sau đó áp dụng Grubbs lên MDist để tìm dị biệt</a:t>
            </a:r>
          </a:p>
          <a:p>
            <a:pPr marL="292608" indent="-292608">
              <a:lnSpc>
                <a:spcPct val="112000"/>
              </a:lnSpc>
              <a:spcAft>
                <a:spcPts val="1000"/>
              </a:spcAft>
              <a:buClr>
                <a:srgbClr val="C8102E"/>
              </a:buClr>
              <a:buSzPct val="85000"/>
              <a:buFont typeface="Segoe UI"/>
              <a:buChar char="▪"/>
            </a:pPr>
            <a:r>
              <a:rPr sz="2400" b="1">
                <a:solidFill>
                  <a:srgbClr val="12355B"/>
                </a:solidFill>
                <a:latin typeface="Segoe UI"/>
                <a:ea typeface="Segoe UI"/>
                <a:cs typeface="Segoe UI"/>
              </a:rPr>
              <a:t>Thống kê χ² = Σ (oᵢ − Eᵢ)² / Eᵢ</a:t>
            </a:r>
            <a:r>
              <a:rPr sz="2400">
                <a:solidFill>
                  <a:srgbClr val="1F2430"/>
                </a:solidFill>
                <a:latin typeface="Segoe UI"/>
                <a:ea typeface="Segoe UI"/>
                <a:cs typeface="Segoe UI"/>
              </a:rPr>
              <a:t>: χ² lớn là dị biệt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77240" y="6272784"/>
            <a:ext cx="7658794" cy="29260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100" b="0" i="0">
                <a:solidFill>
                  <a:srgbClr val="5B6673"/>
                </a:solidFill>
                <a:latin typeface="Segoe UI"/>
                <a:ea typeface="Segoe UI"/>
                <a:cs typeface="Segoe UI"/>
              </a:rPr>
              <a:t>INT1422 · Bài 13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951415" y="6272784"/>
            <a:ext cx="1463040" cy="29260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100" b="0" i="0">
                <a:solidFill>
                  <a:srgbClr val="5B6673"/>
                </a:solidFill>
                <a:latin typeface="Segoe UI"/>
                <a:ea typeface="Segoe UI"/>
                <a:cs typeface="Segoe UI"/>
              </a:rPr>
              <a:t>18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77240" y="6035040"/>
            <a:ext cx="10637215" cy="31089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200" b="0" i="1">
                <a:solidFill>
                  <a:srgbClr val="5B6673"/>
                </a:solidFill>
                <a:latin typeface="Segoe UI"/>
                <a:ea typeface="Segoe UI"/>
                <a:cs typeface="Segoe UI"/>
              </a:rPr>
              <a:t>Nguồn: Han, Kamber &amp; Pei (2022), Data Mining: Concepts and Techniques, 4th ed., Morgan Kaufmann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77240" y="384048"/>
            <a:ext cx="10637215" cy="960120"/>
          </a:xfrm>
          <a:prstGeom prst="rect">
            <a:avLst/>
          </a:prstGeom>
          <a:noFill/>
        </p:spPr>
        <p:txBody>
          <a:bodyPr wrap="square" lIns="0" rIns="0" tIns="0" bIns="0" anchor="b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3400" b="1" i="0">
                <a:solidFill>
                  <a:srgbClr val="12355B"/>
                </a:solidFill>
                <a:latin typeface="Segoe UI"/>
                <a:ea typeface="Segoe UI"/>
                <a:cs typeface="Segoe UI"/>
              </a:rPr>
              <a:t>Phi tham số và đánh giá chung</a:t>
            </a:r>
          </a:p>
        </p:txBody>
      </p:sp>
      <p:sp>
        <p:nvSpPr>
          <p:cNvPr id="3" name="Rectangle 2"/>
          <p:cNvSpPr/>
          <p:nvPr/>
        </p:nvSpPr>
        <p:spPr>
          <a:xfrm>
            <a:off x="777240" y="1426464"/>
            <a:ext cx="1325880" cy="38100"/>
          </a:xfrm>
          <a:prstGeom prst="rect">
            <a:avLst/>
          </a:prstGeom>
          <a:solidFill>
            <a:srgbClr val="C810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2103120" y="1435608"/>
            <a:ext cx="9311335" cy="12700"/>
          </a:xfrm>
          <a:prstGeom prst="rect">
            <a:avLst/>
          </a:prstGeom>
          <a:solidFill>
            <a:srgbClr val="D3DAE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77240" y="1755648"/>
            <a:ext cx="10637215" cy="42062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marL="292608" indent="-292608">
              <a:lnSpc>
                <a:spcPct val="112000"/>
              </a:lnSpc>
              <a:spcAft>
                <a:spcPts val="1200"/>
              </a:spcAft>
              <a:buClr>
                <a:srgbClr val="C8102E"/>
              </a:buClr>
              <a:buSzPct val="85000"/>
              <a:buFont typeface="Segoe UI"/>
              <a:buChar char="▪"/>
            </a:pPr>
            <a:r>
              <a:rPr sz="2400" b="1">
                <a:solidFill>
                  <a:srgbClr val="12355B"/>
                </a:solidFill>
                <a:latin typeface="Segoe UI"/>
                <a:ea typeface="Segoe UI"/>
                <a:cs typeface="Segoe UI"/>
              </a:rPr>
              <a:t>Biểu đồ tần suất</a:t>
            </a:r>
            <a:r>
              <a:rPr sz="2400">
                <a:solidFill>
                  <a:srgbClr val="1F2430"/>
                </a:solidFill>
                <a:latin typeface="Segoe UI"/>
                <a:ea typeface="Segoe UI"/>
                <a:cs typeface="Segoe UI"/>
              </a:rPr>
              <a:t>: điểm rơi vào ô rỗng hoặc ô rất thưa là dị biệt</a:t>
            </a:r>
          </a:p>
          <a:p>
            <a:pPr marL="676656" indent="-292608">
              <a:lnSpc>
                <a:spcPct val="112000"/>
              </a:lnSpc>
              <a:spcAft>
                <a:spcPts val="700"/>
              </a:spcAft>
              <a:buClr>
                <a:srgbClr val="5B6673"/>
              </a:buClr>
              <a:buSzPct val="85000"/>
              <a:buFont typeface="Segoe UI"/>
              <a:buChar char="–"/>
            </a:pPr>
            <a:r>
              <a:rPr sz="2000">
                <a:solidFill>
                  <a:srgbClr val="5B6673"/>
                </a:solidFill>
                <a:latin typeface="Segoe UI"/>
                <a:ea typeface="Segoe UI"/>
                <a:cs typeface="Segoe UI"/>
              </a:rPr>
              <a:t>Khó chọn độ rộng ô: hẹp quá báo nhầm, rộng quá bỏ sót</a:t>
            </a:r>
          </a:p>
          <a:p>
            <a:pPr marL="292608" indent="-292608">
              <a:lnSpc>
                <a:spcPct val="112000"/>
              </a:lnSpc>
              <a:spcAft>
                <a:spcPts val="1200"/>
              </a:spcAft>
              <a:buClr>
                <a:srgbClr val="C8102E"/>
              </a:buClr>
              <a:buSzPct val="85000"/>
              <a:buFont typeface="Segoe UI"/>
              <a:buChar char="▪"/>
            </a:pPr>
            <a:r>
              <a:rPr sz="2400" b="1">
                <a:solidFill>
                  <a:srgbClr val="12355B"/>
                </a:solidFill>
                <a:latin typeface="Segoe UI"/>
                <a:ea typeface="Segoe UI"/>
                <a:cs typeface="Segoe UI"/>
              </a:rPr>
              <a:t>Ước lượng mật độ hạt nhân</a:t>
            </a:r>
            <a:r>
              <a:rPr sz="2400">
                <a:solidFill>
                  <a:srgbClr val="1F2430"/>
                </a:solidFill>
                <a:latin typeface="Segoe UI"/>
                <a:ea typeface="Segoe UI"/>
                <a:cs typeface="Segoe UI"/>
              </a:rPr>
              <a:t> cho đường mật độ trơn hơn</a:t>
            </a:r>
          </a:p>
          <a:p>
            <a:pPr marL="292608" indent="-292608">
              <a:lnSpc>
                <a:spcPct val="112000"/>
              </a:lnSpc>
              <a:spcAft>
                <a:spcPts val="1200"/>
              </a:spcAft>
              <a:buClr>
                <a:srgbClr val="C8102E"/>
              </a:buClr>
              <a:buSzPct val="85000"/>
              <a:buFont typeface="Segoe UI"/>
              <a:buChar char="▪"/>
            </a:pPr>
            <a:r>
              <a:rPr sz="2400">
                <a:solidFill>
                  <a:srgbClr val="1F2430"/>
                </a:solidFill>
                <a:latin typeface="Segoe UI"/>
                <a:ea typeface="Segoe UI"/>
                <a:cs typeface="Segoe UI"/>
              </a:rPr>
              <a:t>Ưu điểm: kết luận có cơ sở thống kê rõ ràng</a:t>
            </a:r>
          </a:p>
          <a:p>
            <a:pPr marL="292608" indent="-292608">
              <a:lnSpc>
                <a:spcPct val="112000"/>
              </a:lnSpc>
              <a:spcAft>
                <a:spcPts val="1200"/>
              </a:spcAft>
              <a:buClr>
                <a:srgbClr val="C8102E"/>
              </a:buClr>
              <a:buSzPct val="85000"/>
              <a:buFont typeface="Segoe UI"/>
              <a:buChar char="▪"/>
            </a:pPr>
            <a:r>
              <a:rPr sz="2400">
                <a:solidFill>
                  <a:srgbClr val="1F2430"/>
                </a:solidFill>
                <a:latin typeface="Segoe UI"/>
                <a:ea typeface="Segoe UI"/>
                <a:cs typeface="Segoe UI"/>
              </a:rPr>
              <a:t>Hạn chế: kém hiệu quả trên dữ liệu nhiều chiều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77240" y="6272784"/>
            <a:ext cx="7658794" cy="29260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100" b="0" i="0">
                <a:solidFill>
                  <a:srgbClr val="5B6673"/>
                </a:solidFill>
                <a:latin typeface="Segoe UI"/>
                <a:ea typeface="Segoe UI"/>
                <a:cs typeface="Segoe UI"/>
              </a:rPr>
              <a:t>INT1422 · Bài 13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951415" y="6272784"/>
            <a:ext cx="1463040" cy="29260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100" b="0" i="0">
                <a:solidFill>
                  <a:srgbClr val="5B6673"/>
                </a:solidFill>
                <a:latin typeface="Segoe UI"/>
                <a:ea typeface="Segoe UI"/>
                <a:cs typeface="Segoe UI"/>
              </a:rPr>
              <a:t>19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77240" y="6035040"/>
            <a:ext cx="10637215" cy="31089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200" b="0" i="1">
                <a:solidFill>
                  <a:srgbClr val="5B6673"/>
                </a:solidFill>
                <a:latin typeface="Segoe UI"/>
                <a:ea typeface="Segoe UI"/>
                <a:cs typeface="Segoe UI"/>
              </a:rPr>
              <a:t>Nguồn: Han, Kamber &amp; Pei (2022), Data Mining: Concepts and Techniques, 4th ed., Morgan Kaufmann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2355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914400" y="2240280"/>
            <a:ext cx="10637215" cy="21945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1200"/>
              </a:spcAft>
            </a:pPr>
            <a:r>
              <a:rPr sz="2200" b="1" i="0">
                <a:solidFill>
                  <a:srgbClr val="F29AA8"/>
                </a:solidFill>
                <a:latin typeface="Segoe UI"/>
                <a:ea typeface="Segoe UI"/>
                <a:cs typeface="Segoe UI"/>
              </a:rPr>
              <a:t>03</a:t>
            </a:r>
          </a:p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4000" b="1" i="0">
                <a:solidFill>
                  <a:srgbClr val="FFFFFF"/>
                </a:solidFill>
                <a:latin typeface="Segoe UI"/>
                <a:ea typeface="Segoe UI"/>
                <a:cs typeface="Segoe UI"/>
              </a:rPr>
              <a:t>Phương pháp dựa trên lân cận</a:t>
            </a:r>
          </a:p>
        </p:txBody>
      </p:sp>
      <p:sp>
        <p:nvSpPr>
          <p:cNvPr id="4" name="Rectangle 3"/>
          <p:cNvSpPr/>
          <p:nvPr/>
        </p:nvSpPr>
        <p:spPr>
          <a:xfrm>
            <a:off x="914400" y="4526280"/>
            <a:ext cx="2011680" cy="38100"/>
          </a:xfrm>
          <a:prstGeom prst="rect">
            <a:avLst/>
          </a:prstGeom>
          <a:solidFill>
            <a:srgbClr val="C810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914400" y="4800600"/>
            <a:ext cx="9722815" cy="8229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800" b="0" i="0">
                <a:solidFill>
                  <a:srgbClr val="C5D2E2"/>
                </a:solidFill>
                <a:latin typeface="Segoe UI"/>
                <a:ea typeface="Segoe UI"/>
                <a:cs typeface="Segoe UI"/>
              </a:rPr>
              <a:t>Đối tượng xa mọi láng giềng thì đáng ngờ</a:t>
            </a: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77240" y="384048"/>
            <a:ext cx="10637215" cy="960120"/>
          </a:xfrm>
          <a:prstGeom prst="rect">
            <a:avLst/>
          </a:prstGeom>
          <a:noFill/>
        </p:spPr>
        <p:txBody>
          <a:bodyPr wrap="square" lIns="0" rIns="0" tIns="0" bIns="0" anchor="b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3400" b="1" i="0">
                <a:solidFill>
                  <a:srgbClr val="12355B"/>
                </a:solidFill>
                <a:latin typeface="Segoe UI"/>
                <a:ea typeface="Segoe UI"/>
                <a:cs typeface="Segoe UI"/>
              </a:rPr>
              <a:t>Dị biệt dựa trên khoảng cách</a:t>
            </a:r>
          </a:p>
        </p:txBody>
      </p:sp>
      <p:sp>
        <p:nvSpPr>
          <p:cNvPr id="3" name="Rectangle 2"/>
          <p:cNvSpPr/>
          <p:nvPr/>
        </p:nvSpPr>
        <p:spPr>
          <a:xfrm>
            <a:off x="777240" y="1426464"/>
            <a:ext cx="1325880" cy="38100"/>
          </a:xfrm>
          <a:prstGeom prst="rect">
            <a:avLst/>
          </a:prstGeom>
          <a:solidFill>
            <a:srgbClr val="C810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2103120" y="1435608"/>
            <a:ext cx="9311335" cy="12700"/>
          </a:xfrm>
          <a:prstGeom prst="rect">
            <a:avLst/>
          </a:prstGeom>
          <a:solidFill>
            <a:srgbClr val="D3DAE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777240" y="1755648"/>
            <a:ext cx="10637215" cy="1234440"/>
          </a:xfrm>
          <a:prstGeom prst="roundRect">
            <a:avLst>
              <a:gd name="adj" fmla="val 8000"/>
            </a:avLst>
          </a:prstGeom>
          <a:solidFill>
            <a:srgbClr val="EEF2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46304" rIns="146304" tIns="91440" bIns="91440"/>
          <a:lstStyle/>
          <a:p>
            <a:pPr algn="ctr"/>
            <a:r>
              <a:rPr sz="2600" b="1">
                <a:solidFill>
                  <a:srgbClr val="12355B"/>
                </a:solidFill>
                <a:latin typeface="Consolas"/>
                <a:ea typeface="Consolas"/>
                <a:cs typeface="Consolas"/>
              </a:rPr>
              <a:t>o là DB(r, π)-dị biệt  ⇔  ‖{o′ : dist(o, o′) ≤ r}‖ / ‖D‖ ≤ π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77240" y="3282696"/>
            <a:ext cx="10637215" cy="2606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marL="292608" indent="-292608">
              <a:lnSpc>
                <a:spcPct val="112000"/>
              </a:lnSpc>
              <a:spcAft>
                <a:spcPts val="1000"/>
              </a:spcAft>
              <a:buClr>
                <a:srgbClr val="C8102E"/>
              </a:buClr>
              <a:buSzPct val="85000"/>
              <a:buFont typeface="Segoe UI"/>
              <a:buChar char="▪"/>
            </a:pPr>
            <a:r>
              <a:rPr sz="2400">
                <a:solidFill>
                  <a:srgbClr val="1F2430"/>
                </a:solidFill>
                <a:latin typeface="Segoe UI"/>
                <a:ea typeface="Segoe UI"/>
                <a:cs typeface="Segoe UI"/>
              </a:rPr>
              <a:t>r là bán kính lân cận, π là ngưỡng tỉ lệ do người dùng chọn</a:t>
            </a:r>
          </a:p>
          <a:p>
            <a:pPr marL="292608" indent="-292608">
              <a:lnSpc>
                <a:spcPct val="112000"/>
              </a:lnSpc>
              <a:spcAft>
                <a:spcPts val="1000"/>
              </a:spcAft>
              <a:buClr>
                <a:srgbClr val="C8102E"/>
              </a:buClr>
              <a:buSzPct val="85000"/>
              <a:buFont typeface="Segoe UI"/>
              <a:buChar char="▪"/>
            </a:pPr>
            <a:r>
              <a:rPr sz="2400">
                <a:solidFill>
                  <a:srgbClr val="1F2430"/>
                </a:solidFill>
                <a:latin typeface="Segoe UI"/>
                <a:ea typeface="Segoe UI"/>
                <a:cs typeface="Segoe UI"/>
              </a:rPr>
              <a:t>Đếm số điểm trong bán kính r quanh o</a:t>
            </a:r>
          </a:p>
          <a:p>
            <a:pPr marL="292608" indent="-292608">
              <a:lnSpc>
                <a:spcPct val="112000"/>
              </a:lnSpc>
              <a:spcAft>
                <a:spcPts val="1000"/>
              </a:spcAft>
              <a:buClr>
                <a:srgbClr val="C8102E"/>
              </a:buClr>
              <a:buSzPct val="85000"/>
              <a:buFont typeface="Segoe UI"/>
              <a:buChar char="▪"/>
            </a:pPr>
            <a:r>
              <a:rPr sz="2400">
                <a:solidFill>
                  <a:srgbClr val="1F2430"/>
                </a:solidFill>
                <a:latin typeface="Segoe UI"/>
                <a:ea typeface="Segoe UI"/>
                <a:cs typeface="Segoe UI"/>
              </a:rPr>
              <a:t>Quá ít láng giềng so với cả tập thì o là dị biệt</a:t>
            </a:r>
          </a:p>
          <a:p>
            <a:pPr marL="292608" indent="-292608">
              <a:lnSpc>
                <a:spcPct val="112000"/>
              </a:lnSpc>
              <a:spcAft>
                <a:spcPts val="1000"/>
              </a:spcAft>
              <a:buClr>
                <a:srgbClr val="C8102E"/>
              </a:buClr>
              <a:buSzPct val="85000"/>
              <a:buFont typeface="Segoe UI"/>
              <a:buChar char="▪"/>
            </a:pPr>
            <a:r>
              <a:rPr sz="2400">
                <a:solidFill>
                  <a:srgbClr val="1F2430"/>
                </a:solidFill>
                <a:latin typeface="Segoe UI"/>
                <a:ea typeface="Segoe UI"/>
                <a:cs typeface="Segoe UI"/>
              </a:rPr>
              <a:t>Cài đặt ngây thơ tốn O(n²); dùng lưới ô hoặc chỉ mục để tăng tốc</a:t>
            </a:r>
          </a:p>
          <a:p>
            <a:pPr marL="292608" indent="-292608">
              <a:lnSpc>
                <a:spcPct val="112000"/>
              </a:lnSpc>
              <a:spcAft>
                <a:spcPts val="1000"/>
              </a:spcAft>
              <a:buClr>
                <a:srgbClr val="C8102E"/>
              </a:buClr>
              <a:buSzPct val="85000"/>
              <a:buFont typeface="Segoe UI"/>
              <a:buChar char="▪"/>
            </a:pPr>
            <a:r>
              <a:rPr sz="2400">
                <a:solidFill>
                  <a:srgbClr val="1F2430"/>
                </a:solidFill>
                <a:latin typeface="Segoe UI"/>
                <a:ea typeface="Segoe UI"/>
                <a:cs typeface="Segoe UI"/>
              </a:rPr>
              <a:t>Hạn chế: một bán kính r chung cho mọi vùng mật độ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77240" y="6272784"/>
            <a:ext cx="7658794" cy="29260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100" b="0" i="0">
                <a:solidFill>
                  <a:srgbClr val="5B6673"/>
                </a:solidFill>
                <a:latin typeface="Segoe UI"/>
                <a:ea typeface="Segoe UI"/>
                <a:cs typeface="Segoe UI"/>
              </a:rPr>
              <a:t>INT1422 · Bài 13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951415" y="6272784"/>
            <a:ext cx="1463040" cy="29260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100" b="0" i="0">
                <a:solidFill>
                  <a:srgbClr val="5B6673"/>
                </a:solidFill>
                <a:latin typeface="Segoe UI"/>
                <a:ea typeface="Segoe UI"/>
                <a:cs typeface="Segoe UI"/>
              </a:rPr>
              <a:t>21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77240" y="6035040"/>
            <a:ext cx="10637215" cy="31089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200" b="0" i="1">
                <a:solidFill>
                  <a:srgbClr val="5B6673"/>
                </a:solidFill>
                <a:latin typeface="Segoe UI"/>
                <a:ea typeface="Segoe UI"/>
                <a:cs typeface="Segoe UI"/>
              </a:rPr>
              <a:t>Nguồn: Han, Kamber &amp; Pei (2022), Data Mining: Concepts and Techniques, 4th ed., Morgan Kaufmann</a:t>
            </a: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77240" y="384048"/>
            <a:ext cx="10637215" cy="960120"/>
          </a:xfrm>
          <a:prstGeom prst="rect">
            <a:avLst/>
          </a:prstGeom>
          <a:noFill/>
        </p:spPr>
        <p:txBody>
          <a:bodyPr wrap="square" lIns="0" rIns="0" tIns="0" bIns="0" anchor="b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3400" b="1" i="0">
                <a:solidFill>
                  <a:srgbClr val="12355B"/>
                </a:solidFill>
                <a:latin typeface="Segoe UI"/>
                <a:ea typeface="Segoe UI"/>
                <a:cs typeface="Segoe UI"/>
              </a:rPr>
              <a:t>Dị biệt cục bộ: vì sao khoảng cách là chưa đủ</a:t>
            </a:r>
          </a:p>
        </p:txBody>
      </p:sp>
      <p:sp>
        <p:nvSpPr>
          <p:cNvPr id="3" name="Rectangle 2"/>
          <p:cNvSpPr/>
          <p:nvPr/>
        </p:nvSpPr>
        <p:spPr>
          <a:xfrm>
            <a:off x="777240" y="1426464"/>
            <a:ext cx="1325880" cy="38100"/>
          </a:xfrm>
          <a:prstGeom prst="rect">
            <a:avLst/>
          </a:prstGeom>
          <a:solidFill>
            <a:srgbClr val="C810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2103120" y="1435608"/>
            <a:ext cx="9311335" cy="12700"/>
          </a:xfrm>
          <a:prstGeom prst="rect">
            <a:avLst/>
          </a:prstGeom>
          <a:solidFill>
            <a:srgbClr val="D3DAE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77240" y="1700784"/>
            <a:ext cx="10637215" cy="457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2200" b="0" i="0">
                <a:solidFill>
                  <a:srgbClr val="5B6673"/>
                </a:solidFill>
                <a:latin typeface="Segoe UI"/>
                <a:ea typeface="Segoe UI"/>
                <a:cs typeface="Segoe UI"/>
              </a:rPr>
              <a:t>C1 dày đặc, C2 thưa thớt</a:t>
            </a:r>
          </a:p>
        </p:txBody>
      </p:sp>
      <p:sp>
        <p:nvSpPr>
          <p:cNvPr id="6" name="Rectangle 5"/>
          <p:cNvSpPr/>
          <p:nvPr/>
        </p:nvSpPr>
        <p:spPr>
          <a:xfrm>
            <a:off x="3626967" y="2761488"/>
            <a:ext cx="5852160" cy="1572768"/>
          </a:xfrm>
          <a:prstGeom prst="rect">
            <a:avLst/>
          </a:prstGeom>
          <a:solidFill>
            <a:srgbClr val="F7F9FC"/>
          </a:solidFill>
          <a:ln w="12700">
            <a:solidFill>
              <a:srgbClr val="D3DAE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7" name="Connector 6"/>
          <p:cNvCxnSpPr/>
          <p:nvPr/>
        </p:nvCxnSpPr>
        <p:spPr>
          <a:xfrm>
            <a:off x="5090007" y="2761488"/>
            <a:ext cx="0" cy="1572768"/>
          </a:xfrm>
          <a:prstGeom prst="line">
            <a:avLst/>
          </a:prstGeom>
          <a:ln w="10160">
            <a:solidFill>
              <a:srgbClr val="D3DAE3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" name="Connector 7"/>
          <p:cNvCxnSpPr/>
          <p:nvPr/>
        </p:nvCxnSpPr>
        <p:spPr>
          <a:xfrm>
            <a:off x="3626967" y="3154680"/>
            <a:ext cx="5852160" cy="0"/>
          </a:xfrm>
          <a:prstGeom prst="line">
            <a:avLst/>
          </a:prstGeom>
          <a:ln w="10160">
            <a:solidFill>
              <a:srgbClr val="D3DAE3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" name="Connector 8"/>
          <p:cNvCxnSpPr/>
          <p:nvPr/>
        </p:nvCxnSpPr>
        <p:spPr>
          <a:xfrm>
            <a:off x="6553047" y="2761488"/>
            <a:ext cx="0" cy="1572768"/>
          </a:xfrm>
          <a:prstGeom prst="line">
            <a:avLst/>
          </a:prstGeom>
          <a:ln w="10160">
            <a:solidFill>
              <a:srgbClr val="D3DAE3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" name="Connector 9"/>
          <p:cNvCxnSpPr/>
          <p:nvPr/>
        </p:nvCxnSpPr>
        <p:spPr>
          <a:xfrm>
            <a:off x="3626967" y="3547872"/>
            <a:ext cx="5852160" cy="0"/>
          </a:xfrm>
          <a:prstGeom prst="line">
            <a:avLst/>
          </a:prstGeom>
          <a:ln w="10160">
            <a:solidFill>
              <a:srgbClr val="D3DAE3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" name="Connector 10"/>
          <p:cNvCxnSpPr/>
          <p:nvPr/>
        </p:nvCxnSpPr>
        <p:spPr>
          <a:xfrm>
            <a:off x="8016087" y="2761488"/>
            <a:ext cx="0" cy="1572768"/>
          </a:xfrm>
          <a:prstGeom prst="line">
            <a:avLst/>
          </a:prstGeom>
          <a:ln w="10160">
            <a:solidFill>
              <a:srgbClr val="D3DAE3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2" name="Connector 11"/>
          <p:cNvCxnSpPr/>
          <p:nvPr/>
        </p:nvCxnSpPr>
        <p:spPr>
          <a:xfrm>
            <a:off x="3626967" y="3941064"/>
            <a:ext cx="5852160" cy="0"/>
          </a:xfrm>
          <a:prstGeom prst="line">
            <a:avLst/>
          </a:prstGeom>
          <a:ln w="10160">
            <a:solidFill>
              <a:srgbClr val="D3DAE3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3" name="TextBox 12"/>
          <p:cNvSpPr txBox="1"/>
          <p:nvPr/>
        </p:nvSpPr>
        <p:spPr>
          <a:xfrm>
            <a:off x="777240" y="3264408"/>
            <a:ext cx="786384" cy="56692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r">
              <a:lnSpc>
                <a:spcPct val="108000"/>
              </a:lnSpc>
              <a:spcBef>
                <a:spcPts val="0"/>
              </a:spcBef>
              <a:spcAft>
                <a:spcPts val="0"/>
              </a:spcAft>
            </a:pPr>
            <a:r>
              <a:rPr sz="1600" b="0" i="0">
                <a:solidFill>
                  <a:srgbClr val="5B6673"/>
                </a:solidFill>
                <a:latin typeface="Segoe UI"/>
                <a:ea typeface="Segoe UI"/>
                <a:cs typeface="Segoe UI"/>
              </a:rPr>
              <a:t>y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626967" y="4425696"/>
            <a:ext cx="5852160" cy="32918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08000"/>
              </a:lnSpc>
              <a:spcBef>
                <a:spcPts val="0"/>
              </a:spcBef>
              <a:spcAft>
                <a:spcPts val="0"/>
              </a:spcAft>
            </a:pPr>
            <a:r>
              <a:rPr sz="1600" b="0" i="0">
                <a:solidFill>
                  <a:srgbClr val="5B6673"/>
                </a:solidFill>
                <a:latin typeface="Segoe UI"/>
                <a:ea typeface="Segoe UI"/>
                <a:cs typeface="Segoe UI"/>
              </a:rPr>
              <a:t>x</a:t>
            </a:r>
          </a:p>
        </p:txBody>
      </p:sp>
      <p:sp>
        <p:nvSpPr>
          <p:cNvPr id="15" name="Oval 14"/>
          <p:cNvSpPr/>
          <p:nvPr/>
        </p:nvSpPr>
        <p:spPr>
          <a:xfrm>
            <a:off x="4297885" y="3196540"/>
            <a:ext cx="192024" cy="192024"/>
          </a:xfrm>
          <a:prstGeom prst="ellipse">
            <a:avLst/>
          </a:prstGeom>
          <a:solidFill>
            <a:srgbClr val="12355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Oval 15"/>
          <p:cNvSpPr/>
          <p:nvPr/>
        </p:nvSpPr>
        <p:spPr>
          <a:xfrm>
            <a:off x="4413040" y="3162497"/>
            <a:ext cx="192024" cy="192024"/>
          </a:xfrm>
          <a:prstGeom prst="ellipse">
            <a:avLst/>
          </a:prstGeom>
          <a:solidFill>
            <a:srgbClr val="12355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Oval 16"/>
          <p:cNvSpPr/>
          <p:nvPr/>
        </p:nvSpPr>
        <p:spPr>
          <a:xfrm>
            <a:off x="4528194" y="3213561"/>
            <a:ext cx="192024" cy="192024"/>
          </a:xfrm>
          <a:prstGeom prst="ellipse">
            <a:avLst/>
          </a:prstGeom>
          <a:solidFill>
            <a:srgbClr val="12355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Oval 17"/>
          <p:cNvSpPr/>
          <p:nvPr/>
        </p:nvSpPr>
        <p:spPr>
          <a:xfrm>
            <a:off x="4355462" y="3247604"/>
            <a:ext cx="192024" cy="192024"/>
          </a:xfrm>
          <a:prstGeom prst="ellipse">
            <a:avLst/>
          </a:prstGeom>
          <a:solidFill>
            <a:srgbClr val="12355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Oval 18"/>
          <p:cNvSpPr/>
          <p:nvPr/>
        </p:nvSpPr>
        <p:spPr>
          <a:xfrm>
            <a:off x="4470617" y="3128455"/>
            <a:ext cx="192024" cy="192024"/>
          </a:xfrm>
          <a:prstGeom prst="ellipse">
            <a:avLst/>
          </a:prstGeom>
          <a:solidFill>
            <a:srgbClr val="12355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Oval 19"/>
          <p:cNvSpPr/>
          <p:nvPr/>
        </p:nvSpPr>
        <p:spPr>
          <a:xfrm>
            <a:off x="4643349" y="3179519"/>
            <a:ext cx="192024" cy="192024"/>
          </a:xfrm>
          <a:prstGeom prst="ellipse">
            <a:avLst/>
          </a:prstGeom>
          <a:solidFill>
            <a:srgbClr val="12355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Oval 20"/>
          <p:cNvSpPr/>
          <p:nvPr/>
        </p:nvSpPr>
        <p:spPr>
          <a:xfrm>
            <a:off x="4240308" y="3145476"/>
            <a:ext cx="192024" cy="192024"/>
          </a:xfrm>
          <a:prstGeom prst="ellipse">
            <a:avLst/>
          </a:prstGeom>
          <a:solidFill>
            <a:srgbClr val="12355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Oval 21"/>
          <p:cNvSpPr/>
          <p:nvPr/>
        </p:nvSpPr>
        <p:spPr>
          <a:xfrm>
            <a:off x="4585772" y="3247604"/>
            <a:ext cx="192024" cy="192024"/>
          </a:xfrm>
          <a:prstGeom prst="ellipse">
            <a:avLst/>
          </a:prstGeom>
          <a:solidFill>
            <a:srgbClr val="12355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Oval 22"/>
          <p:cNvSpPr/>
          <p:nvPr/>
        </p:nvSpPr>
        <p:spPr>
          <a:xfrm>
            <a:off x="5219122" y="3196540"/>
            <a:ext cx="192024" cy="192024"/>
          </a:xfrm>
          <a:prstGeom prst="ellipse">
            <a:avLst/>
          </a:prstGeom>
          <a:solidFill>
            <a:srgbClr val="C810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4894510" y="2835352"/>
            <a:ext cx="841248" cy="2743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08000"/>
              </a:lnSpc>
              <a:spcBef>
                <a:spcPts val="0"/>
              </a:spcBef>
              <a:spcAft>
                <a:spcPts val="0"/>
              </a:spcAft>
            </a:pPr>
            <a:r>
              <a:rPr sz="1500" b="0" i="0">
                <a:solidFill>
                  <a:srgbClr val="5B6673"/>
                </a:solidFill>
                <a:latin typeface="Segoe UI"/>
                <a:ea typeface="Segoe UI"/>
                <a:cs typeface="Segoe UI"/>
              </a:rPr>
              <a:t>o1</a:t>
            </a:r>
          </a:p>
        </p:txBody>
      </p:sp>
      <p:sp>
        <p:nvSpPr>
          <p:cNvPr id="25" name="Oval 24"/>
          <p:cNvSpPr/>
          <p:nvPr/>
        </p:nvSpPr>
        <p:spPr>
          <a:xfrm>
            <a:off x="6600978" y="3877392"/>
            <a:ext cx="192024" cy="192024"/>
          </a:xfrm>
          <a:prstGeom prst="ellipse">
            <a:avLst/>
          </a:prstGeom>
          <a:solidFill>
            <a:srgbClr val="2E67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Oval 25"/>
          <p:cNvSpPr/>
          <p:nvPr/>
        </p:nvSpPr>
        <p:spPr>
          <a:xfrm>
            <a:off x="7407061" y="3775264"/>
            <a:ext cx="192024" cy="192024"/>
          </a:xfrm>
          <a:prstGeom prst="ellipse">
            <a:avLst/>
          </a:prstGeom>
          <a:solidFill>
            <a:srgbClr val="2E67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Oval 26"/>
          <p:cNvSpPr/>
          <p:nvPr/>
        </p:nvSpPr>
        <p:spPr>
          <a:xfrm>
            <a:off x="6946442" y="3605051"/>
            <a:ext cx="192024" cy="192024"/>
          </a:xfrm>
          <a:prstGeom prst="ellipse">
            <a:avLst/>
          </a:prstGeom>
          <a:solidFill>
            <a:srgbClr val="2E67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Oval 27"/>
          <p:cNvSpPr/>
          <p:nvPr/>
        </p:nvSpPr>
        <p:spPr>
          <a:xfrm>
            <a:off x="7752525" y="3945477"/>
            <a:ext cx="192024" cy="192024"/>
          </a:xfrm>
          <a:prstGeom prst="ellipse">
            <a:avLst/>
          </a:prstGeom>
          <a:solidFill>
            <a:srgbClr val="2E67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Oval 28"/>
          <p:cNvSpPr/>
          <p:nvPr/>
        </p:nvSpPr>
        <p:spPr>
          <a:xfrm>
            <a:off x="7176752" y="4047605"/>
            <a:ext cx="192024" cy="192024"/>
          </a:xfrm>
          <a:prstGeom prst="ellipse">
            <a:avLst/>
          </a:prstGeom>
          <a:solidFill>
            <a:srgbClr val="2E67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Oval 29"/>
          <p:cNvSpPr/>
          <p:nvPr/>
        </p:nvSpPr>
        <p:spPr>
          <a:xfrm>
            <a:off x="6370669" y="3673136"/>
            <a:ext cx="192024" cy="192024"/>
          </a:xfrm>
          <a:prstGeom prst="ellipse">
            <a:avLst/>
          </a:prstGeom>
          <a:solidFill>
            <a:srgbClr val="2E67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Oval 30"/>
          <p:cNvSpPr/>
          <p:nvPr/>
        </p:nvSpPr>
        <p:spPr>
          <a:xfrm>
            <a:off x="7982834" y="3707179"/>
            <a:ext cx="192024" cy="192024"/>
          </a:xfrm>
          <a:prstGeom prst="ellipse">
            <a:avLst/>
          </a:prstGeom>
          <a:solidFill>
            <a:srgbClr val="2E67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Oval 31"/>
          <p:cNvSpPr/>
          <p:nvPr/>
        </p:nvSpPr>
        <p:spPr>
          <a:xfrm>
            <a:off x="8673762" y="2856114"/>
            <a:ext cx="192024" cy="192024"/>
          </a:xfrm>
          <a:prstGeom prst="ellipse">
            <a:avLst/>
          </a:prstGeom>
          <a:solidFill>
            <a:srgbClr val="C810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8349150" y="2494926"/>
            <a:ext cx="841248" cy="2743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08000"/>
              </a:lnSpc>
              <a:spcBef>
                <a:spcPts val="0"/>
              </a:spcBef>
              <a:spcAft>
                <a:spcPts val="0"/>
              </a:spcAft>
            </a:pPr>
            <a:r>
              <a:rPr sz="1500" b="0" i="0">
                <a:solidFill>
                  <a:srgbClr val="5B6673"/>
                </a:solidFill>
                <a:latin typeface="Segoe UI"/>
                <a:ea typeface="Segoe UI"/>
                <a:cs typeface="Segoe UI"/>
              </a:rPr>
              <a:t>o2</a:t>
            </a:r>
          </a:p>
        </p:txBody>
      </p:sp>
      <p:sp>
        <p:nvSpPr>
          <p:cNvPr id="34" name="Oval 33"/>
          <p:cNvSpPr/>
          <p:nvPr/>
        </p:nvSpPr>
        <p:spPr>
          <a:xfrm>
            <a:off x="1158087" y="4992624"/>
            <a:ext cx="182880" cy="182880"/>
          </a:xfrm>
          <a:prstGeom prst="ellipse">
            <a:avLst/>
          </a:prstGeom>
          <a:solidFill>
            <a:srgbClr val="12355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1432407" y="4846320"/>
            <a:ext cx="2944368" cy="47548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8000"/>
              </a:lnSpc>
              <a:spcBef>
                <a:spcPts val="0"/>
              </a:spcBef>
              <a:spcAft>
                <a:spcPts val="0"/>
              </a:spcAft>
            </a:pPr>
            <a:r>
              <a:rPr sz="1600" b="0" i="0">
                <a:solidFill>
                  <a:srgbClr val="1F2430"/>
                </a:solidFill>
                <a:latin typeface="Segoe UI"/>
                <a:ea typeface="Segoe UI"/>
                <a:cs typeface="Segoe UI"/>
              </a:rPr>
              <a:t>Cụm C1</a:t>
            </a:r>
          </a:p>
        </p:txBody>
      </p:sp>
      <p:sp>
        <p:nvSpPr>
          <p:cNvPr id="36" name="Oval 35"/>
          <p:cNvSpPr/>
          <p:nvPr/>
        </p:nvSpPr>
        <p:spPr>
          <a:xfrm>
            <a:off x="4449927" y="4992624"/>
            <a:ext cx="182880" cy="182880"/>
          </a:xfrm>
          <a:prstGeom prst="ellipse">
            <a:avLst/>
          </a:prstGeom>
          <a:solidFill>
            <a:srgbClr val="C810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4724247" y="4846320"/>
            <a:ext cx="2944368" cy="47548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8000"/>
              </a:lnSpc>
              <a:spcBef>
                <a:spcPts val="0"/>
              </a:spcBef>
              <a:spcAft>
                <a:spcPts val="0"/>
              </a:spcAft>
            </a:pPr>
            <a:r>
              <a:rPr sz="1600" b="0" i="0">
                <a:solidFill>
                  <a:srgbClr val="1F2430"/>
                </a:solidFill>
                <a:latin typeface="Segoe UI"/>
                <a:ea typeface="Segoe UI"/>
                <a:cs typeface="Segoe UI"/>
              </a:rPr>
              <a:t>Dị biệt</a:t>
            </a:r>
          </a:p>
        </p:txBody>
      </p:sp>
      <p:sp>
        <p:nvSpPr>
          <p:cNvPr id="38" name="Oval 37"/>
          <p:cNvSpPr/>
          <p:nvPr/>
        </p:nvSpPr>
        <p:spPr>
          <a:xfrm>
            <a:off x="7741767" y="4992624"/>
            <a:ext cx="182880" cy="182880"/>
          </a:xfrm>
          <a:prstGeom prst="ellipse">
            <a:avLst/>
          </a:prstGeom>
          <a:solidFill>
            <a:srgbClr val="2E67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8016087" y="4846320"/>
            <a:ext cx="2944368" cy="47548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8000"/>
              </a:lnSpc>
              <a:spcBef>
                <a:spcPts val="0"/>
              </a:spcBef>
              <a:spcAft>
                <a:spcPts val="0"/>
              </a:spcAft>
            </a:pPr>
            <a:r>
              <a:rPr sz="1600" b="0" i="0">
                <a:solidFill>
                  <a:srgbClr val="1F2430"/>
                </a:solidFill>
                <a:latin typeface="Segoe UI"/>
                <a:ea typeface="Segoe UI"/>
                <a:cs typeface="Segoe UI"/>
              </a:rPr>
              <a:t>Cụm C2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777240" y="5522976"/>
            <a:ext cx="10637215" cy="530351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marL="292608" indent="-292608">
              <a:lnSpc>
                <a:spcPct val="112000"/>
              </a:lnSpc>
              <a:spcAft>
                <a:spcPts val="800"/>
              </a:spcAft>
              <a:buClr>
                <a:srgbClr val="C8102E"/>
              </a:buClr>
              <a:buSzPct val="85000"/>
              <a:buFont typeface="Segoe UI"/>
              <a:buChar char="▪"/>
            </a:pPr>
            <a:r>
              <a:rPr sz="2000">
                <a:solidFill>
                  <a:srgbClr val="1F2430"/>
                </a:solidFill>
                <a:latin typeface="Segoe UI"/>
                <a:ea typeface="Segoe UI"/>
                <a:cs typeface="Segoe UI"/>
              </a:rPr>
              <a:t>o1 gần C1 nhưng thưa hơn hẳn C1 — chỉ mật độ tương đối bắt được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777240" y="6272784"/>
            <a:ext cx="7658794" cy="29260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100" b="0" i="0">
                <a:solidFill>
                  <a:srgbClr val="5B6673"/>
                </a:solidFill>
                <a:latin typeface="Segoe UI"/>
                <a:ea typeface="Segoe UI"/>
                <a:cs typeface="Segoe UI"/>
              </a:rPr>
              <a:t>INT1422 · Bài 13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9951415" y="6272784"/>
            <a:ext cx="1463040" cy="29260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100" b="0" i="0">
                <a:solidFill>
                  <a:srgbClr val="5B6673"/>
                </a:solidFill>
                <a:latin typeface="Segoe UI"/>
                <a:ea typeface="Segoe UI"/>
                <a:cs typeface="Segoe UI"/>
              </a:rPr>
              <a:t>22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777240" y="6035040"/>
            <a:ext cx="10637215" cy="31089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200" b="0" i="1">
                <a:solidFill>
                  <a:srgbClr val="5B6673"/>
                </a:solidFill>
                <a:latin typeface="Segoe UI"/>
                <a:ea typeface="Segoe UI"/>
                <a:cs typeface="Segoe UI"/>
              </a:rPr>
              <a:t>Nguồn: Han, Kamber &amp; Pei (2022), Data Mining: Concepts and Techniques, 4th ed., Morgan Kaufmann</a:t>
            </a: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77240" y="384048"/>
            <a:ext cx="10637215" cy="960120"/>
          </a:xfrm>
          <a:prstGeom prst="rect">
            <a:avLst/>
          </a:prstGeom>
          <a:noFill/>
        </p:spPr>
        <p:txBody>
          <a:bodyPr wrap="square" lIns="0" rIns="0" tIns="0" bIns="0" anchor="b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3400" b="1" i="0">
                <a:solidFill>
                  <a:srgbClr val="12355B"/>
                </a:solidFill>
                <a:latin typeface="Segoe UI"/>
                <a:ea typeface="Segoe UI"/>
                <a:cs typeface="Segoe UI"/>
              </a:rPr>
              <a:t>Hệ số dị biệt cục bộ LOF</a:t>
            </a:r>
          </a:p>
        </p:txBody>
      </p:sp>
      <p:sp>
        <p:nvSpPr>
          <p:cNvPr id="3" name="Rectangle 2"/>
          <p:cNvSpPr/>
          <p:nvPr/>
        </p:nvSpPr>
        <p:spPr>
          <a:xfrm>
            <a:off x="777240" y="1426464"/>
            <a:ext cx="1325880" cy="38100"/>
          </a:xfrm>
          <a:prstGeom prst="rect">
            <a:avLst/>
          </a:prstGeom>
          <a:solidFill>
            <a:srgbClr val="C810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2103120" y="1435608"/>
            <a:ext cx="9311335" cy="12700"/>
          </a:xfrm>
          <a:prstGeom prst="rect">
            <a:avLst/>
          </a:prstGeom>
          <a:solidFill>
            <a:srgbClr val="D3DAE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777240" y="1755648"/>
            <a:ext cx="10637215" cy="1234440"/>
          </a:xfrm>
          <a:prstGeom prst="roundRect">
            <a:avLst>
              <a:gd name="adj" fmla="val 8000"/>
            </a:avLst>
          </a:prstGeom>
          <a:solidFill>
            <a:srgbClr val="EEF2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46304" rIns="146304" tIns="91440" bIns="91440"/>
          <a:lstStyle/>
          <a:p>
            <a:pPr algn="ctr"/>
            <a:r>
              <a:rPr sz="2600" b="1">
                <a:solidFill>
                  <a:srgbClr val="12355B"/>
                </a:solidFill>
                <a:latin typeface="Consolas"/>
                <a:ea typeface="Consolas"/>
                <a:cs typeface="Consolas"/>
              </a:rPr>
              <a:t>LOF_k(o) = trung bình_{o′ ∈ N_k(o)} lrd_k(o′) / lrd_k(o)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77240" y="3282696"/>
            <a:ext cx="10637215" cy="2606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marL="292608" indent="-292608">
              <a:lnSpc>
                <a:spcPct val="112000"/>
              </a:lnSpc>
              <a:spcAft>
                <a:spcPts val="1000"/>
              </a:spcAft>
              <a:buClr>
                <a:srgbClr val="C8102E"/>
              </a:buClr>
              <a:buSzPct val="85000"/>
              <a:buFont typeface="Segoe UI"/>
              <a:buChar char="▪"/>
            </a:pPr>
            <a:r>
              <a:rPr sz="2400" b="1">
                <a:solidFill>
                  <a:srgbClr val="12355B"/>
                </a:solidFill>
                <a:latin typeface="Segoe UI"/>
                <a:ea typeface="Segoe UI"/>
                <a:cs typeface="Segoe UI"/>
              </a:rPr>
              <a:t>k-dist(o)</a:t>
            </a:r>
            <a:r>
              <a:rPr sz="2400">
                <a:solidFill>
                  <a:srgbClr val="1F2430"/>
                </a:solidFill>
                <a:latin typeface="Segoe UI"/>
                <a:ea typeface="Segoe UI"/>
                <a:cs typeface="Segoe UI"/>
              </a:rPr>
              <a:t>: khoảng cách từ o tới láng giềng gần thứ k</a:t>
            </a:r>
          </a:p>
          <a:p>
            <a:pPr marL="292608" indent="-292608">
              <a:lnSpc>
                <a:spcPct val="112000"/>
              </a:lnSpc>
              <a:spcAft>
                <a:spcPts val="1000"/>
              </a:spcAft>
              <a:buClr>
                <a:srgbClr val="C8102E"/>
              </a:buClr>
              <a:buSzPct val="85000"/>
              <a:buFont typeface="Segoe UI"/>
              <a:buChar char="▪"/>
            </a:pPr>
            <a:r>
              <a:rPr sz="2400" b="1">
                <a:solidFill>
                  <a:srgbClr val="12355B"/>
                </a:solidFill>
                <a:latin typeface="Segoe UI"/>
                <a:ea typeface="Segoe UI"/>
                <a:cs typeface="Segoe UI"/>
              </a:rPr>
              <a:t>reachdist_k(o, o′) = max{ k-dist(o′), dist(o, o′) }</a:t>
            </a:r>
            <a:r>
              <a:rPr sz="2400">
                <a:solidFill>
                  <a:srgbClr val="1F2430"/>
                </a:solidFill>
                <a:latin typeface="Segoe UI"/>
                <a:ea typeface="Segoe UI"/>
                <a:cs typeface="Segoe UI"/>
              </a:rPr>
              <a:t/>
            </a:r>
          </a:p>
          <a:p>
            <a:pPr marL="292608" indent="-292608">
              <a:lnSpc>
                <a:spcPct val="112000"/>
              </a:lnSpc>
              <a:spcAft>
                <a:spcPts val="1000"/>
              </a:spcAft>
              <a:buClr>
                <a:srgbClr val="C8102E"/>
              </a:buClr>
              <a:buSzPct val="85000"/>
              <a:buFont typeface="Segoe UI"/>
              <a:buChar char="▪"/>
            </a:pPr>
            <a:r>
              <a:rPr sz="2400" b="1">
                <a:solidFill>
                  <a:srgbClr val="12355B"/>
                </a:solidFill>
                <a:latin typeface="Segoe UI"/>
                <a:ea typeface="Segoe UI"/>
                <a:cs typeface="Segoe UI"/>
              </a:rPr>
              <a:t>lrd_k(o) = |N_k(o)| / Σ reachdist_k(o, o′)</a:t>
            </a:r>
            <a:r>
              <a:rPr sz="2400">
                <a:solidFill>
                  <a:srgbClr val="1F2430"/>
                </a:solidFill>
                <a:latin typeface="Segoe UI"/>
                <a:ea typeface="Segoe UI"/>
                <a:cs typeface="Segoe UI"/>
              </a:rPr>
              <a:t>: mật độ khả đạt cục bộ</a:t>
            </a:r>
          </a:p>
          <a:p>
            <a:pPr marL="292608" indent="-292608">
              <a:lnSpc>
                <a:spcPct val="112000"/>
              </a:lnSpc>
              <a:spcAft>
                <a:spcPts val="1000"/>
              </a:spcAft>
              <a:buClr>
                <a:srgbClr val="C8102E"/>
              </a:buClr>
              <a:buSzPct val="85000"/>
              <a:buFont typeface="Segoe UI"/>
              <a:buChar char="▪"/>
            </a:pPr>
            <a:r>
              <a:rPr sz="2400">
                <a:solidFill>
                  <a:srgbClr val="1F2430"/>
                </a:solidFill>
                <a:latin typeface="Segoe UI"/>
                <a:ea typeface="Segoe UI"/>
                <a:cs typeface="Segoe UI"/>
              </a:rPr>
              <a:t>LOF ≈ 1 là bình thường; LOF ≫ 1 là dị biệt cục bộ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77240" y="6272784"/>
            <a:ext cx="7658794" cy="29260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100" b="0" i="0">
                <a:solidFill>
                  <a:srgbClr val="5B6673"/>
                </a:solidFill>
                <a:latin typeface="Segoe UI"/>
                <a:ea typeface="Segoe UI"/>
                <a:cs typeface="Segoe UI"/>
              </a:rPr>
              <a:t>INT1422 · Bài 13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951415" y="6272784"/>
            <a:ext cx="1463040" cy="29260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100" b="0" i="0">
                <a:solidFill>
                  <a:srgbClr val="5B6673"/>
                </a:solidFill>
                <a:latin typeface="Segoe UI"/>
                <a:ea typeface="Segoe UI"/>
                <a:cs typeface="Segoe UI"/>
              </a:rPr>
              <a:t>23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77240" y="6035040"/>
            <a:ext cx="10637215" cy="31089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200" b="0" i="1">
                <a:solidFill>
                  <a:srgbClr val="5B6673"/>
                </a:solidFill>
                <a:latin typeface="Segoe UI"/>
                <a:ea typeface="Segoe UI"/>
                <a:cs typeface="Segoe UI"/>
              </a:rPr>
              <a:t>Nguồn: Han, Kamber &amp; Pei (2022), Data Mining: Concepts and Techniques, 4th ed., Morgan Kaufmann</a:t>
            </a: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77240" y="384048"/>
            <a:ext cx="10637215" cy="960120"/>
          </a:xfrm>
          <a:prstGeom prst="rect">
            <a:avLst/>
          </a:prstGeom>
          <a:noFill/>
        </p:spPr>
        <p:txBody>
          <a:bodyPr wrap="square" lIns="0" rIns="0" tIns="0" bIns="0" anchor="b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3400" b="1" i="0">
                <a:solidFill>
                  <a:srgbClr val="12355B"/>
                </a:solidFill>
                <a:latin typeface="Segoe UI"/>
                <a:ea typeface="Segoe UI"/>
                <a:cs typeface="Segoe UI"/>
              </a:rPr>
              <a:t>Ví dụ tính LOF với k = 2</a:t>
            </a:r>
          </a:p>
        </p:txBody>
      </p:sp>
      <p:sp>
        <p:nvSpPr>
          <p:cNvPr id="3" name="Rectangle 2"/>
          <p:cNvSpPr/>
          <p:nvPr/>
        </p:nvSpPr>
        <p:spPr>
          <a:xfrm>
            <a:off x="777240" y="1426464"/>
            <a:ext cx="1325880" cy="38100"/>
          </a:xfrm>
          <a:prstGeom prst="rect">
            <a:avLst/>
          </a:prstGeom>
          <a:solidFill>
            <a:srgbClr val="C810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2103120" y="1435608"/>
            <a:ext cx="9311335" cy="12700"/>
          </a:xfrm>
          <a:prstGeom prst="rect">
            <a:avLst/>
          </a:prstGeom>
          <a:solidFill>
            <a:srgbClr val="D3DAE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777240" y="1755648"/>
            <a:ext cx="10637215" cy="4206240"/>
          </a:xfrm>
          <a:prstGeom prst="rect">
            <a:avLst/>
          </a:prstGeom>
          <a:solidFill>
            <a:srgbClr val="F7F9FC"/>
          </a:solidFill>
          <a:ln w="15875">
            <a:solidFill>
              <a:srgbClr val="D3DAE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46304" rIns="146304" tIns="91440" bIns="91440"/>
          <a:lstStyle/>
          <a:p/>
        </p:txBody>
      </p:sp>
      <p:sp>
        <p:nvSpPr>
          <p:cNvPr id="6" name="TextBox 5"/>
          <p:cNvSpPr txBox="1"/>
          <p:nvPr/>
        </p:nvSpPr>
        <p:spPr>
          <a:xfrm>
            <a:off x="1033271" y="1956816"/>
            <a:ext cx="10125151" cy="380390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15000"/>
              </a:lnSpc>
              <a:spcBef>
                <a:spcPts val="400"/>
              </a:spcBef>
              <a:spcAft>
                <a:spcPts val="600"/>
              </a:spcAft>
            </a:pPr>
            <a:r>
              <a:rPr sz="2400" b="1" i="0">
                <a:solidFill>
                  <a:srgbClr val="C8102E"/>
                </a:solidFill>
                <a:latin typeface="Segoe UI"/>
                <a:ea typeface="Segoe UI"/>
                <a:cs typeface="Segoe UI"/>
              </a:rPr>
              <a:t>Năm điểm trên trục số, k-dist và láng giềng</a:t>
            </a:r>
          </a:p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600"/>
              </a:spcAft>
            </a:pPr>
            <a:r>
              <a:rPr sz="2000" b="0" i="0">
                <a:solidFill>
                  <a:srgbClr val="12355B"/>
                </a:solidFill>
                <a:latin typeface="Consolas"/>
                <a:ea typeface="Consolas"/>
                <a:cs typeface="Consolas"/>
              </a:rPr>
              <a:t>A = 0   B = 1   C = 2   D = 3   E = 8</a:t>
            </a:r>
          </a:p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600"/>
              </a:spcAft>
            </a:pPr>
            <a:r>
              <a:rPr sz="2000" b="0" i="0">
                <a:solidFill>
                  <a:srgbClr val="12355B"/>
                </a:solidFill>
                <a:latin typeface="Consolas"/>
                <a:ea typeface="Consolas"/>
                <a:cs typeface="Consolas"/>
              </a:rPr>
              <a:t>k-dist: A=2  B=1  C=1  D=2  E=6       N(E) = {D, C}</a:t>
            </a:r>
          </a:p>
          <a:p>
            <a:pPr algn="l">
              <a:lnSpc>
                <a:spcPct val="115000"/>
              </a:lnSpc>
              <a:spcBef>
                <a:spcPts val="400"/>
              </a:spcBef>
              <a:spcAft>
                <a:spcPts val="600"/>
              </a:spcAft>
            </a:pPr>
            <a:r>
              <a:rPr sz="2400" b="1" i="0">
                <a:solidFill>
                  <a:srgbClr val="C8102E"/>
                </a:solidFill>
                <a:latin typeface="Segoe UI"/>
                <a:ea typeface="Segoe UI"/>
                <a:cs typeface="Segoe UI"/>
              </a:rPr>
              <a:t>Mật độ khả đạt cục bộ</a:t>
            </a:r>
          </a:p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600"/>
              </a:spcAft>
            </a:pPr>
            <a:r>
              <a:rPr sz="2000" b="0" i="0">
                <a:solidFill>
                  <a:srgbClr val="12355B"/>
                </a:solidFill>
                <a:latin typeface="Consolas"/>
                <a:ea typeface="Consolas"/>
                <a:cs typeface="Consolas"/>
              </a:rPr>
              <a:t>lrd(A..D) = 2 / (1 + 2) = 0,667</a:t>
            </a:r>
          </a:p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600"/>
              </a:spcAft>
            </a:pPr>
            <a:r>
              <a:rPr sz="2000" b="0" i="0">
                <a:solidFill>
                  <a:srgbClr val="12355B"/>
                </a:solidFill>
                <a:latin typeface="Consolas"/>
                <a:ea typeface="Consolas"/>
                <a:cs typeface="Consolas"/>
              </a:rPr>
              <a:t>lrd(E) = 2 / (max(2,5) + max(1,6)) = 2 / 11 = 0,182</a:t>
            </a:r>
          </a:p>
          <a:p>
            <a:pPr algn="l">
              <a:lnSpc>
                <a:spcPct val="115000"/>
              </a:lnSpc>
              <a:spcBef>
                <a:spcPts val="400"/>
              </a:spcBef>
              <a:spcAft>
                <a:spcPts val="600"/>
              </a:spcAft>
            </a:pPr>
            <a:r>
              <a:rPr sz="2400" b="1" i="0">
                <a:solidFill>
                  <a:srgbClr val="C8102E"/>
                </a:solidFill>
                <a:latin typeface="Segoe UI"/>
                <a:ea typeface="Segoe UI"/>
                <a:cs typeface="Segoe UI"/>
              </a:rPr>
              <a:t>LOF: E thưa gấp gần bốn lần láng giềng → dị biệt</a:t>
            </a:r>
          </a:p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600"/>
              </a:spcAft>
            </a:pPr>
            <a:r>
              <a:rPr sz="2000" b="0" i="0">
                <a:solidFill>
                  <a:srgbClr val="12355B"/>
                </a:solidFill>
                <a:latin typeface="Consolas"/>
                <a:ea typeface="Consolas"/>
                <a:cs typeface="Consolas"/>
              </a:rPr>
              <a:t>LOF(A..D) = 1,00      LOF(E) = 0,667 / 0,182 = 3,67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77240" y="6272784"/>
            <a:ext cx="7658794" cy="29260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100" b="0" i="0">
                <a:solidFill>
                  <a:srgbClr val="5B6673"/>
                </a:solidFill>
                <a:latin typeface="Segoe UI"/>
                <a:ea typeface="Segoe UI"/>
                <a:cs typeface="Segoe UI"/>
              </a:rPr>
              <a:t>INT1422 · Bài 13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951415" y="6272784"/>
            <a:ext cx="1463040" cy="29260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100" b="0" i="0">
                <a:solidFill>
                  <a:srgbClr val="5B6673"/>
                </a:solidFill>
                <a:latin typeface="Segoe UI"/>
                <a:ea typeface="Segoe UI"/>
                <a:cs typeface="Segoe UI"/>
              </a:rPr>
              <a:t>24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77240" y="6035040"/>
            <a:ext cx="10637215" cy="31089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200" b="0" i="1">
                <a:solidFill>
                  <a:srgbClr val="5B6673"/>
                </a:solidFill>
                <a:latin typeface="Segoe UI"/>
                <a:ea typeface="Segoe UI"/>
                <a:cs typeface="Segoe UI"/>
              </a:rPr>
              <a:t>Nguồn: Han, Kamber &amp; Pei (2022), Data Mining: Concepts and Techniques, 4th ed., Morgan Kaufmann</a:t>
            </a:r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2355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914400" y="2240280"/>
            <a:ext cx="10637215" cy="21945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1200"/>
              </a:spcAft>
            </a:pPr>
            <a:r>
              <a:rPr sz="2200" b="1" i="0">
                <a:solidFill>
                  <a:srgbClr val="F29AA8"/>
                </a:solidFill>
                <a:latin typeface="Segoe UI"/>
                <a:ea typeface="Segoe UI"/>
                <a:cs typeface="Segoe UI"/>
              </a:rPr>
              <a:t>04</a:t>
            </a:r>
          </a:p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4000" b="1" i="0">
                <a:solidFill>
                  <a:srgbClr val="FFFFFF"/>
                </a:solidFill>
                <a:latin typeface="Segoe UI"/>
                <a:ea typeface="Segoe UI"/>
                <a:cs typeface="Segoe UI"/>
              </a:rPr>
              <a:t>Tái tạo, phân cụm và phân loại</a:t>
            </a:r>
          </a:p>
        </p:txBody>
      </p:sp>
      <p:sp>
        <p:nvSpPr>
          <p:cNvPr id="4" name="Rectangle 3"/>
          <p:cNvSpPr/>
          <p:nvPr/>
        </p:nvSpPr>
        <p:spPr>
          <a:xfrm>
            <a:off x="914400" y="4526280"/>
            <a:ext cx="2011680" cy="38100"/>
          </a:xfrm>
          <a:prstGeom prst="rect">
            <a:avLst/>
          </a:prstGeom>
          <a:solidFill>
            <a:srgbClr val="C810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914400" y="4800600"/>
            <a:ext cx="9722815" cy="8229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800" b="0" i="0">
                <a:solidFill>
                  <a:srgbClr val="C5D2E2"/>
                </a:solidFill>
                <a:latin typeface="Segoe UI"/>
                <a:ea typeface="Segoe UI"/>
                <a:cs typeface="Segoe UI"/>
              </a:rPr>
              <a:t>Tái sử dụng các kỹ thuật khai phá đã học</a:t>
            </a:r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77240" y="384048"/>
            <a:ext cx="10637215" cy="960120"/>
          </a:xfrm>
          <a:prstGeom prst="rect">
            <a:avLst/>
          </a:prstGeom>
          <a:noFill/>
        </p:spPr>
        <p:txBody>
          <a:bodyPr wrap="square" lIns="0" rIns="0" tIns="0" bIns="0" anchor="b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3400" b="1" i="0">
                <a:solidFill>
                  <a:srgbClr val="12355B"/>
                </a:solidFill>
                <a:latin typeface="Segoe UI"/>
                <a:ea typeface="Segoe UI"/>
                <a:cs typeface="Segoe UI"/>
              </a:rPr>
              <a:t>Phương pháp dựa trên tái tạo</a:t>
            </a:r>
          </a:p>
        </p:txBody>
      </p:sp>
      <p:sp>
        <p:nvSpPr>
          <p:cNvPr id="3" name="Rectangle 2"/>
          <p:cNvSpPr/>
          <p:nvPr/>
        </p:nvSpPr>
        <p:spPr>
          <a:xfrm>
            <a:off x="777240" y="1426464"/>
            <a:ext cx="1325880" cy="38100"/>
          </a:xfrm>
          <a:prstGeom prst="rect">
            <a:avLst/>
          </a:prstGeom>
          <a:solidFill>
            <a:srgbClr val="C810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2103120" y="1435608"/>
            <a:ext cx="9311335" cy="12700"/>
          </a:xfrm>
          <a:prstGeom prst="rect">
            <a:avLst/>
          </a:prstGeom>
          <a:solidFill>
            <a:srgbClr val="D3DAE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77240" y="1755648"/>
            <a:ext cx="10637215" cy="42062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marL="292608" indent="-292608">
              <a:lnSpc>
                <a:spcPct val="112000"/>
              </a:lnSpc>
              <a:spcAft>
                <a:spcPts val="1200"/>
              </a:spcAft>
              <a:buClr>
                <a:srgbClr val="C8102E"/>
              </a:buClr>
              <a:buSzPct val="85000"/>
              <a:buFont typeface="Segoe UI"/>
              <a:buChar char="▪"/>
            </a:pPr>
            <a:r>
              <a:rPr sz="2400">
                <a:solidFill>
                  <a:srgbClr val="1F2430"/>
                </a:solidFill>
                <a:latin typeface="Segoe UI"/>
                <a:ea typeface="Segoe UI"/>
                <a:cs typeface="Segoe UI"/>
              </a:rPr>
              <a:t>Dữ liệu bình thường giống nhau nên biểu diễn gọn được</a:t>
            </a:r>
          </a:p>
          <a:p>
            <a:pPr marL="292608" indent="-292608">
              <a:lnSpc>
                <a:spcPct val="112000"/>
              </a:lnSpc>
              <a:spcAft>
                <a:spcPts val="1200"/>
              </a:spcAft>
              <a:buClr>
                <a:srgbClr val="C8102E"/>
              </a:buClr>
              <a:buSzPct val="85000"/>
              <a:buFont typeface="Segoe UI"/>
              <a:buChar char="▪"/>
            </a:pPr>
            <a:r>
              <a:rPr sz="2400">
                <a:solidFill>
                  <a:srgbClr val="1F2430"/>
                </a:solidFill>
                <a:latin typeface="Segoe UI"/>
                <a:ea typeface="Segoe UI"/>
                <a:cs typeface="Segoe UI"/>
              </a:rPr>
              <a:t>Biểu diễn mỗi mẫu bằng vector; cả tập là ma trận X</a:t>
            </a:r>
          </a:p>
          <a:p>
            <a:pPr marL="292608" indent="-292608">
              <a:lnSpc>
                <a:spcPct val="112000"/>
              </a:lnSpc>
              <a:spcAft>
                <a:spcPts val="1200"/>
              </a:spcAft>
              <a:buClr>
                <a:srgbClr val="C8102E"/>
              </a:buClr>
              <a:buSzPct val="85000"/>
              <a:buFont typeface="Segoe UI"/>
              <a:buChar char="▪"/>
            </a:pPr>
            <a:r>
              <a:rPr sz="2400" b="1">
                <a:solidFill>
                  <a:srgbClr val="12355B"/>
                </a:solidFill>
                <a:latin typeface="Segoe UI"/>
                <a:ea typeface="Segoe UI"/>
                <a:cs typeface="Segoe UI"/>
              </a:rPr>
              <a:t>X ≈ U Σ Vᵀ</a:t>
            </a:r>
            <a:r>
              <a:rPr sz="2400">
                <a:solidFill>
                  <a:srgbClr val="1F2430"/>
                </a:solidFill>
                <a:latin typeface="Segoe UI"/>
                <a:ea typeface="Segoe UI"/>
                <a:cs typeface="Segoe UI"/>
              </a:rPr>
              <a:t>: phân rã thấp hạng, ví dụ SVD</a:t>
            </a:r>
          </a:p>
          <a:p>
            <a:pPr marL="292608" indent="-292608">
              <a:lnSpc>
                <a:spcPct val="112000"/>
              </a:lnSpc>
              <a:spcAft>
                <a:spcPts val="1200"/>
              </a:spcAft>
              <a:buClr>
                <a:srgbClr val="C8102E"/>
              </a:buClr>
              <a:buSzPct val="85000"/>
              <a:buFont typeface="Segoe UI"/>
              <a:buChar char="▪"/>
            </a:pPr>
            <a:r>
              <a:rPr sz="2400" b="1">
                <a:solidFill>
                  <a:srgbClr val="12355B"/>
                </a:solidFill>
                <a:latin typeface="Segoe UI"/>
                <a:ea typeface="Segoe UI"/>
                <a:cs typeface="Segoe UI"/>
              </a:rPr>
              <a:t>Lỗi tái tạo</a:t>
            </a:r>
            <a:r>
              <a:rPr sz="2400">
                <a:solidFill>
                  <a:srgbClr val="1F2430"/>
                </a:solidFill>
                <a:latin typeface="Segoe UI"/>
                <a:ea typeface="Segoe UI"/>
                <a:cs typeface="Segoe UI"/>
              </a:rPr>
              <a:t> của mẫu càng lớn thì càng có khả năng là dị biệt</a:t>
            </a:r>
          </a:p>
          <a:p>
            <a:pPr marL="292608" indent="-292608">
              <a:lnSpc>
                <a:spcPct val="112000"/>
              </a:lnSpc>
              <a:spcAft>
                <a:spcPts val="1200"/>
              </a:spcAft>
              <a:buClr>
                <a:srgbClr val="C8102E"/>
              </a:buClr>
              <a:buSzPct val="85000"/>
              <a:buFont typeface="Segoe UI"/>
              <a:buChar char="▪"/>
            </a:pPr>
            <a:r>
              <a:rPr sz="2400">
                <a:solidFill>
                  <a:srgbClr val="1F2430"/>
                </a:solidFill>
                <a:latin typeface="Segoe UI"/>
                <a:ea typeface="Segoe UI"/>
                <a:cs typeface="Segoe UI"/>
              </a:rPr>
              <a:t>Dữ liệu định danh: dùng bảng mã; mẫu cần mã dài hơn là dị biệt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77240" y="6272784"/>
            <a:ext cx="7658794" cy="29260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100" b="0" i="0">
                <a:solidFill>
                  <a:srgbClr val="5B6673"/>
                </a:solidFill>
                <a:latin typeface="Segoe UI"/>
                <a:ea typeface="Segoe UI"/>
                <a:cs typeface="Segoe UI"/>
              </a:rPr>
              <a:t>INT1422 · Bài 13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951415" y="6272784"/>
            <a:ext cx="1463040" cy="29260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100" b="0" i="0">
                <a:solidFill>
                  <a:srgbClr val="5B6673"/>
                </a:solidFill>
                <a:latin typeface="Segoe UI"/>
                <a:ea typeface="Segoe UI"/>
                <a:cs typeface="Segoe UI"/>
              </a:rPr>
              <a:t>26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77240" y="6035040"/>
            <a:ext cx="10637215" cy="31089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200" b="0" i="1">
                <a:solidFill>
                  <a:srgbClr val="5B6673"/>
                </a:solidFill>
                <a:latin typeface="Segoe UI"/>
                <a:ea typeface="Segoe UI"/>
                <a:cs typeface="Segoe UI"/>
              </a:rPr>
              <a:t>Nguồn: Han, Kamber &amp; Pei (2022), Data Mining: Concepts and Techniques, 4th ed., Morgan Kaufmann</a:t>
            </a:r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77240" y="384048"/>
            <a:ext cx="10637215" cy="960120"/>
          </a:xfrm>
          <a:prstGeom prst="rect">
            <a:avLst/>
          </a:prstGeom>
          <a:noFill/>
        </p:spPr>
        <p:txBody>
          <a:bodyPr wrap="square" lIns="0" rIns="0" tIns="0" bIns="0" anchor="b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3400" b="1" i="0">
                <a:solidFill>
                  <a:srgbClr val="12355B"/>
                </a:solidFill>
                <a:latin typeface="Segoe UI"/>
                <a:ea typeface="Segoe UI"/>
                <a:cs typeface="Segoe UI"/>
              </a:rPr>
              <a:t>Ba cách dùng phân cụm để tìm dị biệt</a:t>
            </a:r>
          </a:p>
        </p:txBody>
      </p:sp>
      <p:sp>
        <p:nvSpPr>
          <p:cNvPr id="3" name="Rectangle 2"/>
          <p:cNvSpPr/>
          <p:nvPr/>
        </p:nvSpPr>
        <p:spPr>
          <a:xfrm>
            <a:off x="777240" y="1426464"/>
            <a:ext cx="1325880" cy="38100"/>
          </a:xfrm>
          <a:prstGeom prst="rect">
            <a:avLst/>
          </a:prstGeom>
          <a:solidFill>
            <a:srgbClr val="C810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2103120" y="1435608"/>
            <a:ext cx="9311335" cy="12700"/>
          </a:xfrm>
          <a:prstGeom prst="rect">
            <a:avLst/>
          </a:prstGeom>
          <a:solidFill>
            <a:srgbClr val="D3DAE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777240" y="3073400"/>
            <a:ext cx="3362858" cy="1570736"/>
          </a:xfrm>
          <a:prstGeom prst="roundRect">
            <a:avLst>
              <a:gd name="adj" fmla="val 4657"/>
            </a:avLst>
          </a:prstGeom>
          <a:solidFill>
            <a:srgbClr val="F7F9FC"/>
          </a:solidFill>
          <a:ln w="12700">
            <a:solidFill>
              <a:srgbClr val="D3DAE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Oval 5"/>
          <p:cNvSpPr/>
          <p:nvPr/>
        </p:nvSpPr>
        <p:spPr>
          <a:xfrm>
            <a:off x="1060338" y="3530965"/>
            <a:ext cx="192755" cy="192755"/>
          </a:xfrm>
          <a:prstGeom prst="ellipse">
            <a:avLst/>
          </a:prstGeom>
          <a:solidFill>
            <a:srgbClr val="12355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Oval 6"/>
          <p:cNvSpPr/>
          <p:nvPr/>
        </p:nvSpPr>
        <p:spPr>
          <a:xfrm>
            <a:off x="1332463" y="3598997"/>
            <a:ext cx="170078" cy="170078"/>
          </a:xfrm>
          <a:prstGeom prst="ellipse">
            <a:avLst/>
          </a:prstGeom>
          <a:solidFill>
            <a:srgbClr val="3B7AB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Oval 7"/>
          <p:cNvSpPr/>
          <p:nvPr/>
        </p:nvSpPr>
        <p:spPr>
          <a:xfrm>
            <a:off x="1219078" y="3338210"/>
            <a:ext cx="181416" cy="181416"/>
          </a:xfrm>
          <a:prstGeom prst="ellipse">
            <a:avLst/>
          </a:prstGeom>
          <a:solidFill>
            <a:srgbClr val="C810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746504" y="3292856"/>
            <a:ext cx="2192426" cy="56692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8000"/>
              </a:lnSpc>
              <a:spcBef>
                <a:spcPts val="0"/>
              </a:spcBef>
              <a:spcAft>
                <a:spcPts val="0"/>
              </a:spcAft>
            </a:pPr>
            <a:r>
              <a:rPr sz="1800" b="1" i="0">
                <a:solidFill>
                  <a:srgbClr val="12355B"/>
                </a:solidFill>
                <a:latin typeface="Segoe UI"/>
                <a:ea typeface="Segoe UI"/>
                <a:cs typeface="Segoe UI"/>
              </a:rPr>
              <a:t>Không thuộc cụm nào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14983" y="3987799"/>
            <a:ext cx="2887370" cy="455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8000"/>
              </a:lnSpc>
              <a:spcBef>
                <a:spcPts val="0"/>
              </a:spcBef>
              <a:spcAft>
                <a:spcPts val="0"/>
              </a:spcAft>
            </a:pPr>
            <a:r>
              <a:rPr sz="1600" b="0" i="0">
                <a:solidFill>
                  <a:srgbClr val="1F2430"/>
                </a:solidFill>
                <a:latin typeface="Segoe UI"/>
                <a:ea typeface="Segoe UI"/>
                <a:cs typeface="Segoe UI"/>
              </a:rPr>
              <a:t>Ví dụ: điểm nhiễu của DBSCAN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4414418" y="3073400"/>
            <a:ext cx="3362858" cy="1570736"/>
          </a:xfrm>
          <a:prstGeom prst="roundRect">
            <a:avLst>
              <a:gd name="adj" fmla="val 4657"/>
            </a:avLst>
          </a:prstGeom>
          <a:solidFill>
            <a:srgbClr val="F7F9FC"/>
          </a:solidFill>
          <a:ln w="12700">
            <a:solidFill>
              <a:srgbClr val="D3DAE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Oval 11"/>
          <p:cNvSpPr/>
          <p:nvPr/>
        </p:nvSpPr>
        <p:spPr>
          <a:xfrm>
            <a:off x="4708855" y="3349548"/>
            <a:ext cx="340156" cy="340156"/>
          </a:xfrm>
          <a:prstGeom prst="ellipse">
            <a:avLst/>
          </a:prstGeom>
          <a:noFill/>
          <a:ln w="30480">
            <a:solidFill>
              <a:srgbClr val="12355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13" name="Connector 12"/>
          <p:cNvCxnSpPr/>
          <p:nvPr/>
        </p:nvCxnSpPr>
        <p:spPr>
          <a:xfrm>
            <a:off x="5003657" y="3644351"/>
            <a:ext cx="158740" cy="158740"/>
          </a:xfrm>
          <a:prstGeom prst="line">
            <a:avLst/>
          </a:prstGeom>
          <a:ln w="35560">
            <a:solidFill>
              <a:srgbClr val="12355B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4" name="TextBox 13"/>
          <p:cNvSpPr txBox="1"/>
          <p:nvPr/>
        </p:nvSpPr>
        <p:spPr>
          <a:xfrm>
            <a:off x="5383682" y="3292856"/>
            <a:ext cx="2192426" cy="56692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8000"/>
              </a:lnSpc>
              <a:spcBef>
                <a:spcPts val="0"/>
              </a:spcBef>
              <a:spcAft>
                <a:spcPts val="0"/>
              </a:spcAft>
            </a:pPr>
            <a:r>
              <a:rPr sz="1800" b="1" i="0">
                <a:solidFill>
                  <a:srgbClr val="12355B"/>
                </a:solidFill>
                <a:latin typeface="Segoe UI"/>
                <a:ea typeface="Segoe UI"/>
                <a:cs typeface="Segoe UI"/>
              </a:rPr>
              <a:t>Xa tâm cụm gần nhất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652162" y="3987799"/>
            <a:ext cx="2887370" cy="455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8000"/>
              </a:lnSpc>
              <a:spcBef>
                <a:spcPts val="0"/>
              </a:spcBef>
              <a:spcAft>
                <a:spcPts val="0"/>
              </a:spcAft>
            </a:pPr>
            <a:r>
              <a:rPr sz="1600" b="0" i="0">
                <a:solidFill>
                  <a:srgbClr val="1F2430"/>
                </a:solidFill>
                <a:latin typeface="Segoe UI"/>
                <a:ea typeface="Segoe UI"/>
                <a:cs typeface="Segoe UI"/>
              </a:rPr>
              <a:t>So khoảng cách với bán kính trung bình cụm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8051596" y="3073400"/>
            <a:ext cx="3362858" cy="1570736"/>
          </a:xfrm>
          <a:prstGeom prst="roundRect">
            <a:avLst>
              <a:gd name="adj" fmla="val 4657"/>
            </a:avLst>
          </a:prstGeom>
          <a:solidFill>
            <a:srgbClr val="F7F9FC"/>
          </a:solidFill>
          <a:ln w="12700">
            <a:solidFill>
              <a:srgbClr val="D3DAE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Freeform 16"/>
          <p:cNvSpPr/>
          <p:nvPr/>
        </p:nvSpPr>
        <p:spPr>
          <a:xfrm>
            <a:off x="8346033" y="3349548"/>
            <a:ext cx="453543" cy="430866"/>
          </a:xfrm>
          <a:custGeom>
            <a:avLst/>
            <a:gdLst/>
            <a:ahLst/>
            <a:cxnLst/>
            <a:rect l="l" t="t" r="r" b="b"/>
            <a:pathLst>
              <a:path w="453543" h="430866">
                <a:moveTo>
                  <a:pt x="226771" y="0"/>
                </a:moveTo>
                <a:lnTo>
                  <a:pt x="453543" y="430866"/>
                </a:lnTo>
                <a:lnTo>
                  <a:pt x="0" y="430866"/>
                </a:lnTo>
                <a:close/>
              </a:path>
            </a:pathLst>
          </a:custGeom>
          <a:solidFill>
            <a:srgbClr val="C810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8550127" y="3496950"/>
            <a:ext cx="45354" cy="158739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8550127" y="3695374"/>
            <a:ext cx="45354" cy="45354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9020860" y="3292856"/>
            <a:ext cx="2192426" cy="56692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8000"/>
              </a:lnSpc>
              <a:spcBef>
                <a:spcPts val="0"/>
              </a:spcBef>
              <a:spcAft>
                <a:spcPts val="0"/>
              </a:spcAft>
            </a:pPr>
            <a:r>
              <a:rPr sz="1800" b="1" i="0">
                <a:solidFill>
                  <a:srgbClr val="12355B"/>
                </a:solidFill>
                <a:latin typeface="Segoe UI"/>
                <a:ea typeface="Segoe UI"/>
                <a:cs typeface="Segoe UI"/>
              </a:rPr>
              <a:t>Thuộc cụm nhỏ hoặc thưa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8289340" y="3987799"/>
            <a:ext cx="2887370" cy="455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8000"/>
              </a:lnSpc>
              <a:spcBef>
                <a:spcPts val="0"/>
              </a:spcBef>
              <a:spcAft>
                <a:spcPts val="0"/>
              </a:spcAft>
            </a:pPr>
            <a:r>
              <a:rPr sz="1600" b="0" i="0">
                <a:solidFill>
                  <a:srgbClr val="1F2430"/>
                </a:solidFill>
                <a:latin typeface="Segoe UI"/>
                <a:ea typeface="Segoe UI"/>
                <a:cs typeface="Segoe UI"/>
              </a:rPr>
              <a:t>Cả cụm nhỏ được coi là dị biệt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777240" y="6272784"/>
            <a:ext cx="7658794" cy="29260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100" b="0" i="0">
                <a:solidFill>
                  <a:srgbClr val="5B6673"/>
                </a:solidFill>
                <a:latin typeface="Segoe UI"/>
                <a:ea typeface="Segoe UI"/>
                <a:cs typeface="Segoe UI"/>
              </a:rPr>
              <a:t>INT1422 · Bài 13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9951415" y="6272784"/>
            <a:ext cx="1463040" cy="29260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100" b="0" i="0">
                <a:solidFill>
                  <a:srgbClr val="5B6673"/>
                </a:solidFill>
                <a:latin typeface="Segoe UI"/>
                <a:ea typeface="Segoe UI"/>
                <a:cs typeface="Segoe UI"/>
              </a:rPr>
              <a:t>27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777240" y="6035040"/>
            <a:ext cx="10637215" cy="31089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200" b="0" i="1">
                <a:solidFill>
                  <a:srgbClr val="5B6673"/>
                </a:solidFill>
                <a:latin typeface="Segoe UI"/>
                <a:ea typeface="Segoe UI"/>
                <a:cs typeface="Segoe UI"/>
              </a:rPr>
              <a:t>Nguồn: Han, Kamber &amp; Pei (2022), Data Mining: Concepts and Techniques, 4th ed., Morgan Kaufmann</a:t>
            </a:r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77240" y="384048"/>
            <a:ext cx="10637215" cy="960120"/>
          </a:xfrm>
          <a:prstGeom prst="rect">
            <a:avLst/>
          </a:prstGeom>
          <a:noFill/>
        </p:spPr>
        <p:txBody>
          <a:bodyPr wrap="square" lIns="0" rIns="0" tIns="0" bIns="0" anchor="b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3400" b="1" i="0">
                <a:solidFill>
                  <a:srgbClr val="12355B"/>
                </a:solidFill>
                <a:latin typeface="Segoe UI"/>
                <a:ea typeface="Segoe UI"/>
                <a:cs typeface="Segoe UI"/>
              </a:rPr>
              <a:t>Dựa trên phân loại và bán giám sát</a:t>
            </a:r>
          </a:p>
        </p:txBody>
      </p:sp>
      <p:sp>
        <p:nvSpPr>
          <p:cNvPr id="3" name="Rectangle 2"/>
          <p:cNvSpPr/>
          <p:nvPr/>
        </p:nvSpPr>
        <p:spPr>
          <a:xfrm>
            <a:off x="777240" y="1426464"/>
            <a:ext cx="1325880" cy="38100"/>
          </a:xfrm>
          <a:prstGeom prst="rect">
            <a:avLst/>
          </a:prstGeom>
          <a:solidFill>
            <a:srgbClr val="C810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2103120" y="1435608"/>
            <a:ext cx="9311335" cy="12700"/>
          </a:xfrm>
          <a:prstGeom prst="rect">
            <a:avLst/>
          </a:prstGeom>
          <a:solidFill>
            <a:srgbClr val="D3DAE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777240" y="1755648"/>
            <a:ext cx="5112867" cy="566928"/>
          </a:xfrm>
          <a:prstGeom prst="roundRect">
            <a:avLst>
              <a:gd name="adj" fmla="val 8000"/>
            </a:avLst>
          </a:prstGeom>
          <a:solidFill>
            <a:srgbClr val="EEF2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46304" rIns="146304" tIns="91440" bIns="91440"/>
          <a:lstStyle/>
          <a:p>
            <a:pPr algn="l"/>
            <a:r>
              <a:rPr sz="2400" b="1">
                <a:solidFill>
                  <a:srgbClr val="12355B"/>
                </a:solidFill>
                <a:latin typeface="Segoe UI"/>
                <a:ea typeface="Segoe UI"/>
                <a:cs typeface="Segoe UI"/>
              </a:rPr>
              <a:t>Mô hình một lớp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77240" y="2505456"/>
            <a:ext cx="5112867" cy="345643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marL="292608" indent="-292608">
              <a:lnSpc>
                <a:spcPct val="112000"/>
              </a:lnSpc>
              <a:spcAft>
                <a:spcPts val="900"/>
              </a:spcAft>
              <a:buClr>
                <a:srgbClr val="C8102E"/>
              </a:buClr>
              <a:buSzPct val="85000"/>
              <a:buFont typeface="Segoe UI"/>
              <a:buChar char="▪"/>
            </a:pPr>
            <a:r>
              <a:rPr sz="2000">
                <a:solidFill>
                  <a:srgbClr val="1F2430"/>
                </a:solidFill>
                <a:latin typeface="Segoe UI"/>
                <a:ea typeface="Segoe UI"/>
                <a:cs typeface="Segoe UI"/>
              </a:rPr>
              <a:t>Tập huấn luyện lệch nặng về lớp bình thường</a:t>
            </a:r>
          </a:p>
          <a:p>
            <a:pPr marL="292608" indent="-292608">
              <a:lnSpc>
                <a:spcPct val="112000"/>
              </a:lnSpc>
              <a:spcAft>
                <a:spcPts val="900"/>
              </a:spcAft>
              <a:buClr>
                <a:srgbClr val="C8102E"/>
              </a:buClr>
              <a:buSzPct val="85000"/>
              <a:buFont typeface="Segoe UI"/>
              <a:buChar char="▪"/>
            </a:pPr>
            <a:r>
              <a:rPr sz="2000">
                <a:solidFill>
                  <a:srgbClr val="1F2430"/>
                </a:solidFill>
                <a:latin typeface="Segoe UI"/>
                <a:ea typeface="Segoe UI"/>
                <a:cs typeface="Segoe UI"/>
              </a:rPr>
              <a:t>Chỉ học ranh giới của lớp bình thường</a:t>
            </a:r>
          </a:p>
          <a:p>
            <a:pPr marL="292608" indent="-292608">
              <a:lnSpc>
                <a:spcPct val="112000"/>
              </a:lnSpc>
              <a:spcAft>
                <a:spcPts val="900"/>
              </a:spcAft>
              <a:buClr>
                <a:srgbClr val="C8102E"/>
              </a:buClr>
              <a:buSzPct val="85000"/>
              <a:buFont typeface="Segoe UI"/>
              <a:buChar char="▪"/>
            </a:pPr>
            <a:r>
              <a:rPr sz="2000">
                <a:solidFill>
                  <a:srgbClr val="1F2430"/>
                </a:solidFill>
                <a:latin typeface="Segoe UI"/>
                <a:ea typeface="Segoe UI"/>
                <a:cs typeface="Segoe UI"/>
              </a:rPr>
              <a:t>Mẫu nằm ngoài ranh giới là dị biệt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301587" y="1755648"/>
            <a:ext cx="5112867" cy="566928"/>
          </a:xfrm>
          <a:prstGeom prst="roundRect">
            <a:avLst>
              <a:gd name="adj" fmla="val 8000"/>
            </a:avLst>
          </a:prstGeom>
          <a:solidFill>
            <a:srgbClr val="FBEC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46304" rIns="146304" tIns="91440" bIns="91440"/>
          <a:lstStyle/>
          <a:p>
            <a:pPr algn="l"/>
            <a:r>
              <a:rPr sz="2400" b="1">
                <a:solidFill>
                  <a:srgbClr val="C8102E"/>
                </a:solidFill>
                <a:latin typeface="Segoe UI"/>
                <a:ea typeface="Segoe UI"/>
                <a:cs typeface="Segoe UI"/>
              </a:rPr>
              <a:t>Kết hợp phân cụm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301587" y="2505456"/>
            <a:ext cx="5112867" cy="345643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marL="292608" indent="-292608">
              <a:lnSpc>
                <a:spcPct val="112000"/>
              </a:lnSpc>
              <a:spcAft>
                <a:spcPts val="900"/>
              </a:spcAft>
              <a:buClr>
                <a:srgbClr val="C8102E"/>
              </a:buClr>
              <a:buSzPct val="85000"/>
              <a:buFont typeface="Segoe UI"/>
              <a:buChar char="▪"/>
            </a:pPr>
            <a:r>
              <a:rPr sz="2000">
                <a:solidFill>
                  <a:srgbClr val="1F2430"/>
                </a:solidFill>
                <a:latin typeface="Segoe UI"/>
                <a:ea typeface="Segoe UI"/>
                <a:cs typeface="Segoe UI"/>
              </a:rPr>
              <a:t>Phân cụm cả dữ liệu có nhãn và không nhãn</a:t>
            </a:r>
          </a:p>
          <a:p>
            <a:pPr marL="292608" indent="-292608">
              <a:lnSpc>
                <a:spcPct val="112000"/>
              </a:lnSpc>
              <a:spcAft>
                <a:spcPts val="900"/>
              </a:spcAft>
              <a:buClr>
                <a:srgbClr val="C8102E"/>
              </a:buClr>
              <a:buSzPct val="85000"/>
              <a:buFont typeface="Segoe UI"/>
              <a:buChar char="▪"/>
            </a:pPr>
            <a:r>
              <a:rPr sz="2000">
                <a:solidFill>
                  <a:srgbClr val="1F2430"/>
                </a:solidFill>
                <a:latin typeface="Segoe UI"/>
                <a:ea typeface="Segoe UI"/>
                <a:cs typeface="Segoe UI"/>
              </a:rPr>
              <a:t>Cụm lớn chủ yếu bình thường: gán nhãn bình thường</a:t>
            </a:r>
          </a:p>
          <a:p>
            <a:pPr marL="292608" indent="-292608">
              <a:lnSpc>
                <a:spcPct val="112000"/>
              </a:lnSpc>
              <a:spcAft>
                <a:spcPts val="900"/>
              </a:spcAft>
              <a:buClr>
                <a:srgbClr val="C8102E"/>
              </a:buClr>
              <a:buSzPct val="85000"/>
              <a:buFont typeface="Segoe UI"/>
              <a:buChar char="▪"/>
            </a:pPr>
            <a:r>
              <a:rPr sz="2000">
                <a:solidFill>
                  <a:srgbClr val="1F2430"/>
                </a:solidFill>
                <a:latin typeface="Segoe UI"/>
                <a:ea typeface="Segoe UI"/>
                <a:cs typeface="Segoe UI"/>
              </a:rPr>
              <a:t>Cụm nhỏ có dị biệt đã biết: gán nhãn dị biệt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77240" y="6272784"/>
            <a:ext cx="7658794" cy="29260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100" b="0" i="0">
                <a:solidFill>
                  <a:srgbClr val="5B6673"/>
                </a:solidFill>
                <a:latin typeface="Segoe UI"/>
                <a:ea typeface="Segoe UI"/>
                <a:cs typeface="Segoe UI"/>
              </a:rPr>
              <a:t>INT1422 · Bài 13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951415" y="6272784"/>
            <a:ext cx="1463040" cy="29260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100" b="0" i="0">
                <a:solidFill>
                  <a:srgbClr val="5B6673"/>
                </a:solidFill>
                <a:latin typeface="Segoe UI"/>
                <a:ea typeface="Segoe UI"/>
                <a:cs typeface="Segoe UI"/>
              </a:rPr>
              <a:t>28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77240" y="6035040"/>
            <a:ext cx="10637215" cy="31089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200" b="0" i="1">
                <a:solidFill>
                  <a:srgbClr val="5B6673"/>
                </a:solidFill>
                <a:latin typeface="Segoe UI"/>
                <a:ea typeface="Segoe UI"/>
                <a:cs typeface="Segoe UI"/>
              </a:rPr>
              <a:t>Nguồn: Han, Kamber &amp; Pei (2022), Data Mining: Concepts and Techniques, 4th ed., Morgan Kaufmann</a:t>
            </a:r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2355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914400" y="2240280"/>
            <a:ext cx="10637215" cy="21945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1200"/>
              </a:spcAft>
            </a:pPr>
            <a:r>
              <a:rPr sz="2200" b="1" i="0">
                <a:solidFill>
                  <a:srgbClr val="F29AA8"/>
                </a:solidFill>
                <a:latin typeface="Segoe UI"/>
                <a:ea typeface="Segoe UI"/>
                <a:cs typeface="Segoe UI"/>
              </a:rPr>
              <a:t>05</a:t>
            </a:r>
          </a:p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4000" b="1" i="0">
                <a:solidFill>
                  <a:srgbClr val="FFFFFF"/>
                </a:solidFill>
                <a:latin typeface="Segoe UI"/>
                <a:ea typeface="Segoe UI"/>
                <a:cs typeface="Segoe UI"/>
              </a:rPr>
              <a:t>Ngữ cảnh, tập thể và nhiều chiều</a:t>
            </a:r>
          </a:p>
        </p:txBody>
      </p:sp>
      <p:sp>
        <p:nvSpPr>
          <p:cNvPr id="4" name="Rectangle 3"/>
          <p:cNvSpPr/>
          <p:nvPr/>
        </p:nvSpPr>
        <p:spPr>
          <a:xfrm>
            <a:off x="914400" y="4526280"/>
            <a:ext cx="2011680" cy="38100"/>
          </a:xfrm>
          <a:prstGeom prst="rect">
            <a:avLst/>
          </a:prstGeom>
          <a:solidFill>
            <a:srgbClr val="C810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914400" y="4800600"/>
            <a:ext cx="9722815" cy="8229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800" b="0" i="0">
                <a:solidFill>
                  <a:srgbClr val="C5D2E2"/>
                </a:solidFill>
                <a:latin typeface="Segoe UI"/>
                <a:ea typeface="Segoe UI"/>
                <a:cs typeface="Segoe UI"/>
              </a:rPr>
              <a:t>Khi định nghĩa “bình thường” phức tạp hơn</a:t>
            </a:r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77240" y="384048"/>
            <a:ext cx="10637215" cy="960120"/>
          </a:xfrm>
          <a:prstGeom prst="rect">
            <a:avLst/>
          </a:prstGeom>
          <a:noFill/>
        </p:spPr>
        <p:txBody>
          <a:bodyPr wrap="square" lIns="0" rIns="0" tIns="0" bIns="0" anchor="b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3400" b="1" i="0">
                <a:solidFill>
                  <a:srgbClr val="12355B"/>
                </a:solidFill>
                <a:latin typeface="Segoe UI"/>
                <a:ea typeface="Segoe UI"/>
                <a:cs typeface="Segoe UI"/>
              </a:rPr>
              <a:t>Phát hiện dị biệt ngữ cảnh và tập thể</a:t>
            </a:r>
          </a:p>
        </p:txBody>
      </p:sp>
      <p:sp>
        <p:nvSpPr>
          <p:cNvPr id="3" name="Rectangle 2"/>
          <p:cNvSpPr/>
          <p:nvPr/>
        </p:nvSpPr>
        <p:spPr>
          <a:xfrm>
            <a:off x="777240" y="1426464"/>
            <a:ext cx="1325880" cy="38100"/>
          </a:xfrm>
          <a:prstGeom prst="rect">
            <a:avLst/>
          </a:prstGeom>
          <a:solidFill>
            <a:srgbClr val="C810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2103120" y="1435608"/>
            <a:ext cx="9311335" cy="12700"/>
          </a:xfrm>
          <a:prstGeom prst="rect">
            <a:avLst/>
          </a:prstGeom>
          <a:solidFill>
            <a:srgbClr val="D3DAE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77240" y="1755648"/>
            <a:ext cx="10637215" cy="42062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marL="292608" indent="-292608">
              <a:lnSpc>
                <a:spcPct val="112000"/>
              </a:lnSpc>
              <a:spcAft>
                <a:spcPts val="1200"/>
              </a:spcAft>
              <a:buClr>
                <a:srgbClr val="C8102E"/>
              </a:buClr>
              <a:buSzPct val="85000"/>
              <a:buFont typeface="Segoe UI"/>
              <a:buChar char="▪"/>
            </a:pPr>
            <a:r>
              <a:rPr sz="2400" b="1">
                <a:solidFill>
                  <a:srgbClr val="12355B"/>
                </a:solidFill>
                <a:latin typeface="Segoe UI"/>
                <a:ea typeface="Segoe UI"/>
                <a:cs typeface="Segoe UI"/>
              </a:rPr>
              <a:t>Chia theo ngữ cảnh</a:t>
            </a:r>
            <a:r>
              <a:rPr sz="2400">
                <a:solidFill>
                  <a:srgbClr val="1F2430"/>
                </a:solidFill>
                <a:latin typeface="Segoe UI"/>
                <a:ea typeface="Segoe UI"/>
                <a:cs typeface="Segoe UI"/>
              </a:rPr>
              <a:t> rồi áp dụng phương pháp thông thường</a:t>
            </a:r>
          </a:p>
          <a:p>
            <a:pPr marL="292608" indent="-292608">
              <a:lnSpc>
                <a:spcPct val="112000"/>
              </a:lnSpc>
              <a:spcAft>
                <a:spcPts val="1200"/>
              </a:spcAft>
              <a:buClr>
                <a:srgbClr val="C8102E"/>
              </a:buClr>
              <a:buSzPct val="85000"/>
              <a:buFont typeface="Segoe UI"/>
              <a:buChar char="▪"/>
            </a:pPr>
            <a:r>
              <a:rPr sz="2400" b="1">
                <a:solidFill>
                  <a:srgbClr val="12355B"/>
                </a:solidFill>
                <a:latin typeface="Segoe UI"/>
                <a:ea typeface="Segoe UI"/>
                <a:cs typeface="Segoe UI"/>
              </a:rPr>
              <a:t>Mô hình hoá hành vi</a:t>
            </a:r>
            <a:r>
              <a:rPr sz="2400">
                <a:solidFill>
                  <a:srgbClr val="1F2430"/>
                </a:solidFill>
                <a:latin typeface="Segoe UI"/>
                <a:ea typeface="Segoe UI"/>
                <a:cs typeface="Segoe UI"/>
              </a:rPr>
              <a:t> theo ngữ cảnh; lệch xa dự đoán là dị biệt</a:t>
            </a:r>
          </a:p>
          <a:p>
            <a:pPr marL="292608" indent="-292608">
              <a:lnSpc>
                <a:spcPct val="112000"/>
              </a:lnSpc>
              <a:spcAft>
                <a:spcPts val="1200"/>
              </a:spcAft>
              <a:buClr>
                <a:srgbClr val="C8102E"/>
              </a:buClr>
              <a:buSzPct val="85000"/>
              <a:buFont typeface="Segoe UI"/>
              <a:buChar char="▪"/>
            </a:pPr>
            <a:r>
              <a:rPr sz="2400" b="1">
                <a:solidFill>
                  <a:srgbClr val="12355B"/>
                </a:solidFill>
                <a:latin typeface="Segoe UI"/>
                <a:ea typeface="Segoe UI"/>
                <a:cs typeface="Segoe UI"/>
              </a:rPr>
              <a:t>Tập thể</a:t>
            </a:r>
            <a:r>
              <a:rPr sz="2400">
                <a:solidFill>
                  <a:srgbClr val="1F2430"/>
                </a:solidFill>
                <a:latin typeface="Segoe UI"/>
                <a:ea typeface="Segoe UI"/>
                <a:cs typeface="Segoe UI"/>
              </a:rPr>
              <a:t>: phải khám phá cấu trúc giữa các đối tượng</a:t>
            </a:r>
          </a:p>
          <a:p>
            <a:pPr marL="676656" indent="-292608">
              <a:lnSpc>
                <a:spcPct val="112000"/>
              </a:lnSpc>
              <a:spcAft>
                <a:spcPts val="700"/>
              </a:spcAft>
              <a:buClr>
                <a:srgbClr val="5B6673"/>
              </a:buClr>
              <a:buSzPct val="85000"/>
              <a:buFont typeface="Segoe UI"/>
              <a:buChar char="–"/>
            </a:pPr>
            <a:r>
              <a:rPr sz="2000">
                <a:solidFill>
                  <a:srgbClr val="5B6673"/>
                </a:solidFill>
                <a:latin typeface="Segoe UI"/>
                <a:ea typeface="Segoe UI"/>
                <a:cs typeface="Segoe UI"/>
              </a:rPr>
              <a:t>Chuỗi thời gian: đoạn con; không gian: vùng cục bộ; đồ thị: đồ thị con</a:t>
            </a:r>
          </a:p>
          <a:p>
            <a:pPr marL="292608" indent="-292608">
              <a:lnSpc>
                <a:spcPct val="112000"/>
              </a:lnSpc>
              <a:spcAft>
                <a:spcPts val="1200"/>
              </a:spcAft>
              <a:buClr>
                <a:srgbClr val="C8102E"/>
              </a:buClr>
              <a:buSzPct val="85000"/>
              <a:buFont typeface="Segoe UI"/>
              <a:buChar char="▪"/>
            </a:pPr>
            <a:r>
              <a:rPr sz="2400">
                <a:solidFill>
                  <a:srgbClr val="1F2430"/>
                </a:solidFill>
                <a:latin typeface="Segoe UI"/>
                <a:ea typeface="Segoe UI"/>
                <a:cs typeface="Segoe UI"/>
              </a:rPr>
              <a:t>Ví dụ: nhiều máy liên tục gửi gói tin tấn công lẫn nhau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77240" y="6272784"/>
            <a:ext cx="7658794" cy="29260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100" b="0" i="0">
                <a:solidFill>
                  <a:srgbClr val="5B6673"/>
                </a:solidFill>
                <a:latin typeface="Segoe UI"/>
                <a:ea typeface="Segoe UI"/>
                <a:cs typeface="Segoe UI"/>
              </a:rPr>
              <a:t>INT1422 · Bài 13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951415" y="6272784"/>
            <a:ext cx="1463040" cy="29260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100" b="0" i="0">
                <a:solidFill>
                  <a:srgbClr val="5B6673"/>
                </a:solidFill>
                <a:latin typeface="Segoe UI"/>
                <a:ea typeface="Segoe UI"/>
                <a:cs typeface="Segoe UI"/>
              </a:rPr>
              <a:t>30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77240" y="6035040"/>
            <a:ext cx="10637215" cy="31089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200" b="0" i="1">
                <a:solidFill>
                  <a:srgbClr val="5B6673"/>
                </a:solidFill>
                <a:latin typeface="Segoe UI"/>
                <a:ea typeface="Segoe UI"/>
                <a:cs typeface="Segoe UI"/>
              </a:rPr>
              <a:t>Nguồn: Han, Kamber &amp; Pei (2022), Data Mining: Concepts and Techniques, 4th ed., Morgan Kaufmann</a:t>
            </a:r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77240" y="384048"/>
            <a:ext cx="10637215" cy="960120"/>
          </a:xfrm>
          <a:prstGeom prst="rect">
            <a:avLst/>
          </a:prstGeom>
          <a:noFill/>
        </p:spPr>
        <p:txBody>
          <a:bodyPr wrap="square" lIns="0" rIns="0" tIns="0" bIns="0" anchor="b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3400" b="1" i="0">
                <a:solidFill>
                  <a:srgbClr val="12355B"/>
                </a:solidFill>
                <a:latin typeface="Segoe UI"/>
                <a:ea typeface="Segoe UI"/>
                <a:cs typeface="Segoe UI"/>
              </a:rPr>
              <a:t>Dữ liệu nhiều chiều</a:t>
            </a:r>
          </a:p>
        </p:txBody>
      </p:sp>
      <p:sp>
        <p:nvSpPr>
          <p:cNvPr id="3" name="Rectangle 2"/>
          <p:cNvSpPr/>
          <p:nvPr/>
        </p:nvSpPr>
        <p:spPr>
          <a:xfrm>
            <a:off x="777240" y="1426464"/>
            <a:ext cx="1325880" cy="38100"/>
          </a:xfrm>
          <a:prstGeom prst="rect">
            <a:avLst/>
          </a:prstGeom>
          <a:solidFill>
            <a:srgbClr val="C810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2103120" y="1435608"/>
            <a:ext cx="9311335" cy="12700"/>
          </a:xfrm>
          <a:prstGeom prst="rect">
            <a:avLst/>
          </a:prstGeom>
          <a:solidFill>
            <a:srgbClr val="D3DAE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77240" y="1755648"/>
            <a:ext cx="10637215" cy="42062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marL="292608" indent="-292608">
              <a:lnSpc>
                <a:spcPct val="112000"/>
              </a:lnSpc>
              <a:spcAft>
                <a:spcPts val="1200"/>
              </a:spcAft>
              <a:buClr>
                <a:srgbClr val="C8102E"/>
              </a:buClr>
              <a:buSzPct val="85000"/>
              <a:buFont typeface="Segoe UI"/>
              <a:buChar char="▪"/>
            </a:pPr>
            <a:r>
              <a:rPr sz="2400">
                <a:solidFill>
                  <a:srgbClr val="1F2430"/>
                </a:solidFill>
                <a:latin typeface="Segoe UI"/>
                <a:ea typeface="Segoe UI"/>
                <a:cs typeface="Segoe UI"/>
              </a:rPr>
              <a:t>Thách thức: dữ liệu thưa, khoảng cách bị nhiễu chi phối</a:t>
            </a:r>
          </a:p>
          <a:p>
            <a:pPr marL="292608" indent="-292608">
              <a:lnSpc>
                <a:spcPct val="112000"/>
              </a:lnSpc>
              <a:spcAft>
                <a:spcPts val="1200"/>
              </a:spcAft>
              <a:buClr>
                <a:srgbClr val="C8102E"/>
              </a:buClr>
              <a:buSzPct val="85000"/>
              <a:buFont typeface="Segoe UI"/>
              <a:buChar char="▪"/>
            </a:pPr>
            <a:r>
              <a:rPr sz="2400" b="1">
                <a:solidFill>
                  <a:srgbClr val="12355B"/>
                </a:solidFill>
                <a:latin typeface="Segoe UI"/>
                <a:ea typeface="Segoe UI"/>
                <a:cs typeface="Segoe UI"/>
              </a:rPr>
              <a:t>Tìm trong không gian con</a:t>
            </a:r>
            <a:r>
              <a:rPr sz="2400">
                <a:solidFill>
                  <a:srgbClr val="1F2430"/>
                </a:solidFill>
                <a:latin typeface="Segoe UI"/>
                <a:ea typeface="Segoe UI"/>
                <a:cs typeface="Segoe UI"/>
              </a:rPr>
              <a:t>: dị biệt ở ít chiều thì dễ giải thích</a:t>
            </a:r>
          </a:p>
          <a:p>
            <a:pPr marL="292608" indent="-292608">
              <a:lnSpc>
                <a:spcPct val="112000"/>
              </a:lnSpc>
              <a:spcAft>
                <a:spcPts val="1200"/>
              </a:spcAft>
              <a:buClr>
                <a:srgbClr val="C8102E"/>
              </a:buClr>
              <a:buSzPct val="85000"/>
              <a:buFont typeface="Segoe UI"/>
              <a:buChar char="▪"/>
            </a:pPr>
            <a:r>
              <a:rPr sz="2400" b="1">
                <a:solidFill>
                  <a:srgbClr val="12355B"/>
                </a:solidFill>
                <a:latin typeface="Segoe UI"/>
                <a:ea typeface="Segoe UI"/>
                <a:cs typeface="Segoe UI"/>
              </a:rPr>
              <a:t>Kết hợp nhiều bộ phát hiện</a:t>
            </a:r>
            <a:r>
              <a:rPr sz="2400">
                <a:solidFill>
                  <a:srgbClr val="1F2430"/>
                </a:solidFill>
                <a:latin typeface="Segoe UI"/>
                <a:ea typeface="Segoe UI"/>
                <a:cs typeface="Segoe UI"/>
              </a:rPr>
              <a:t>: chọn ngẫu nhiên đặc trưng rồi gộp điểm số</a:t>
            </a:r>
          </a:p>
          <a:p>
            <a:pPr marL="676656" indent="-292608">
              <a:lnSpc>
                <a:spcPct val="112000"/>
              </a:lnSpc>
              <a:spcAft>
                <a:spcPts val="700"/>
              </a:spcAft>
              <a:buClr>
                <a:srgbClr val="5B6673"/>
              </a:buClr>
              <a:buSzPct val="85000"/>
              <a:buFont typeface="Segoe UI"/>
              <a:buChar char="–"/>
            </a:pPr>
            <a:r>
              <a:rPr sz="2000">
                <a:solidFill>
                  <a:srgbClr val="5B6673"/>
                </a:solidFill>
                <a:latin typeface="Segoe UI"/>
                <a:ea typeface="Segoe UI"/>
                <a:cs typeface="Segoe UI"/>
              </a:rPr>
              <a:t>Chuẩn hoá điểm số trước khi lấy trung bình hoặc lấy max</a:t>
            </a:r>
          </a:p>
          <a:p>
            <a:pPr marL="292608" indent="-292608">
              <a:lnSpc>
                <a:spcPct val="112000"/>
              </a:lnSpc>
              <a:spcAft>
                <a:spcPts val="1200"/>
              </a:spcAft>
              <a:buClr>
                <a:srgbClr val="C8102E"/>
              </a:buClr>
              <a:buSzPct val="85000"/>
              <a:buFont typeface="Segoe UI"/>
              <a:buChar char="▪"/>
            </a:pPr>
            <a:r>
              <a:rPr sz="2400" b="1">
                <a:solidFill>
                  <a:srgbClr val="12355B"/>
                </a:solidFill>
                <a:latin typeface="Segoe UI"/>
                <a:ea typeface="Segoe UI"/>
                <a:cs typeface="Segoe UI"/>
              </a:rPr>
              <a:t>Học sâu</a:t>
            </a:r>
            <a:r>
              <a:rPr sz="2400">
                <a:solidFill>
                  <a:srgbClr val="1F2430"/>
                </a:solidFill>
                <a:latin typeface="Segoe UI"/>
                <a:ea typeface="Segoe UI"/>
                <a:cs typeface="Segoe UI"/>
              </a:rPr>
              <a:t>: bộ tự mã hoá sinh biểu diễn ít chiều rồi mới phát hiện</a:t>
            </a:r>
          </a:p>
          <a:p>
            <a:pPr marL="292608" indent="-292608">
              <a:lnSpc>
                <a:spcPct val="112000"/>
              </a:lnSpc>
              <a:spcAft>
                <a:spcPts val="1200"/>
              </a:spcAft>
              <a:buClr>
                <a:srgbClr val="C8102E"/>
              </a:buClr>
              <a:buSzPct val="85000"/>
              <a:buFont typeface="Segoe UI"/>
              <a:buChar char="▪"/>
            </a:pPr>
            <a:r>
              <a:rPr sz="2400" b="1">
                <a:solidFill>
                  <a:srgbClr val="12355B"/>
                </a:solidFill>
                <a:latin typeface="Segoe UI"/>
                <a:ea typeface="Segoe UI"/>
                <a:cs typeface="Segoe UI"/>
              </a:rPr>
              <a:t>ABOD</a:t>
            </a:r>
            <a:r>
              <a:rPr sz="2400">
                <a:solidFill>
                  <a:srgbClr val="1F2430"/>
                </a:solidFill>
                <a:latin typeface="Segoe UI"/>
                <a:ea typeface="Segoe UI"/>
                <a:cs typeface="Segoe UI"/>
              </a:rPr>
              <a:t>: dùng phương sai góc thay cho khoảng cách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77240" y="6272784"/>
            <a:ext cx="7658794" cy="29260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100" b="0" i="0">
                <a:solidFill>
                  <a:srgbClr val="5B6673"/>
                </a:solidFill>
                <a:latin typeface="Segoe UI"/>
                <a:ea typeface="Segoe UI"/>
                <a:cs typeface="Segoe UI"/>
              </a:rPr>
              <a:t>INT1422 · Bài 13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951415" y="6272784"/>
            <a:ext cx="1463040" cy="29260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100" b="0" i="0">
                <a:solidFill>
                  <a:srgbClr val="5B6673"/>
                </a:solidFill>
                <a:latin typeface="Segoe UI"/>
                <a:ea typeface="Segoe UI"/>
                <a:cs typeface="Segoe UI"/>
              </a:rPr>
              <a:t>31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77240" y="6035040"/>
            <a:ext cx="10637215" cy="31089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200" b="0" i="1">
                <a:solidFill>
                  <a:srgbClr val="5B6673"/>
                </a:solidFill>
                <a:latin typeface="Segoe UI"/>
                <a:ea typeface="Segoe UI"/>
                <a:cs typeface="Segoe UI"/>
              </a:rPr>
              <a:t>Nguồn: Han, Kamber &amp; Pei (2022), Data Mining: Concepts and Techniques, 4th ed., Morgan Kaufmann</a:t>
            </a:r>
          </a:p>
        </p:txBody>
      </p:sp>
    </p:spTree>
  </p:cSld>
  <p:clrMapOvr>
    <a:masterClrMapping/>
  </p:clrMapOvr>
</p:sld>
</file>

<file path=ppt/slides/slide3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77240" y="384048"/>
            <a:ext cx="10637215" cy="960120"/>
          </a:xfrm>
          <a:prstGeom prst="rect">
            <a:avLst/>
          </a:prstGeom>
          <a:noFill/>
        </p:spPr>
        <p:txBody>
          <a:bodyPr wrap="square" lIns="0" rIns="0" tIns="0" bIns="0" anchor="b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3400" b="1" i="0">
                <a:solidFill>
                  <a:srgbClr val="12355B"/>
                </a:solidFill>
                <a:latin typeface="Segoe UI"/>
                <a:ea typeface="Segoe UI"/>
                <a:cs typeface="Segoe UI"/>
              </a:rPr>
              <a:t>So sánh các họ phương pháp</a:t>
            </a:r>
          </a:p>
        </p:txBody>
      </p:sp>
      <p:sp>
        <p:nvSpPr>
          <p:cNvPr id="3" name="Rectangle 2"/>
          <p:cNvSpPr/>
          <p:nvPr/>
        </p:nvSpPr>
        <p:spPr>
          <a:xfrm>
            <a:off x="777240" y="1426464"/>
            <a:ext cx="1325880" cy="38100"/>
          </a:xfrm>
          <a:prstGeom prst="rect">
            <a:avLst/>
          </a:prstGeom>
          <a:solidFill>
            <a:srgbClr val="C810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2103120" y="1435608"/>
            <a:ext cx="9311335" cy="12700"/>
          </a:xfrm>
          <a:prstGeom prst="rect">
            <a:avLst/>
          </a:prstGeom>
          <a:solidFill>
            <a:srgbClr val="D3DAE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graphicFrame>
        <p:nvGraphicFramePr>
          <p:cNvPr id="5" name="Table 4"/>
          <p:cNvGraphicFramePr>
            <a:graphicFrameLocks noGrp="1"/>
          </p:cNvGraphicFramePr>
          <p:nvPr/>
        </p:nvGraphicFramePr>
        <p:xfrm>
          <a:off x="777240" y="1755648"/>
          <a:ext cx="10637214" cy="3401568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532670"/>
                <a:gridCol w="4052272"/>
                <a:gridCol w="4052272"/>
              </a:tblGrid>
              <a:tr h="566928">
                <a:tc>
                  <a:txBody>
                    <a:bodyPr wrap="square"/>
                    <a:lstStyle/>
                    <a:p>
                      <a:r>
                        <a:rPr sz="2000" b="1">
                          <a:solidFill>
                            <a:srgbClr val="FFFFFF"/>
                          </a:solidFill>
                          <a:latin typeface="Segoe UI"/>
                          <a:ea typeface="Segoe UI"/>
                          <a:cs typeface="Segoe UI"/>
                        </a:rPr>
                        <a:t>Họ</a:t>
                      </a:r>
                    </a:p>
                  </a:txBody>
                  <a:tcPr marL="109728" marR="91440" anchor="ctr">
                    <a:solidFill>
                      <a:srgbClr val="12355B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2000" b="1">
                          <a:solidFill>
                            <a:srgbClr val="FFFFFF"/>
                          </a:solidFill>
                          <a:latin typeface="Segoe UI"/>
                          <a:ea typeface="Segoe UI"/>
                          <a:cs typeface="Segoe UI"/>
                        </a:rPr>
                        <a:t>Mạnh</a:t>
                      </a:r>
                    </a:p>
                  </a:txBody>
                  <a:tcPr marL="109728" marR="91440" anchor="ctr">
                    <a:solidFill>
                      <a:srgbClr val="12355B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2000" b="1">
                          <a:solidFill>
                            <a:srgbClr val="FFFFFF"/>
                          </a:solidFill>
                          <a:latin typeface="Segoe UI"/>
                          <a:ea typeface="Segoe UI"/>
                          <a:cs typeface="Segoe UI"/>
                        </a:rPr>
                        <a:t>Yếu</a:t>
                      </a:r>
                    </a:p>
                  </a:txBody>
                  <a:tcPr marL="109728" marR="91440" anchor="ctr">
                    <a:solidFill>
                      <a:srgbClr val="12355B"/>
                    </a:solidFill>
                  </a:tcPr>
                </a:tc>
              </a:tr>
              <a:tr h="566928">
                <a:tc>
                  <a:txBody>
                    <a:bodyPr wrap="square"/>
                    <a:lstStyle/>
                    <a:p>
                      <a:r>
                        <a:rPr sz="2000" b="0">
                          <a:solidFill>
                            <a:srgbClr val="12355B"/>
                          </a:solidFill>
                          <a:latin typeface="Segoe UI"/>
                          <a:ea typeface="Segoe UI"/>
                          <a:cs typeface="Segoe UI"/>
                        </a:rPr>
                        <a:t>Thống kê</a:t>
                      </a:r>
                    </a:p>
                  </a:txBody>
                  <a:tcPr marL="109728" marR="9144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2000" b="0">
                          <a:solidFill>
                            <a:srgbClr val="1F2430"/>
                          </a:solidFill>
                          <a:latin typeface="Segoe UI"/>
                          <a:ea typeface="Segoe UI"/>
                          <a:cs typeface="Segoe UI"/>
                        </a:rPr>
                        <a:t>Có cơ sở thống kê, giải thích được</a:t>
                      </a:r>
                    </a:p>
                  </a:txBody>
                  <a:tcPr marL="109728" marR="9144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2000" b="0">
                          <a:solidFill>
                            <a:srgbClr val="1F2430"/>
                          </a:solidFill>
                          <a:latin typeface="Segoe UI"/>
                          <a:ea typeface="Segoe UI"/>
                          <a:cs typeface="Segoe UI"/>
                        </a:rPr>
                        <a:t>Cần đúng giả định phân bố</a:t>
                      </a:r>
                    </a:p>
                  </a:txBody>
                  <a:tcPr marL="109728" marR="91440" anchor="ctr">
                    <a:solidFill>
                      <a:srgbClr val="FFFFFF"/>
                    </a:solidFill>
                  </a:tcPr>
                </a:tc>
              </a:tr>
              <a:tr h="566928">
                <a:tc>
                  <a:txBody>
                    <a:bodyPr wrap="square"/>
                    <a:lstStyle/>
                    <a:p>
                      <a:r>
                        <a:rPr sz="2000" b="0">
                          <a:solidFill>
                            <a:srgbClr val="12355B"/>
                          </a:solidFill>
                          <a:latin typeface="Segoe UI"/>
                          <a:ea typeface="Segoe UI"/>
                          <a:cs typeface="Segoe UI"/>
                        </a:rPr>
                        <a:t>Khoảng cách</a:t>
                      </a:r>
                    </a:p>
                  </a:txBody>
                  <a:tcPr marL="109728" marR="91440" anchor="ctr">
                    <a:solidFill>
                      <a:srgbClr val="F7F9FC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2000" b="0">
                          <a:solidFill>
                            <a:srgbClr val="1F2430"/>
                          </a:solidFill>
                          <a:latin typeface="Segoe UI"/>
                          <a:ea typeface="Segoe UI"/>
                          <a:cs typeface="Segoe UI"/>
                        </a:rPr>
                        <a:t>Đơn giản, không cần giả định</a:t>
                      </a:r>
                    </a:p>
                  </a:txBody>
                  <a:tcPr marL="109728" marR="91440" anchor="ctr">
                    <a:solidFill>
                      <a:srgbClr val="F7F9FC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2000" b="0">
                          <a:solidFill>
                            <a:srgbClr val="1F2430"/>
                          </a:solidFill>
                          <a:latin typeface="Segoe UI"/>
                          <a:ea typeface="Segoe UI"/>
                          <a:cs typeface="Segoe UI"/>
                        </a:rPr>
                        <a:t>Bỏ sót dị biệt cục bộ</a:t>
                      </a:r>
                    </a:p>
                  </a:txBody>
                  <a:tcPr marL="109728" marR="91440" anchor="ctr">
                    <a:solidFill>
                      <a:srgbClr val="F7F9FC"/>
                    </a:solidFill>
                  </a:tcPr>
                </a:tc>
              </a:tr>
              <a:tr h="566928">
                <a:tc>
                  <a:txBody>
                    <a:bodyPr wrap="square"/>
                    <a:lstStyle/>
                    <a:p>
                      <a:r>
                        <a:rPr sz="2000" b="0">
                          <a:solidFill>
                            <a:srgbClr val="12355B"/>
                          </a:solidFill>
                          <a:latin typeface="Segoe UI"/>
                          <a:ea typeface="Segoe UI"/>
                          <a:cs typeface="Segoe UI"/>
                        </a:rPr>
                        <a:t>Mật độ (LOF)</a:t>
                      </a:r>
                    </a:p>
                  </a:txBody>
                  <a:tcPr marL="109728" marR="9144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2000" b="0">
                          <a:solidFill>
                            <a:srgbClr val="1F2430"/>
                          </a:solidFill>
                          <a:latin typeface="Segoe UI"/>
                          <a:ea typeface="Segoe UI"/>
                          <a:cs typeface="Segoe UI"/>
                        </a:rPr>
                        <a:t>Bắt được dị biệt cục bộ</a:t>
                      </a:r>
                    </a:p>
                  </a:txBody>
                  <a:tcPr marL="109728" marR="9144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2000" b="0">
                          <a:solidFill>
                            <a:srgbClr val="1F2430"/>
                          </a:solidFill>
                          <a:latin typeface="Segoe UI"/>
                          <a:ea typeface="Segoe UI"/>
                          <a:cs typeface="Segoe UI"/>
                        </a:rPr>
                        <a:t>Tốn O(n²), nhạy với k</a:t>
                      </a:r>
                    </a:p>
                  </a:txBody>
                  <a:tcPr marL="109728" marR="91440" anchor="ctr">
                    <a:solidFill>
                      <a:srgbClr val="FFFFFF"/>
                    </a:solidFill>
                  </a:tcPr>
                </a:tc>
              </a:tr>
              <a:tr h="566928">
                <a:tc>
                  <a:txBody>
                    <a:bodyPr wrap="square"/>
                    <a:lstStyle/>
                    <a:p>
                      <a:r>
                        <a:rPr sz="2000" b="0">
                          <a:solidFill>
                            <a:srgbClr val="12355B"/>
                          </a:solidFill>
                          <a:latin typeface="Segoe UI"/>
                          <a:ea typeface="Segoe UI"/>
                          <a:cs typeface="Segoe UI"/>
                        </a:rPr>
                        <a:t>Phân cụm</a:t>
                      </a:r>
                    </a:p>
                  </a:txBody>
                  <a:tcPr marL="109728" marR="91440" anchor="ctr">
                    <a:solidFill>
                      <a:srgbClr val="F7F9FC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2000" b="0">
                          <a:solidFill>
                            <a:srgbClr val="1F2430"/>
                          </a:solidFill>
                          <a:latin typeface="Segoe UI"/>
                          <a:ea typeface="Segoe UI"/>
                          <a:cs typeface="Segoe UI"/>
                        </a:rPr>
                        <a:t>Tận dụng thuật toán sẵn có</a:t>
                      </a:r>
                    </a:p>
                  </a:txBody>
                  <a:tcPr marL="109728" marR="91440" anchor="ctr">
                    <a:solidFill>
                      <a:srgbClr val="F7F9FC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2000" b="0">
                          <a:solidFill>
                            <a:srgbClr val="1F2430"/>
                          </a:solidFill>
                          <a:latin typeface="Segoe UI"/>
                          <a:ea typeface="Segoe UI"/>
                          <a:cs typeface="Segoe UI"/>
                        </a:rPr>
                        <a:t>Tối ưu cho cụm, không cho dị biệt</a:t>
                      </a:r>
                    </a:p>
                  </a:txBody>
                  <a:tcPr marL="109728" marR="91440" anchor="ctr">
                    <a:solidFill>
                      <a:srgbClr val="F7F9FC"/>
                    </a:solidFill>
                  </a:tcPr>
                </a:tc>
              </a:tr>
              <a:tr h="566928">
                <a:tc>
                  <a:txBody>
                    <a:bodyPr wrap="square"/>
                    <a:lstStyle/>
                    <a:p>
                      <a:r>
                        <a:rPr sz="2000" b="0">
                          <a:solidFill>
                            <a:srgbClr val="12355B"/>
                          </a:solidFill>
                          <a:latin typeface="Segoe UI"/>
                          <a:ea typeface="Segoe UI"/>
                          <a:cs typeface="Segoe UI"/>
                        </a:rPr>
                        <a:t>Tái tạo</a:t>
                      </a:r>
                    </a:p>
                  </a:txBody>
                  <a:tcPr marL="109728" marR="9144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2000" b="0">
                          <a:solidFill>
                            <a:srgbClr val="1F2430"/>
                          </a:solidFill>
                          <a:latin typeface="Segoe UI"/>
                          <a:ea typeface="Segoe UI"/>
                          <a:cs typeface="Segoe UI"/>
                        </a:rPr>
                        <a:t>Hợp với dữ liệu nhiều chiều</a:t>
                      </a:r>
                    </a:p>
                  </a:txBody>
                  <a:tcPr marL="109728" marR="9144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2000" b="0">
                          <a:solidFill>
                            <a:srgbClr val="1F2430"/>
                          </a:solidFill>
                          <a:latin typeface="Segoe UI"/>
                          <a:ea typeface="Segoe UI"/>
                          <a:cs typeface="Segoe UI"/>
                        </a:rPr>
                        <a:t>Khó chọn hạng r</a:t>
                      </a:r>
                    </a:p>
                  </a:txBody>
                  <a:tcPr marL="109728" marR="91440" anchor="ctr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6" name="TextBox 5"/>
          <p:cNvSpPr txBox="1"/>
          <p:nvPr/>
        </p:nvSpPr>
        <p:spPr>
          <a:xfrm>
            <a:off x="777240" y="6272784"/>
            <a:ext cx="7658794" cy="29260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100" b="0" i="0">
                <a:solidFill>
                  <a:srgbClr val="5B6673"/>
                </a:solidFill>
                <a:latin typeface="Segoe UI"/>
                <a:ea typeface="Segoe UI"/>
                <a:cs typeface="Segoe UI"/>
              </a:rPr>
              <a:t>INT1422 · Bài 13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951415" y="6272784"/>
            <a:ext cx="1463040" cy="29260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100" b="0" i="0">
                <a:solidFill>
                  <a:srgbClr val="5B6673"/>
                </a:solidFill>
                <a:latin typeface="Segoe UI"/>
                <a:ea typeface="Segoe UI"/>
                <a:cs typeface="Segoe UI"/>
              </a:rPr>
              <a:t>32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77240" y="6035040"/>
            <a:ext cx="10637215" cy="31089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200" b="0" i="1">
                <a:solidFill>
                  <a:srgbClr val="5B6673"/>
                </a:solidFill>
                <a:latin typeface="Segoe UI"/>
                <a:ea typeface="Segoe UI"/>
                <a:cs typeface="Segoe UI"/>
              </a:rPr>
              <a:t>Nguồn: Han, Kamber &amp; Pei (2022), Data Mining: Concepts and Techniques, 4th ed., Morgan Kaufmann</a:t>
            </a:r>
          </a:p>
        </p:txBody>
      </p:sp>
    </p:spTree>
  </p:cSld>
  <p:clrMapOvr>
    <a:masterClrMapping/>
  </p:clrMapOvr>
</p:sld>
</file>

<file path=ppt/slides/slide3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77240" y="384048"/>
            <a:ext cx="10637215" cy="960120"/>
          </a:xfrm>
          <a:prstGeom prst="rect">
            <a:avLst/>
          </a:prstGeom>
          <a:noFill/>
        </p:spPr>
        <p:txBody>
          <a:bodyPr wrap="square" lIns="0" rIns="0" tIns="0" bIns="0" anchor="b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3400" b="1" i="0">
                <a:solidFill>
                  <a:srgbClr val="12355B"/>
                </a:solidFill>
                <a:latin typeface="Segoe UI"/>
                <a:ea typeface="Segoe UI"/>
                <a:cs typeface="Segoe UI"/>
              </a:rPr>
              <a:t>Tóm tắt bài học</a:t>
            </a:r>
          </a:p>
        </p:txBody>
      </p:sp>
      <p:sp>
        <p:nvSpPr>
          <p:cNvPr id="3" name="Rectangle 2"/>
          <p:cNvSpPr/>
          <p:nvPr/>
        </p:nvSpPr>
        <p:spPr>
          <a:xfrm>
            <a:off x="777240" y="1426464"/>
            <a:ext cx="1325880" cy="38100"/>
          </a:xfrm>
          <a:prstGeom prst="rect">
            <a:avLst/>
          </a:prstGeom>
          <a:solidFill>
            <a:srgbClr val="C810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2103120" y="1435608"/>
            <a:ext cx="9311335" cy="12700"/>
          </a:xfrm>
          <a:prstGeom prst="rect">
            <a:avLst/>
          </a:prstGeom>
          <a:solidFill>
            <a:srgbClr val="D3DAE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77240" y="1755648"/>
            <a:ext cx="10637215" cy="42976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marL="292608" indent="-292608">
              <a:lnSpc>
                <a:spcPct val="112000"/>
              </a:lnSpc>
              <a:spcAft>
                <a:spcPts val="1200"/>
              </a:spcAft>
              <a:buClr>
                <a:srgbClr val="C8102E"/>
              </a:buClr>
              <a:buSzPct val="85000"/>
              <a:buFont typeface="Segoe UI"/>
              <a:buChar char="▪"/>
            </a:pPr>
            <a:r>
              <a:rPr sz="2400">
                <a:solidFill>
                  <a:srgbClr val="1F2430"/>
                </a:solidFill>
                <a:latin typeface="Segoe UI"/>
                <a:ea typeface="Segoe UI"/>
                <a:cs typeface="Segoe UI"/>
              </a:rPr>
              <a:t>Dị biệt nghi do cơ chế khác sinh ra; nhiễu chỉ là sai số</a:t>
            </a:r>
          </a:p>
          <a:p>
            <a:pPr marL="292608" indent="-292608">
              <a:lnSpc>
                <a:spcPct val="112000"/>
              </a:lnSpc>
              <a:spcAft>
                <a:spcPts val="1200"/>
              </a:spcAft>
              <a:buClr>
                <a:srgbClr val="C8102E"/>
              </a:buClr>
              <a:buSzPct val="85000"/>
              <a:buFont typeface="Segoe UI"/>
              <a:buChar char="▪"/>
            </a:pPr>
            <a:r>
              <a:rPr sz="2400">
                <a:solidFill>
                  <a:srgbClr val="1F2430"/>
                </a:solidFill>
                <a:latin typeface="Segoe UI"/>
                <a:ea typeface="Segoe UI"/>
                <a:cs typeface="Segoe UI"/>
              </a:rPr>
              <a:t>Ba loại: toàn cục, ngữ cảnh và tập thể</a:t>
            </a:r>
          </a:p>
          <a:p>
            <a:pPr marL="292608" indent="-292608">
              <a:lnSpc>
                <a:spcPct val="112000"/>
              </a:lnSpc>
              <a:spcAft>
                <a:spcPts val="1200"/>
              </a:spcAft>
              <a:buClr>
                <a:srgbClr val="C8102E"/>
              </a:buClr>
              <a:buSzPct val="85000"/>
              <a:buFont typeface="Segoe UI"/>
              <a:buChar char="▪"/>
            </a:pPr>
            <a:r>
              <a:rPr sz="2400">
                <a:solidFill>
                  <a:srgbClr val="1F2430"/>
                </a:solidFill>
                <a:latin typeface="Segoe UI"/>
                <a:ea typeface="Segoe UI"/>
                <a:cs typeface="Segoe UI"/>
              </a:rPr>
              <a:t>Thống kê: 3σ, Grubbs, IQR, Mahalanobis, χ²</a:t>
            </a:r>
          </a:p>
          <a:p>
            <a:pPr marL="292608" indent="-292608">
              <a:lnSpc>
                <a:spcPct val="112000"/>
              </a:lnSpc>
              <a:spcAft>
                <a:spcPts val="1200"/>
              </a:spcAft>
              <a:buClr>
                <a:srgbClr val="C8102E"/>
              </a:buClr>
              <a:buSzPct val="85000"/>
              <a:buFont typeface="Segoe UI"/>
              <a:buChar char="▪"/>
            </a:pPr>
            <a:r>
              <a:rPr sz="2400">
                <a:solidFill>
                  <a:srgbClr val="1F2430"/>
                </a:solidFill>
                <a:latin typeface="Segoe UI"/>
                <a:ea typeface="Segoe UI"/>
                <a:cs typeface="Segoe UI"/>
              </a:rPr>
              <a:t>Lân cận: DB(r, π) cho dị biệt toàn cục, LOF cho dị biệt cục bộ</a:t>
            </a:r>
          </a:p>
          <a:p>
            <a:pPr marL="292608" indent="-292608">
              <a:lnSpc>
                <a:spcPct val="112000"/>
              </a:lnSpc>
              <a:spcAft>
                <a:spcPts val="1200"/>
              </a:spcAft>
              <a:buClr>
                <a:srgbClr val="C8102E"/>
              </a:buClr>
              <a:buSzPct val="85000"/>
              <a:buFont typeface="Segoe UI"/>
              <a:buChar char="▪"/>
            </a:pPr>
            <a:r>
              <a:rPr sz="2400">
                <a:solidFill>
                  <a:srgbClr val="1F2430"/>
                </a:solidFill>
                <a:latin typeface="Segoe UI"/>
                <a:ea typeface="Segoe UI"/>
                <a:cs typeface="Segoe UI"/>
              </a:rPr>
              <a:t>Phân cụm, phân loại một lớp và tái tạo tái sử dụng kỹ thuật đã học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77240" y="6272784"/>
            <a:ext cx="7658794" cy="29260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100" b="0" i="0">
                <a:solidFill>
                  <a:srgbClr val="5B6673"/>
                </a:solidFill>
                <a:latin typeface="Segoe UI"/>
                <a:ea typeface="Segoe UI"/>
                <a:cs typeface="Segoe UI"/>
              </a:rPr>
              <a:t>INT1422 · Bài 13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951415" y="6272784"/>
            <a:ext cx="1463040" cy="29260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100" b="0" i="0">
                <a:solidFill>
                  <a:srgbClr val="5B6673"/>
                </a:solidFill>
                <a:latin typeface="Segoe UI"/>
                <a:ea typeface="Segoe UI"/>
                <a:cs typeface="Segoe UI"/>
              </a:rPr>
              <a:t>33</a:t>
            </a:r>
          </a:p>
        </p:txBody>
      </p:sp>
    </p:spTree>
  </p:cSld>
  <p:clrMapOvr>
    <a:masterClrMapping/>
  </p:clrMapOvr>
</p:sld>
</file>

<file path=ppt/slides/slide3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77240" y="384048"/>
            <a:ext cx="10637215" cy="960120"/>
          </a:xfrm>
          <a:prstGeom prst="rect">
            <a:avLst/>
          </a:prstGeom>
          <a:noFill/>
        </p:spPr>
        <p:txBody>
          <a:bodyPr wrap="square" lIns="0" rIns="0" tIns="0" bIns="0" anchor="b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3400" b="1" i="0">
                <a:solidFill>
                  <a:srgbClr val="12355B"/>
                </a:solidFill>
                <a:latin typeface="Segoe UI"/>
                <a:ea typeface="Segoe UI"/>
                <a:cs typeface="Segoe UI"/>
              </a:rPr>
              <a:t>Câu hỏi ôn tập</a:t>
            </a:r>
          </a:p>
        </p:txBody>
      </p:sp>
      <p:sp>
        <p:nvSpPr>
          <p:cNvPr id="3" name="Rectangle 2"/>
          <p:cNvSpPr/>
          <p:nvPr/>
        </p:nvSpPr>
        <p:spPr>
          <a:xfrm>
            <a:off x="777240" y="1426464"/>
            <a:ext cx="1325880" cy="38100"/>
          </a:xfrm>
          <a:prstGeom prst="rect">
            <a:avLst/>
          </a:prstGeom>
          <a:solidFill>
            <a:srgbClr val="C810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2103120" y="1435608"/>
            <a:ext cx="9311335" cy="12700"/>
          </a:xfrm>
          <a:prstGeom prst="rect">
            <a:avLst/>
          </a:prstGeom>
          <a:solidFill>
            <a:srgbClr val="D3DAE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777240" y="1775967"/>
            <a:ext cx="10637215" cy="623824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5875">
            <a:solidFill>
              <a:srgbClr val="D3DAE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46304" rIns="146304" tIns="91440" bIns="91440"/>
          <a:lstStyle/>
          <a:p>
            <a:pPr algn="l">
              <a:lnSpc>
                <a:spcPct val="112000"/>
              </a:lnSpc>
            </a:pPr>
            <a:r>
              <a:rPr sz="2200" b="1">
                <a:solidFill>
                  <a:srgbClr val="C8102E"/>
                </a:solidFill>
                <a:latin typeface="Segoe UI"/>
                <a:ea typeface="Segoe UI"/>
                <a:cs typeface="Segoe UI"/>
              </a:rPr>
              <a:t>1.  </a:t>
            </a:r>
            <a:r>
              <a:rPr sz="2200">
                <a:solidFill>
                  <a:srgbClr val="1F2430"/>
                </a:solidFill>
                <a:latin typeface="Segoe UI"/>
                <a:ea typeface="Segoe UI"/>
                <a:cs typeface="Segoe UI"/>
              </a:rPr>
              <a:t>Phân biệt dị biệt, nhiễu và điểm mới, mỗi loại một ví dụ.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77240" y="2527807"/>
            <a:ext cx="10637215" cy="936752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5875">
            <a:solidFill>
              <a:srgbClr val="D3DAE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46304" rIns="146304" tIns="91440" bIns="91440"/>
          <a:lstStyle/>
          <a:p>
            <a:pPr algn="l">
              <a:lnSpc>
                <a:spcPct val="112000"/>
              </a:lnSpc>
            </a:pPr>
            <a:r>
              <a:rPr sz="2200" b="1">
                <a:solidFill>
                  <a:srgbClr val="C8102E"/>
                </a:solidFill>
                <a:latin typeface="Segoe UI"/>
                <a:ea typeface="Segoe UI"/>
                <a:cs typeface="Segoe UI"/>
              </a:rPr>
              <a:t>2.  </a:t>
            </a:r>
            <a:r>
              <a:rPr sz="2200">
                <a:solidFill>
                  <a:srgbClr val="1F2430"/>
                </a:solidFill>
                <a:latin typeface="Segoe UI"/>
                <a:ea typeface="Segoe UI"/>
                <a:cs typeface="Segoe UI"/>
              </a:rPr>
              <a:t>Cho dữ liệu 3, 4, 4, 5, 5, 6, 6, 7, 30: dùng quy tắc IQR tìm dị biệt.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77240" y="3592575"/>
            <a:ext cx="10637215" cy="623824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5875">
            <a:solidFill>
              <a:srgbClr val="D3DAE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46304" rIns="146304" tIns="91440" bIns="91440"/>
          <a:lstStyle/>
          <a:p>
            <a:pPr algn="l">
              <a:lnSpc>
                <a:spcPct val="112000"/>
              </a:lnSpc>
            </a:pPr>
            <a:r>
              <a:rPr sz="2200" b="1">
                <a:solidFill>
                  <a:srgbClr val="C8102E"/>
                </a:solidFill>
                <a:latin typeface="Segoe UI"/>
                <a:ea typeface="Segoe UI"/>
                <a:cs typeface="Segoe UI"/>
              </a:rPr>
              <a:t>3.  </a:t>
            </a:r>
            <a:r>
              <a:rPr sz="2200">
                <a:solidFill>
                  <a:srgbClr val="1F2430"/>
                </a:solidFill>
                <a:latin typeface="Segoe UI"/>
                <a:ea typeface="Segoe UI"/>
                <a:cs typeface="Segoe UI"/>
              </a:rPr>
              <a:t>Vì sao chính dị biệt có thể làm quy tắc 3σ thất bại?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77240" y="4344415"/>
            <a:ext cx="10637215" cy="623824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5875">
            <a:solidFill>
              <a:srgbClr val="D3DAE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46304" rIns="146304" tIns="91440" bIns="91440"/>
          <a:lstStyle/>
          <a:p>
            <a:pPr algn="l">
              <a:lnSpc>
                <a:spcPct val="112000"/>
              </a:lnSpc>
            </a:pPr>
            <a:r>
              <a:rPr sz="2200" b="1">
                <a:solidFill>
                  <a:srgbClr val="C8102E"/>
                </a:solidFill>
                <a:latin typeface="Segoe UI"/>
                <a:ea typeface="Segoe UI"/>
                <a:cs typeface="Segoe UI"/>
              </a:rPr>
              <a:t>4.  </a:t>
            </a:r>
            <a:r>
              <a:rPr sz="2200">
                <a:solidFill>
                  <a:srgbClr val="1F2430"/>
                </a:solidFill>
                <a:latin typeface="Segoe UI"/>
                <a:ea typeface="Segoe UI"/>
                <a:cs typeface="Segoe UI"/>
              </a:rPr>
              <a:t>Với A=0, B=2, C=3, D=4, E=10 và k = 2, tính LOF(E).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777240" y="5096255"/>
            <a:ext cx="10637215" cy="936752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5875">
            <a:solidFill>
              <a:srgbClr val="D3DAE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46304" rIns="146304" tIns="91440" bIns="91440"/>
          <a:lstStyle/>
          <a:p>
            <a:pPr algn="l">
              <a:lnSpc>
                <a:spcPct val="112000"/>
              </a:lnSpc>
            </a:pPr>
            <a:r>
              <a:rPr sz="2200" b="1">
                <a:solidFill>
                  <a:srgbClr val="C8102E"/>
                </a:solidFill>
                <a:latin typeface="Segoe UI"/>
                <a:ea typeface="Segoe UI"/>
                <a:cs typeface="Segoe UI"/>
              </a:rPr>
              <a:t>5.  </a:t>
            </a:r>
            <a:r>
              <a:rPr sz="2200">
                <a:solidFill>
                  <a:srgbClr val="1F2430"/>
                </a:solidFill>
                <a:latin typeface="Segoe UI"/>
                <a:ea typeface="Segoe UI"/>
                <a:cs typeface="Segoe UI"/>
              </a:rPr>
              <a:t>Nêu một ví dụ dị biệt ngữ cảnh trong dữ liệu bán lẻ và chỉ rõ hai nhóm thuộc tính.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77240" y="6272784"/>
            <a:ext cx="7658794" cy="29260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100" b="0" i="0">
                <a:solidFill>
                  <a:srgbClr val="5B6673"/>
                </a:solidFill>
                <a:latin typeface="Segoe UI"/>
                <a:ea typeface="Segoe UI"/>
                <a:cs typeface="Segoe UI"/>
              </a:rPr>
              <a:t>INT1422 · Bài 13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951415" y="6272784"/>
            <a:ext cx="1463040" cy="29260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100" b="0" i="0">
                <a:solidFill>
                  <a:srgbClr val="5B6673"/>
                </a:solidFill>
                <a:latin typeface="Segoe UI"/>
                <a:ea typeface="Segoe UI"/>
                <a:cs typeface="Segoe UI"/>
              </a:rPr>
              <a:t>34</a:t>
            </a:r>
          </a:p>
        </p:txBody>
      </p:sp>
    </p:spTree>
  </p:cSld>
  <p:clrMapOvr>
    <a:masterClrMapping/>
  </p:clrMapOvr>
</p:sld>
</file>

<file path=ppt/slides/slide3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77240" y="384048"/>
            <a:ext cx="10637215" cy="960120"/>
          </a:xfrm>
          <a:prstGeom prst="rect">
            <a:avLst/>
          </a:prstGeom>
          <a:noFill/>
        </p:spPr>
        <p:txBody>
          <a:bodyPr wrap="square" lIns="0" rIns="0" tIns="0" bIns="0" anchor="b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3400" b="1" i="0">
                <a:solidFill>
                  <a:srgbClr val="12355B"/>
                </a:solidFill>
                <a:latin typeface="Segoe UI"/>
                <a:ea typeface="Segoe UI"/>
                <a:cs typeface="Segoe UI"/>
              </a:rPr>
              <a:t>Tài liệu tham khảo</a:t>
            </a:r>
          </a:p>
        </p:txBody>
      </p:sp>
      <p:sp>
        <p:nvSpPr>
          <p:cNvPr id="3" name="Rectangle 2"/>
          <p:cNvSpPr/>
          <p:nvPr/>
        </p:nvSpPr>
        <p:spPr>
          <a:xfrm>
            <a:off x="777240" y="1426464"/>
            <a:ext cx="1325880" cy="38100"/>
          </a:xfrm>
          <a:prstGeom prst="rect">
            <a:avLst/>
          </a:prstGeom>
          <a:solidFill>
            <a:srgbClr val="C810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2103120" y="1435608"/>
            <a:ext cx="9311335" cy="12700"/>
          </a:xfrm>
          <a:prstGeom prst="rect">
            <a:avLst/>
          </a:prstGeom>
          <a:solidFill>
            <a:srgbClr val="D3DAE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77240" y="1755648"/>
            <a:ext cx="10637215" cy="42976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 marL="292608" indent="-292608">
              <a:lnSpc>
                <a:spcPct val="110000"/>
              </a:lnSpc>
              <a:spcBef>
                <a:spcPts val="0"/>
              </a:spcBef>
              <a:spcAft>
                <a:spcPts val="1100"/>
              </a:spcAft>
              <a:buClr>
                <a:srgbClr val="C8102E"/>
              </a:buClr>
              <a:buSzPct val="85000"/>
              <a:buFont typeface="Segoe UI"/>
              <a:buChar char="▪"/>
            </a:pPr>
            <a:r>
              <a:rPr sz="2000" b="0" i="0">
                <a:solidFill>
                  <a:srgbClr val="1F2430"/>
                </a:solidFill>
                <a:latin typeface="Segoe UI"/>
                <a:ea typeface="Segoe UI"/>
                <a:cs typeface="Segoe UI"/>
              </a:rPr>
              <a:t>Han, Kamber &amp; Pei (2022), Data Mining: Concepts and Techniques, 4th ed., Morgan Kaufmann</a:t>
            </a:r>
          </a:p>
          <a:p>
            <a:pPr algn="l" marL="292608" indent="-292608">
              <a:lnSpc>
                <a:spcPct val="110000"/>
              </a:lnSpc>
              <a:spcBef>
                <a:spcPts val="0"/>
              </a:spcBef>
              <a:spcAft>
                <a:spcPts val="1100"/>
              </a:spcAft>
              <a:buClr>
                <a:srgbClr val="C8102E"/>
              </a:buClr>
              <a:buSzPct val="85000"/>
              <a:buFont typeface="Segoe UI"/>
              <a:buChar char="▪"/>
            </a:pPr>
            <a:r>
              <a:rPr sz="2000" b="0" i="0">
                <a:solidFill>
                  <a:srgbClr val="1F2430"/>
                </a:solidFill>
                <a:latin typeface="Segoe UI"/>
                <a:ea typeface="Segoe UI"/>
                <a:cs typeface="Segoe UI"/>
              </a:rPr>
              <a:t>Aggarwal (2015), Data Mining: The Textbook, Springer</a:t>
            </a:r>
          </a:p>
          <a:p>
            <a:pPr algn="l" marL="292608" indent="-292608">
              <a:lnSpc>
                <a:spcPct val="110000"/>
              </a:lnSpc>
              <a:spcBef>
                <a:spcPts val="0"/>
              </a:spcBef>
              <a:spcAft>
                <a:spcPts val="1100"/>
              </a:spcAft>
              <a:buClr>
                <a:srgbClr val="C8102E"/>
              </a:buClr>
              <a:buSzPct val="85000"/>
              <a:buFont typeface="Segoe UI"/>
              <a:buChar char="▪"/>
            </a:pPr>
            <a:r>
              <a:rPr sz="2000" b="0" i="0">
                <a:solidFill>
                  <a:srgbClr val="1F2430"/>
                </a:solidFill>
                <a:latin typeface="Segoe UI"/>
                <a:ea typeface="Segoe UI"/>
                <a:cs typeface="Segoe UI"/>
              </a:rPr>
              <a:t>Tan, Steinbach &amp; Kumar (2019), Introduction to Data Mining, 2nd ed., Pearson</a:t>
            </a:r>
          </a:p>
          <a:p>
            <a:pPr algn="l" marL="292608" indent="-292608">
              <a:lnSpc>
                <a:spcPct val="110000"/>
              </a:lnSpc>
              <a:spcBef>
                <a:spcPts val="0"/>
              </a:spcBef>
              <a:spcAft>
                <a:spcPts val="1100"/>
              </a:spcAft>
              <a:buClr>
                <a:srgbClr val="C8102E"/>
              </a:buClr>
              <a:buSzPct val="85000"/>
              <a:buFont typeface="Segoe UI"/>
              <a:buChar char="▪"/>
            </a:pPr>
            <a:r>
              <a:rPr sz="2000" b="0" i="0">
                <a:solidFill>
                  <a:srgbClr val="1F2430"/>
                </a:solidFill>
                <a:latin typeface="Segoe UI"/>
                <a:ea typeface="Segoe UI"/>
                <a:cs typeface="Segoe UI"/>
              </a:rPr>
              <a:t>Nguyễn Quỳnh Chi (2018), Bài giảng Kho dữ liệu và Kỹ thuật khai phá, Học viện CNBCVT</a:t>
            </a:r>
          </a:p>
          <a:p>
            <a:pPr algn="l">
              <a:lnSpc>
                <a:spcPct val="115000"/>
              </a:lnSpc>
              <a:spcBef>
                <a:spcPts val="800"/>
              </a:spcBef>
              <a:spcAft>
                <a:spcPts val="0"/>
              </a:spcAft>
            </a:pPr>
            <a:r>
              <a:rPr sz="1400" b="0" i="1">
                <a:solidFill>
                  <a:srgbClr val="5B6673"/>
                </a:solidFill>
                <a:latin typeface="Segoe UI"/>
                <a:ea typeface="Segoe UI"/>
                <a:cs typeface="Segoe UI"/>
              </a:rPr>
              <a:t>Đọc thêm: Han, Kamber &amp; Pei (2022), Chương 11; Breunig và cộng sự (2000) về LOF.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77240" y="6272784"/>
            <a:ext cx="7658794" cy="29260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100" b="0" i="0">
                <a:solidFill>
                  <a:srgbClr val="5B6673"/>
                </a:solidFill>
                <a:latin typeface="Segoe UI"/>
                <a:ea typeface="Segoe UI"/>
                <a:cs typeface="Segoe UI"/>
              </a:rPr>
              <a:t>INT1422 · Bài 13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951415" y="6272784"/>
            <a:ext cx="1463040" cy="29260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100" b="0" i="0">
                <a:solidFill>
                  <a:srgbClr val="5B6673"/>
                </a:solidFill>
                <a:latin typeface="Segoe UI"/>
                <a:ea typeface="Segoe UI"/>
                <a:cs typeface="Segoe UI"/>
              </a:rPr>
              <a:t>35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Bài 13 - Phát hiện dị biệt</dc:title>
  <dc:subject>INT1422 Kho dữ liệu và Khai phá dữ liệu</dc:subject>
  <dc:creator>Nguyen Quynh Chi - PTIT</dc:creator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