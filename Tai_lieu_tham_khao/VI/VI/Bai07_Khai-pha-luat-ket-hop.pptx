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4 tiết, nhiều tính toán; dành trọn 2 tiết cho Apriori.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2 và 3 sẽ được kiểm tra bằng bài tập tính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Kể câu chuyện bia và tã lót, rồi nói rõ đó là giai thoại.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Viết năm định nghĩa lên bảng và giữ suốt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độ hỗ trợ tính trên toàn bộ CSDL, độ tin cậy chỉ tính trên phần chứa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Giữ bảng này hiển thị suốt buổi; mọi ví dụ sau đều dùng lại nó.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bấm máy tính 3^10 để cảm nhận độ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tỷ lệ chi phí: bước 1 chiếm gần như toàn bộ thời gian chạy.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cả mệnh đề thuận và mệnh đề phản đảo; cắt tỉa dùng mệnh đề phản đảo.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vòng lặp một lần duyệt đĩa — đó là chi phí chính của Apriori.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đếm I3 trên bảng giao dịch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đếm ba cặp bất kỳ; đối chiếu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quan trọng nhất của bài; đi chậm, hỏi từng tập 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cắt tỉa dùng bộ nhớ để tránh một lần duyệt đĩa rất đắt.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Chia phần dựa trên nhận xét: tập thường xuyên toàn cục phải thường xuyên ở ít nhất một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giao I2 với I3 và đối chiếu với L2 đã tính bằng Apriori.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rõ mẫu số khác nhau ở từng luật; đây là lỗi sai phổ biến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kỹ năng sinh viên cần khi bảo vệ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nếu mẫu dài 10 phần tử thì Apriori cần bao nhiêu lần duyệt?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vì sao xếp mục phổ biến trước lại nén tốt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cây từng giao dịch một lên bảng, khoảng 10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Bắt đầu từ mục hiếm nhất là quy tắc, không phải lựa chọn ngẫu nhiên.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luận: dùng Apriori để dạy, dùng FP-Growth để chạy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hay nhất để phá bỏ niềm tin ngây thơ vào độ tin cậy.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Tính lại độ nâng của ví dụ trà–cà phê ngay trên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I1 → I2 có độ tin cậy 67% nhưng độ nâng 0,86: mua I1 làm giảm khả năng mua I2.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giới thiệu; sinh viên chỉ cần thuộc độ nâng.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hệ: mẫu đóng là cách giảm số luật phải trình bày trong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Ý cuối là lý do cần lọc luật dư thừa trước khi trình bày cho người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Ràng buộc đơn điệu ngược cắt tỉa được ngay trong vòng lặp Apriori.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giới thiệu; đề cương không yêu cầu tính bằng tay mẫu tuần tự.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Bắt sinh viên đối chiếu kết quả máy với kết quả tay — đó là cách tự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nhắc lại tính chất Apriori bằng lời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1 và 2 là bài tập bắt buộc cho buổi tuần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luật kết hợp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Tập mục thường xuyên, thuật toán Apriori và FP-Growth, đánh giá luật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7 · 4 tiết · Chuẩn đầu ra: CLO2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toán và các khái niệm cơ bản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vét cạn không khả thi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Apriori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Sinh luật từ tập mục thường xuyên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FP-Growth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độ thú vị của luật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được độ hỗ trợ và độ tin cậy của một luật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được thuật toán Apriori bằng tay trên bộ dữ liệu nhỏ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Sinh được toàn bộ luật mạnh từ một tập mục thường xuyên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Xây được cây FP và tìm mẫu bằng cơ sở mẫu điều kiện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vì sao độ tin cậy cao vẫn có thể vô nghĩa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toán và khái niệm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Cái gì thường được mua cùng nhau?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Nguồn gốc và ứng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9514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71676" y="2799892"/>
            <a:ext cx="453543" cy="113386"/>
          </a:xfrm>
          <a:custGeom>
            <a:avLst/>
            <a:gdLst/>
            <a:ahLst/>
            <a:cxnLst/>
            <a:rect l="l" t="t" r="r" b="b"/>
            <a:pathLst>
              <a:path w="453543" h="113386">
                <a:moveTo>
                  <a:pt x="0" y="113386"/>
                </a:moveTo>
                <a:lnTo>
                  <a:pt x="124724" y="0"/>
                </a:lnTo>
                <a:lnTo>
                  <a:pt x="453543" y="0"/>
                </a:lnTo>
                <a:lnTo>
                  <a:pt x="328819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1676" y="2913278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00495" y="2799892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251460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Ra đời từ bài toán phân tích giỏ hàng siêu thị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229514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7201" y="3083356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84602" y="2941624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32004" y="2799892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3682" y="251460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 trí kệ hàng và thiết kế chương trình bán kèm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29514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4695" y="293595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29497" y="293595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493434" y="3026664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20860" y="251460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Gợi ý sản phẩm trên nền tảng thương mại điện tử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4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3015" y="4516404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8999" y="4709160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43802" y="4561758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15455" y="4731837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46504" y="419709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tích triệu chứng đi kèm trong hồ sơ bệnh án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4418" y="397764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86178" y="4459711"/>
            <a:ext cx="498896" cy="498896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4917" y="4618451"/>
            <a:ext cx="181416" cy="1814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3682" y="419709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Phát hiện chuỗi sự kiện đi cùng nhau trong log hệ thống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khái niệm nền tảng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mặt hàng; **tập mục:** một tập các mục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k-tập mục: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tập mục có đúng k phần tử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Giao dịch: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bản ghi chứa một tập mục, có định danh riêng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Luật kết hợp: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X → Y, với X và Y rời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Tập mục thường xuyên: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tập mục có độ hỗ trợ đạt ngưỡng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hỗ trợ và độ tin cậy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sup(X→Y) = P(X∪Y)     conf(X→Y) = sup(X∪Y) / sup(X)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hỗ trợ trả lời: luật này áp dụng cho bao nhiêu phần trăm giao dịch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tin cậy trả lời: trong số giao dịch có X, bao nhiêu phần trăm có cả Y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**mạnh** khi đạt cả ngưỡng hỗ trợ và ngưỡng tin cậy tối thiểu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hỗ trợ lọc mẫu hiếm; độ tin cậy lọc mẫu yếu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Bộ dữ liệu dùng suốt bài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Chín giao dịch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T100: I1, I2, I5      T200: I2, I4          T300: I2, I3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T400: I1, I2, I4      T500: I1, I3          T600: I2, I3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T700: I1, I3          T800: I1, I2, I3, I5  T900: I1, I2, I3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Ngưỡng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min_sup = 2 giao dich (22%)      min_conf = 70%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Ví dụ tính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sup(I1 -&gt; I2)  = |{T100,T400,T800,T900}| / 9 = 4/9 = 44,4%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conf(I1 -&gt; I2) = 4 / 6 = 66,7%   (I1 xuat hien trong 6 giao dich)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này đạt ngưỡng hỗ trợ nhưng **không** đạt ngưỡng tin cậy 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Vì sao không thể vét cạn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Số luật có thể sinh  =  3^d − 2^(d+1) + 1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 là số mặt hàng phân biệt trong cơ sở dữ liệu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d = 6: 602 luật; với d = 10: 57 002 luật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siêu thị nhỏ có d ≈ 10 000 mặt hàng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cắt giảm không gian tìm kiếm trước khi tính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Tan, Steinbach &amp; Kumar (2019), Introduction to Data Mining, 2nd ed., Pearson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gian tìm kiếm bùng nổ ra sao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679192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602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776472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luật khi có 6 mặt hàng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8322" y="2514600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2679192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57 002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3776472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luật khi có 10 mặt hàng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404" y="2514600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7420" y="2679192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10 000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420" y="3776472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mặt hàng của một siêu thị nhỏ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vậy phải cắt giảm không gian tìm kiếm trước, rồi mới tính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Tan, Steinbach &amp; Kumar (2019), Introduction to Data Mining, 2nd ed., Pearson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Cách tiếp cận hai bước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5126583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Tìm mọi tập mục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thường xuyên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1" y="1984248"/>
            <a:ext cx="5126583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Sinh luật mạnh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từ các tập đó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Bước 1 tốn kém: phải duyệt cơ sở dữ liệu nhiều lần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Bước 2 rẻ: chỉ thao tác trên các tập mục đã tìm được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thuật toán khai phá luật kết hợp đều theo khung này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Thuật toán Apriori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Cắt giảm ứng cử viên bằng một tính chất đơn giản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Mọi tập con khác rỗng của một tập mục thường xuyên đều thường xuyên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Hệ quả dùng để cắt tỉa: nếu một tập con không thường xuyên thì tập cha cũng không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Vòng lặp của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34284" y="2799046"/>
            <a:ext cx="93275" cy="77510"/>
          </a:xfrm>
          <a:prstGeom prst="line">
            <a:avLst/>
          </a:prstGeom>
          <a:ln w="254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6888052" y="2829015"/>
            <a:ext cx="130932" cy="123514"/>
          </a:xfrm>
          <a:custGeom>
            <a:avLst/>
            <a:gdLst/>
            <a:ahLst/>
            <a:cxnLst/>
            <a:rect l="l" t="t" r="r" b="b"/>
            <a:pathLst>
              <a:path w="130932" h="123514">
                <a:moveTo>
                  <a:pt x="130932" y="123514"/>
                </a:moveTo>
                <a:lnTo>
                  <a:pt x="0" y="95082"/>
                </a:lnTo>
                <a:lnTo>
                  <a:pt x="79013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6925709" y="4179790"/>
            <a:ext cx="93275" cy="77510"/>
          </a:xfrm>
          <a:prstGeom prst="line">
            <a:avLst/>
          </a:prstGeom>
          <a:ln w="254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6834284" y="4209759"/>
            <a:ext cx="130931" cy="123514"/>
          </a:xfrm>
          <a:custGeom>
            <a:avLst/>
            <a:gdLst/>
            <a:ahLst/>
            <a:cxnLst/>
            <a:rect l="l" t="t" r="r" b="b"/>
            <a:pathLst>
              <a:path w="130931" h="123514">
                <a:moveTo>
                  <a:pt x="0" y="123514"/>
                </a:moveTo>
                <a:lnTo>
                  <a:pt x="51919" y="0"/>
                </a:lnTo>
                <a:lnTo>
                  <a:pt x="130931" y="95082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5264136" y="4255763"/>
            <a:ext cx="93275" cy="77510"/>
          </a:xfrm>
          <a:prstGeom prst="line">
            <a:avLst/>
          </a:prstGeom>
          <a:ln w="254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5172710" y="4179790"/>
            <a:ext cx="130932" cy="123514"/>
          </a:xfrm>
          <a:custGeom>
            <a:avLst/>
            <a:gdLst/>
            <a:ahLst/>
            <a:cxnLst/>
            <a:rect l="l" t="t" r="r" b="b"/>
            <a:pathLst>
              <a:path w="130932" h="123514">
                <a:moveTo>
                  <a:pt x="0" y="0"/>
                </a:moveTo>
                <a:lnTo>
                  <a:pt x="130932" y="28432"/>
                </a:lnTo>
                <a:lnTo>
                  <a:pt x="51920" y="123514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172710" y="2875019"/>
            <a:ext cx="93275" cy="77510"/>
          </a:xfrm>
          <a:prstGeom prst="line">
            <a:avLst/>
          </a:prstGeom>
          <a:ln w="254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5226479" y="2799046"/>
            <a:ext cx="130932" cy="123514"/>
          </a:xfrm>
          <a:custGeom>
            <a:avLst/>
            <a:gdLst/>
            <a:ahLst/>
            <a:cxnLst/>
            <a:rect l="l" t="t" r="r" b="b"/>
            <a:pathLst>
              <a:path w="130932" h="123514">
                <a:moveTo>
                  <a:pt x="130932" y="0"/>
                </a:moveTo>
                <a:lnTo>
                  <a:pt x="79012" y="123514"/>
                </a:lnTo>
                <a:lnTo>
                  <a:pt x="0" y="28432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52847" y="1792224"/>
            <a:ext cx="2286000" cy="786384"/>
          </a:xfrm>
          <a:prstGeom prst="roundRect">
            <a:avLst>
              <a:gd name="adj" fmla="val 8139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Đếm 1-tập mục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4420" y="3172968"/>
            <a:ext cx="2286000" cy="786384"/>
          </a:xfrm>
          <a:prstGeom prst="roundRect">
            <a:avLst>
              <a:gd name="adj" fmla="val 8139"/>
            </a:avLst>
          </a:prstGeom>
          <a:solidFill>
            <a:srgbClr val="1B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Nối Lₖ₋₁ → Cₖ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2847" y="4553712"/>
            <a:ext cx="2286000" cy="786384"/>
          </a:xfrm>
          <a:prstGeom prst="roundRect">
            <a:avLst>
              <a:gd name="adj" fmla="val 8139"/>
            </a:avLst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Cắt tỉa Cₖ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274" y="3172968"/>
            <a:ext cx="2286000" cy="786384"/>
          </a:xfrm>
          <a:prstGeom prst="roundRect">
            <a:avLst>
              <a:gd name="adj" fmla="val 8139"/>
            </a:avLst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Duyệt CSDL đếm Cₖ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327355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Lặp đến khi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Lₖ rỗng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vòng lặp tốn đúng một lần duyệt toàn bộ cơ sở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1: tìm L₁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Đếm ứng cử viên C₁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I1: 6   (T100, T400, T500, T700, T800, T900)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I2: 7   (T100, T200, T300, T400, T600, T800, T900)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I3: 6   (T300, T500, T600, T700, T800, T900)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I4: 2   (T200, T400)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I5: 2   (T100, T800)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quả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L1 = {I1:6, I2:7, I3:6, I4:2, I5:2}    -- tat ca deu dat min_sup = 2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mục nào bị loại ở vòng đầu vì ngưỡng hỗ trợ đặt thấp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2: từ C₂ đến L₂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Mười ứng cử viên và số đếm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{I1,I2}: 4    {I1,I3}: 4    {I1,I4}: 1    {I1,I5}: 2    {I2,I3}: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{I2,I4}: 2    {I2,I5}: 2    {I3,I4}: 0    {I3,I5}: 1    {I4,I5}: 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Loại các tập dưới ngưỡng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Loai: {I1,I4}=1, {I3,I4}=0, {I3,I5}=1, {I4,I5}=0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quả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L2 = {I1I2:4, I1I3:4, I1I5:2, I2I3:4, I2I4:2, I2I5:2}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Từ 10 ứng cử viên còn 6 tập mục thường xuyên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3: cắt tỉa mạnh ở C₃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Nối L₂ với chính nó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Ung cu vien: {I1,I2,I3} {I1,I2,I5} {I1,I3,I5}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     {I2,I3,I4} {I2,I3,I5} {I2,I4,I5}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Cắt tỉa bằng tính chất Apriori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{I1,I3,I5}: tap con {I3,I5} khong thuoc L2  -&gt; loai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{I2,I3,I4}: tap con {I3,I4} khong thuoc L2  -&gt; loai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{I2,I3,I5}: tap con {I3,I5} khong thuoc L2  -&gt; loai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{I2,I4,I5}: tap con {I4,I5} khong thuoc L2  -&gt; loai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Chỉ còn hai ứng cử viên phải đếm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L3 = {I1,I2,I3}: 2   va   {I1,I2,I5}: 2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Cắt tỉa loại 4 trong 6 ứng cử viên, chưa cần đọc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Sinh ứng cử viên: nối và cắt tỉa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Nối: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ghép hai tập trong Lₖ₋₁ trùng nhau ở k−2 phần tử đầu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Giữ thứ tự từ điển để mỗi ứng cử viên chỉ sinh một lần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Cắt tỉa: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loại ứng cử viên có (k−1)-tập con ngoài Lₖ₋₁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Cắt tỉa dùng bộ nhớ, tránh phải duyệt đĩa — đổi rẻ lấy đắt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Dừng khi Lₖ rỗng: tập mục thường xuyên dài nhất đã tìm xong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cách tăng tốc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71676" y="2467985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46504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Băm ứng cử viên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Băm cặp mục vào giỏ; giỏ dưới ngưỡng thì loại cả giỏ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0751" y="2388616"/>
            <a:ext cx="566928" cy="5669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46499" y="2564363"/>
            <a:ext cx="215432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646499" y="2564363"/>
            <a:ext cx="215432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2271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Tỉa bớt giao dịch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Giao dịch không chứa tập mục thường xuyên nào thì bỏ khỏi vòng sau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71676" y="4253788"/>
            <a:ext cx="453543" cy="113386"/>
          </a:xfrm>
          <a:custGeom>
            <a:avLst/>
            <a:gdLst/>
            <a:ahLst/>
            <a:cxnLst/>
            <a:rect l="l" t="t" r="r" b="b"/>
            <a:pathLst>
              <a:path w="453543" h="113386">
                <a:moveTo>
                  <a:pt x="0" y="113386"/>
                </a:moveTo>
                <a:lnTo>
                  <a:pt x="124724" y="0"/>
                </a:lnTo>
                <a:lnTo>
                  <a:pt x="453543" y="0"/>
                </a:lnTo>
                <a:lnTo>
                  <a:pt x="328819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1676" y="4367174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00495" y="4253788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Chia phần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CSDL thành phần vừa bộ nhớ; chỉ cần hai lần duyệt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55790" y="4537252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3192" y="4395520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0593" y="4253788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Lấy mẫu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Khai phá trên mẫu rồi kiểm chứng lại trên toàn bộ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Định dạng dữ liệu dọc và thuật toán Eclat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Đổi cách lưu: mỗi **mục** đi kèm **tập định danh giao dịch** chứa nó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hỗ trợ = **kích thước phần giao** của các tập định danh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cần duyệt lại cơ sở dữ liệu: chỉ giao các tập định danh với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Nhanh khi tập định danh ngắn; tốn bộ nhớ khi mục quá phổ biến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Cải tiến: chỉ lưu **phần chênh lệch** của tập định danh (diffset)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Eclat trên bộ dữ liệu chín giao dịch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Định dạng dọc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I1: {T100,T400,T500,T700,T800,T900}     -&gt; sup =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I2: {T100,T200,T300,T400,T600,T800,T900} -&gt; sup = 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I3: {T300,T500,T600,T700,T800,T900}     -&gt; sup = 6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Giao hai tập định danh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 &amp; I2 = {T100,T400,T800,T900}         -&gt; sup =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 &amp; I3 = {T500,T700,T800,T900}         -&gt; sup = 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Giao ba tập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 &amp; I2 &amp; I3 = {T800,T900}              -&gt; sup = 2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trùng khớp với Apriori, nhưng không duyệt lại CSDL lần nào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Sinh luật kết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Từ tập mục thường xuyên sang luật có thể hành động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Sinh luật từ {I1, I2, I5}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Tập mục có độ hỗ trợ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 &amp; I2 -&gt; I5    conf = 2/4 = 50%    -&gt; loai / rejected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 &amp; I5 -&gt; I2    conf = 2/2 = 100%   -&gt; GIU / KEPT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I2 &amp; I5 -&gt; I1    conf = 2/2 = 100%   -&gt; GIU / KEPT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I1 -&gt; I2 &amp; I5    conf = 2/6 = 33%    -&gt; loai / rejected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I2 -&gt; I1 &amp; I5    conf = 2/7 = 29%    -&gt; loai / rejected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I5 -&gt; I1 &amp; I2    conf = 2/2 = 100%   -&gt; GIU / KEPT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min_conf = 70%, ba trong sáu luật được giữ lại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k-tập mục sinh ra 2^k − 2 luật ứng cử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Đọc kết quả cho người nghiệp vụ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I5 → I1, I2 đúng 100% nhưng chỉ dựa trên 2 giao dịch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Tin cậy cao trên hỗ trợ thấp là dấu hiệu ngẫu nhiên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báo cáo kèm cả độ hỗ trợ tuyệt đối, không chỉ tỷ lệ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Kiểm chứng trên khoảng thời gian khác trước khi triển khai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kết hợp là tương quan, không phải nhân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Thuật toán FP-Growth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Tìm mẫu thường xuyên mà không sinh ứng cử viên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Vì sao cần thay thế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ứng cử viên vẫn có thể rất lớn ở các vòng giữa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vòng lặp tốn một lần duyệt toàn bộ cơ sở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mẫu dài, Apriori cần rất nhiều vòng lặp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FP-Growth chỉ duyệt cơ sở dữ liệu đúng hai lần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Ý tưởng: nén dữ liệu vào cây rồi khai phá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1: sắp xếp theo tần suất giảm dần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Thứ tự toàn cục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I2:7  &gt;  I1:6  &gt;  I3:6  &gt;  I4:2  &gt;  I5:2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Giao dịch sau khi sắp xếp lại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T100: I2,I1,I5     T200: I2,I4        T300: I2,I3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T400: I2,I1,I4     T500: I1,I3        T600: I2,I3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T700: I1,I3        T800: I2,I1,I3,I5  T900: I2,I1,I3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Mục phổ biến đứng trước giúp các giao dịch dùng chung tiền tố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Tiền tố dùng chung càng dài thì cây nén càng tốt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2: xây cây FP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6397455" y="2192804"/>
            <a:ext cx="2111256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08711" y="2192804"/>
            <a:ext cx="2111255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381376" y="2911047"/>
            <a:ext cx="3016079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97455" y="2911047"/>
            <a:ext cx="603216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397455" y="2911047"/>
            <a:ext cx="2412863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571728" y="3629290"/>
            <a:ext cx="1809648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81376" y="3629290"/>
            <a:ext cx="0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81376" y="3629290"/>
            <a:ext cx="1809647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71728" y="4347533"/>
            <a:ext cx="0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19966" y="2911047"/>
            <a:ext cx="0" cy="281086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14222" y="1755648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2966" y="2473890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I2:7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86887" y="3192133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I1:4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10376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I3:2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28619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I5:1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6887" y="3910376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I4:1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6535" y="3910376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I5:1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6182" y="3192133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I3:2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5830" y="3192133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I4:1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5477" y="2473890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I1:2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5477" y="3192133"/>
            <a:ext cx="1588977" cy="437156"/>
          </a:xfrm>
          <a:prstGeom prst="roundRect">
            <a:avLst>
              <a:gd name="adj" fmla="val 14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I3:2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63721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đầu mục liên kết mọi nút mang cùng một mục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Chín giao dịch nén lại còn mười nút nhờ dùng chung tiền tố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3: khai phá bằng cơ sở mẫu điều kiện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Bắt đầu từ mục hiếm nhất: I5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Co so mau dieu kien cua I5:  {I2,I1 : 1}  va  {I2,I1,I3 : 1}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Đếm trong cơ sở mẫu điều kiện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I2: 2    I1: 2    I3: 1  -&gt; I3 duoi nguong, bi loai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Cây FP điều kiện của I5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&lt;I2:2, I1:2&gt;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Mẫu thường xuyên sinh 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{I2,I5}:2    {I1,I5}:2    {I2,I1,I5}:2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trùng khớp với L₃ mà Apriori tìm được ở trên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Apriori so với FP-Growth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Apriori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Sinh ứng cử viên rồi kiểm tra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Duyệt cơ sở dữ liệu k lần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Dễ hiểu, dễ cài đặt, dễ song song hoá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Chậm khi mẫu dài hoặc ngưỡng thấp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FP-Growth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sinh ứng cử viên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Duyệt cơ sở dữ liệu đúng hai lần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Nhanh hơn nhiều trên dữ liệu dày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phải vừa bộ nhớ; cài đặt phức tạp hơn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Đánh giá độ thú vị của luật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Độ tin cậy cao chưa chắc là luật đáng giá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Nghịch lý của độ tin cậy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Tình huống kinh điển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10 000 giao dich: 6 000 mua tra, 7 500 mua ca phe, 4 000 mua ca hai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Luật “mua trà thì mua cà phê”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conf(Tra -&gt; Ca phe) = 4 000 / 6 000 = 66,7%   -- nghe rat manh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Nhưng xác suất nền là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P(Ca phe) = 7 500 / 10 000 = 75%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Biết khách mua trà làm xác suất mua cà phê **giảm** từ 75% xuống 66,7%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có độ tin cậy cao nhưng mối liên hệ là **âm**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Tan, Steinbach &amp; Kumar (2019), Introduction to Data Mining, 2nd ed., Pearson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nâng (lift)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lift(X→Y) = conf(X→Y) / sup(Y) = P(X∪Y) / (P(X)·P(Y))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lift = 1: X và Y độc lập, luật không mang thông tin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lift &gt; 1: tương quan dương, X làm tăng khả năng có Y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lift &lt; 1: tương quan âm, X làm giảm khả năng có Y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 trà–cà phê ở trên: lift = 0,667 / 0,75 = 0,89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nâng của các luật trong ví dụ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Chỉ luật có độ nâng lớn hơn 1 mới đáng xem xét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9806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I5 → I1 ∧ I2   (conf 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2761488"/>
            <a:ext cx="643097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9080" y="2761488"/>
            <a:ext cx="6430975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28071" y="279806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2,25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958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I1 ∧ I5 → I2   (conf 100%)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3493008"/>
            <a:ext cx="643097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493008"/>
            <a:ext cx="3687092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28071" y="352958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1,29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6110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I2 → I3   (conf 57%)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4224528"/>
            <a:ext cx="643097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4224528"/>
            <a:ext cx="2458061" cy="5669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28071" y="426110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0,86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9262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I1 → I2   (conf 67%)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4956048"/>
            <a:ext cx="6430975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80" y="4956048"/>
            <a:ext cx="2458061" cy="5669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8071" y="499262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0,86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độ đo thú vị khác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770"/>
                <a:gridCol w="4205410"/>
                <a:gridCol w="395803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Độ đo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Ý nghĩa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Lưu ý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Độ nâng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Tỷ lệ so với giả thiết độc lập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Nhạy với mục quá phổ biến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Hệ số χ²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Kiểm định tính độc lập thống kê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Cần cỡ mẫu đủ lớn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all_confidence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Độ tin cậy nhỏ nhất trong mọi hướng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bị ảnh hưởng bởi giao dịch rỗng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Hệ số Kulczynski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Trung bình hai chiều tin cậy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Nên đi kèm tỷ lệ mất cân bằng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Mẫu đóng và mẫu cực đại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tập mục thường xuyên vẫn có thể nhiều đến mức vô dụng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Mẫu đóng: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không có tập cha nào cùng độ hỗ trợ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Mẫu đóng nén kết quả mà **không** mất thông tin độ hỗ trợ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Mẫu cực đại: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không có tập cha nào còn thường xuyên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Mẫu cực đại nén mạnh hơn nhưng mất thông tin độ hỗ trợ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Các dạng luật kết hợp mở rộng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Ngoài luật một mức, một chiều, nhị phân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Luật kết hợp đa mức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bán hàng có phân cấp: sữa → sữa tươi → sữa tươi hãng X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Ở mức thấp, mọi tổ hợp đều hiếm nên không đạt ngưỡng hỗ trợ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Ngưỡng đồng nhất: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một ngưỡng cho mọi mức — đơn giản nhưng bỏ sót mức thấp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Ngưỡng giảm dần: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mức càng thấp thì ngưỡng càng thấp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Cảnh báo: luật mức thấp có thể chỉ là hệ quả của luật mức 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Luật đa chiều và luật định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một chiều chỉ nói về **mặt hàng**: mua A thì mua B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**đa chiều** kéo thêm thuộc tính khác: tuổi, nghề nghiệp, khu vực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tuổi(20..29) ∧ nghề(sinh viên) → mua(máy tính xách tay)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 tính **số** phải được rời rạc hoá trước, dùng kỹ thuật ở Bài 6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Rời rạc hoá theo khoảng cứng làm mất luật ở gần biên khoảng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có ràng buộc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148"/>
                <a:gridCol w="3958033"/>
                <a:gridCol w="395803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Loại ràng buộc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Tính chất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Đơn điệu ngược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Tập không thoả thì mọi tập cha đều không thoả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sum(giá) ≤ 100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Đơn điệu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Tập đã thoả thì mọi tập cha đều thoả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sum(giá) ≥ 100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Súc tích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Sinh thẳng được tập thoả, không cần thử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min(giá) ≤ 50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Mẫu hiếm và tương quan âm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Ngưỡng hỗ trợ cao thì bỏ sót mẫu hiếm nhưng quan trọng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kim cương bán rất ít nhưng giá trị mỗi giao dịch rất lớn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Ngưỡng thấp thì sinh ra quá nhiều mẫu, phần lớn là ngẫu nhiên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Mẫu tương quan âm: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hai mặt hàng hầu như không bao giờ mua cùng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độ nâng nhỏ hơn 1 và kiểm định χ² để xác nhận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mẫu tuần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kết hợp bỏ qua **thứ tự**; mẫu tuần tự thì không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mua điện thoại rồi ba tháng sau mua tai nghe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GSP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mở rộng Apriori: sinh ứng cử viên chuỗi rồi đếm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PrefixSpan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mở rộng FP-Growth: chia theo tiền tố, không sinh ứng cử viên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Ứng dụng: phân tích hành trình khách hàng, chuỗi sự kiện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Chạy Apriori bằng thư viện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Chính bộ chín giao dịch vừa làm bằng tay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22576"/>
            <a:ext cx="10637215" cy="3730752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1" y="2523744"/>
            <a:ext cx="10125151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mlxtend.preprocessing import TransactionEncoder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mlxtend.frequent_patterns import apriori, association_rules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gd = [["I1","I2","I5"], ["I2","I4"], ["I2","I3"],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["I1","I2","I4"], ["I1","I3"], ["I2","I3"],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["I1","I3"], ["I1","I2","I3","I5"], ["I1","I2","I3"]]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te = TransactionEncoder()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X = pd.DataFrame(te.fit(gd).transform(gd), columns=te.columns_)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 = apriori(X, min_support=2/9, use_colnames=True)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R = association_rules(L, metric="confidence", min_threshold=0.7)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print(R[["antecedents","consequents","support","confidence","lift"]])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8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phải trùng với L₃ và ba luật mạnh đã tính bằng tay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kết hợp được đo bằng độ hỗ trợ và độ tin cậy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chất Apriori cho phép cắt tỉa không gian tìm kiếm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Apriori duyệt CSDL k lần; FP-Growth chỉ duyệt hai lần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k-tập mục sinh 2^k − 2 luật ứng cử viên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dùng độ nâng để loại các luật tin cậy cao nhưng vô nghĩa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80946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min_sup = 3 thay vì 2, L₂ và L₃ của bộ dữ liệu trên thay đổi thế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3131"/>
            <a:ext cx="10637215" cy="80946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Sinh toàn bộ luật từ {I1, I2, I3} và xác định luật nào mạnh ở min_conf =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30615"/>
            <a:ext cx="10637215" cy="80946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Chứng minh: nếu {A, B} không thường xuyên thì {A, B, C} cũng không thường xuyên.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68098"/>
            <a:ext cx="10637215" cy="80946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luật có độ tin cậy 90% và độ nâng 0,95. Có nên triển khai không? Vì sao?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05582"/>
            <a:ext cx="10637215" cy="547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FP-Growth sắp xếp mục theo tần suất giảm dần chứ không tăng dần?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Aggarwal (2015), Data Mining: The Textbook, Springer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Giáo trình mục 4.3; quyển 1 chương 6 (phân loại).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7 - Khai phá luật kết hợp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