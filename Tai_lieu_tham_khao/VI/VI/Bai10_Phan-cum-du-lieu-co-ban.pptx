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4 tiết; dành trọn 2 tiết cho k-means và ví dụ tính tay.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 3 là phần chắc chắn được kiểm 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Viết câu này lên bảng; mọi thuật toán trong bài đều nhằm tối ưu nó.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sinh viên vì sao phân cụm khó đánh giá hơn phân loại.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sinh viên tìm thêm ứng dụng trong lĩnh vực các em quan tâm.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Chỉ cần nhớ p = 1 và p = 2; các trường hợp khác chỉ để biết.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Ý cuối quan trọng: chỉ cần định nghĩa được khoảng cách là phân cụm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sinh viên: ba con số này đo cùng một cặp điểm, vậy con số nào đúng?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Giải thích rõ vì sao N-N không mang thông tin: hầu hết ai cũng âm tính.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bước chuẩn hoá thứ hạng: nếu bỏ qua thì thuộc tính nhiều mức sẽ lấn 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Đó là lý do cosin phù hợp cho văn bản: bài dài và bài ngắn vẫn so được.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Đây là cách scikit-learn và các thư viện thực tế xử lý dữ liệu bảng.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Sinh viên bài tập lớn phải chọn được đúng dòng trong bảng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tính Manhattan trước khi chiếu.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này học họ phân hoạch; Bài 11 học ba họ còn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hàm mục tiêu luôn giảm nên thuật toán chắc chắn dừng.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Vẽ tám điểm lên bảng có lưới toạ độ trước khi tính.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đoán bằng mắt điểm nào vào cụm nào trước khi tính.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tính P3 và P6; giảng viên chỉ chữa.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tự kiểm chứng vòng 3 tại lớp trước khi chiếu kết quả.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Nhược điểm thứ ba là lý do có k-medoids ở cuối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k-means++ là mặc định của hầu hết thư viện hiện nay.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k-modes là biến thể sinh viên hay cần nhất: dữ liệu khảo sát toàn định danh.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nhanh: hai bản ghi khảo sát khác nhau ở 3 trên 8 câu, khoảng cách là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Từ k = 3 trở đi, tăng k gần như không giảm thêm sai số: đó là khuỷu tay.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Nhấn: ràng buộc nghiệp vụ thường quyết định thay cho chỉ số.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Medoid là bản ghi thật nên giải thích được cho người nghiệp vụ.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Kết luận thực dụng: thử k-means trước, chuyển k-medoids nếu nhiều dị biệt.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vòng thử k(n−k) hoán đổi, đó là lý do PAM chậm hơn k-means rất nhiều.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CLARANS là lựa chọn mặc định khi dữ liệu quá lớn cho PAM nhưng cần medoid.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n_init=10 chạy lại 10 lần với tâm khác nhau — khắc phục vấn đề khởi tạo.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lại hai bước lặp của k-means trước khi chiếu.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1 là bài tập bắt buộc; chữa đầu buổi sau.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0"/>
            <a:ext cx="82296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77240"/>
            <a:ext cx="102257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HỌC VIỆN CÔNG NGHỆ BƯU CHÍNH VIỄN THÔNG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Khoa Công nghệ Thông tin 1 · Bộ môn Hệ thống thông 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74519"/>
            <a:ext cx="102257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INT1422 · Kho dữ liệu và Khai phá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87168"/>
            <a:ext cx="10225735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BÀI 10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cụm dữ liệu: khái niệm và phương pháp phân hoạch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61772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892040"/>
            <a:ext cx="102257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Độ đo khoảng cách, phân loại phương pháp, k-means và k-medoids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Tuần 10 · 4 tiết · Chuẩn đầu ra: CLO2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Nội dung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036064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0472" y="1984248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Bài toán phân cụm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688336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636520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đo khoảng cách và độ tương đồng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340608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3288792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loại các phương pháp phân cụm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992879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3941063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Thuật toán k-means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4645151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4593335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số cụm k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297423"/>
            <a:ext cx="475488" cy="475488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0472" y="5245607"/>
            <a:ext cx="9923983" cy="579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Thuật toán k-medoids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1199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biệt được phân cụm với phân loại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79776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được độ đo khoảng cách phù hợp với kiểu dữ liệu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578352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Chạy được k-means bằng tay qua ít nhất hai vòng lặp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376928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Giải thích vì sao k-means nhạy với khởi tạo và dị biệt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175504"/>
            <a:ext cx="10637215" cy="652272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   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Dùng được phương pháp khuỷu tay để chọn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Bài toán phân cụm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Tìm cấu trúc ẩn khi không có nhãn dẫn đường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2148840"/>
            <a:ext cx="9082735" cy="2377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Trong cụm phải giống nhau; khác cụm phải khác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617720"/>
            <a:ext cx="816833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Đây là tiêu chí duy nhất mà mọi thuật toán phân cụm đều tối ưu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cụm khác phân loại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loại — có giám sát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Có nhãn lớp cho trước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Số lớp đã biết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Đo được bằng độ chính xác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Có đáp án đúng duy nhất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Phân cụm — không giám sát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có nhãn nào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Số cụm thường do người dùng chọn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Chỉ đo được gián tiếp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Nhiều lời giải cùng hợp lý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Ứng dụng của phân cụm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3362858" cy="1984248"/>
          </a:xfrm>
          <a:prstGeom prst="roundRect">
            <a:avLst>
              <a:gd name="adj" fmla="val 3686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3015" y="2294412"/>
            <a:ext cx="158739" cy="158739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8999" y="2487168"/>
            <a:ext cx="226771" cy="226771"/>
          </a:xfrm>
          <a:prstGeom prst="roundRect">
            <a:avLst>
              <a:gd name="adj" fmla="val 20161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3802" y="2339766"/>
            <a:ext cx="136062" cy="136062"/>
          </a:xfrm>
          <a:prstGeom prst="ellipse">
            <a:avLst/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15455" y="2509845"/>
            <a:ext cx="192755" cy="204094"/>
          </a:xfrm>
          <a:prstGeom prst="roundRect">
            <a:avLst>
              <a:gd name="adj" fmla="val 23719"/>
            </a:avLst>
          </a:pr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46504" y="1975104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khúc khách hàng để thiết kế chương trình riêng cho từng nhóm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4418" y="1755648"/>
            <a:ext cx="3362858" cy="1984248"/>
          </a:xfrm>
          <a:prstGeom prst="roundRect">
            <a:avLst>
              <a:gd name="adj" fmla="val 3686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4765547" y="2260396"/>
            <a:ext cx="340157" cy="453543"/>
          </a:xfrm>
          <a:custGeom>
            <a:avLst/>
            <a:gdLst/>
            <a:ahLst/>
            <a:cxnLst/>
            <a:rect l="l" t="t" r="r" b="b"/>
            <a:pathLst>
              <a:path w="340157" h="453543">
                <a:moveTo>
                  <a:pt x="0" y="0"/>
                </a:moveTo>
                <a:lnTo>
                  <a:pt x="255118" y="0"/>
                </a:lnTo>
                <a:lnTo>
                  <a:pt x="340157" y="85040"/>
                </a:lnTo>
                <a:lnTo>
                  <a:pt x="340157" y="453543"/>
                </a:lnTo>
                <a:lnTo>
                  <a:pt x="0" y="453543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020665" y="2260396"/>
            <a:ext cx="85039" cy="85040"/>
          </a:xfrm>
          <a:custGeom>
            <a:avLst/>
            <a:gdLst/>
            <a:ahLst/>
            <a:cxnLst/>
            <a:rect l="l" t="t" r="r" b="b"/>
            <a:pathLst>
              <a:path w="85039" h="85040">
                <a:moveTo>
                  <a:pt x="0" y="0"/>
                </a:moveTo>
                <a:lnTo>
                  <a:pt x="85039" y="85040"/>
                </a:lnTo>
                <a:lnTo>
                  <a:pt x="0" y="85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83682" y="1975104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Gom nhóm tài liệu, tin tức, kết quả tìm kiếm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1596" y="1755648"/>
            <a:ext cx="3362858" cy="1984248"/>
          </a:xfrm>
          <a:prstGeom prst="roundRect">
            <a:avLst>
              <a:gd name="adj" fmla="val 3686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8346033" y="2260396"/>
            <a:ext cx="453543" cy="113386"/>
          </a:xfrm>
          <a:custGeom>
            <a:avLst/>
            <a:gdLst/>
            <a:ahLst/>
            <a:cxnLst/>
            <a:rect l="l" t="t" r="r" b="b"/>
            <a:pathLst>
              <a:path w="453543" h="113386">
                <a:moveTo>
                  <a:pt x="0" y="113386"/>
                </a:moveTo>
                <a:lnTo>
                  <a:pt x="124724" y="0"/>
                </a:lnTo>
                <a:lnTo>
                  <a:pt x="453543" y="0"/>
                </a:lnTo>
                <a:lnTo>
                  <a:pt x="328818" y="113386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46033" y="2373782"/>
            <a:ext cx="328818" cy="340156"/>
          </a:xfrm>
          <a:prstGeom prst="rect">
            <a:avLst/>
          </a:prstGeom>
          <a:solidFill>
            <a:srgbClr val="245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8674851" y="2260396"/>
            <a:ext cx="124725" cy="453543"/>
          </a:xfrm>
          <a:custGeom>
            <a:avLst/>
            <a:gdLst/>
            <a:ahLst/>
            <a:cxnLst/>
            <a:rect l="l" t="t" r="r" b="b"/>
            <a:pathLst>
              <a:path w="124725" h="453543">
                <a:moveTo>
                  <a:pt x="0" y="113386"/>
                </a:moveTo>
                <a:lnTo>
                  <a:pt x="124725" y="0"/>
                </a:lnTo>
                <a:lnTo>
                  <a:pt x="124725" y="340157"/>
                </a:lnTo>
                <a:lnTo>
                  <a:pt x="0" y="453543"/>
                </a:lnTo>
                <a:close/>
              </a:path>
            </a:pathLst>
          </a:custGeom>
          <a:solidFill>
            <a:srgbClr val="3B7A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0860" y="1975104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Nén ảnh bằng lượng tử hoá màu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977640"/>
            <a:ext cx="3362858" cy="1984248"/>
          </a:xfrm>
          <a:prstGeom prst="roundRect">
            <a:avLst>
              <a:gd name="adj" fmla="val 3686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071676" y="4505065"/>
            <a:ext cx="453543" cy="430866"/>
          </a:xfrm>
          <a:custGeom>
            <a:avLst/>
            <a:gdLst/>
            <a:ahLst/>
            <a:cxnLst/>
            <a:rect l="l" t="t" r="r" b="b"/>
            <a:pathLst>
              <a:path w="453543" h="430866">
                <a:moveTo>
                  <a:pt x="0" y="0"/>
                </a:moveTo>
                <a:lnTo>
                  <a:pt x="453543" y="0"/>
                </a:lnTo>
                <a:lnTo>
                  <a:pt x="283464" y="204095"/>
                </a:lnTo>
                <a:lnTo>
                  <a:pt x="283464" y="430866"/>
                </a:lnTo>
                <a:lnTo>
                  <a:pt x="170079" y="351496"/>
                </a:lnTo>
                <a:lnTo>
                  <a:pt x="170079" y="204095"/>
                </a:lnTo>
                <a:close/>
              </a:path>
            </a:pathLst>
          </a:cu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46504" y="4197096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Bước tiền xử lý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3" y="534924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tóm tắt dữ liệu trước khi chạy thuật toán khác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14418" y="3977640"/>
            <a:ext cx="3362858" cy="1984248"/>
          </a:xfrm>
          <a:prstGeom prst="roundRect">
            <a:avLst>
              <a:gd name="adj" fmla="val 3686"/>
            </a:avLst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4708855" y="4482388"/>
            <a:ext cx="453542" cy="430866"/>
          </a:xfrm>
          <a:custGeom>
            <a:avLst/>
            <a:gdLst/>
            <a:ahLst/>
            <a:cxnLst/>
            <a:rect l="l" t="t" r="r" b="b"/>
            <a:pathLst>
              <a:path w="453542" h="430866">
                <a:moveTo>
                  <a:pt x="226771" y="0"/>
                </a:moveTo>
                <a:lnTo>
                  <a:pt x="453542" y="430866"/>
                </a:lnTo>
                <a:lnTo>
                  <a:pt x="0" y="430866"/>
                </a:lnTo>
                <a:close/>
              </a:path>
            </a:pathLst>
          </a:cu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12949" y="4629790"/>
            <a:ext cx="45354" cy="1587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12949" y="4828214"/>
            <a:ext cx="45354" cy="453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83682" y="4197096"/>
            <a:ext cx="2192426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Phát hiện dị thường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2162" y="5349240"/>
            <a:ext cx="2887370" cy="455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điểm không thuộc cụm nào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Nguyễn Quỳnh Chi (2018), Bài giảng Kho dữ liệu và Kỹ thuật khai phá, Học viện CNBCVT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Độ đo khoảng cách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Chọn sai độ đo thì mọi thuật toán đều sai theo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Họ khoảng cách Minkowski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1234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  <a:r>
              <a:rPr sz="2600" b="1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d(i,j) = ( Σ |x_if − x_jf|^p )^(1/p)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82696"/>
            <a:ext cx="10637215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 = 1: khoảng cách Manhattan, tổng chênh lệch tuyệt đối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 = 2: khoảng cách Euclid, quen thuộc nhất trong thực tế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 → ∞: khoảng cách Chebyshev, lấy chênh lệch lớn nhất</a:t>
            </a:r>
          </a:p>
          <a:p>
            <a:pPr marL="292608" indent="-292608">
              <a:lnSpc>
                <a:spcPct val="112000"/>
              </a:lnSpc>
              <a:spcAft>
                <a:spcPts val="10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Mọi độ đo trên đều đòi hỏi dữ liệu đã chuẩn hoá giá trị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Ma trận dữ liệu và ma trận khác biệt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Ma trận dữ liệu: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n dòng đối tượng × p cột thuộc tính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Ma trận khác biệt: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n × n, ô (i,j) là khoảng cách giữa hai đối tượng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Ma trận khác biệt đối xứng và có đường chéo bằng 0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Mọi thuật toán phân cụm chỉ cần **ma trận khác biệt**, không cần dữ liệu gốc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Nhờ đó phân cụm được cả dữ liệu không nằm trong không gian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trường hợp đặc biệt của Minkowski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Hai điểm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 = (2, 10)      Q = (6, 4)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p = 1, khoảng cách Manhattan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 = |2-6| + |10-4| = 4 + 6 = 10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p = 2, khoảng cách Euclid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 = sqrt(4^2 + 6^2) = sqrt(52) = 7,21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p -&gt; vo cung, khoang cach Chebyshev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 = max(4, 6) = 6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 càng lớn thì chênh lệch lớn nhất càng chi phối kết quả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Ba con số khác nhau nên ba kết quả phân cụm cũng khác nhau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Độ đo cho thuộc tính nhị phân bất đối xứng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Ba bệnh nhân, sáu triệu chứng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   t1  t2  t3  t4  t5  t6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Jack    Y   N   P   N   N   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Mary    Y   N   P   N   P   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Jim     Y   P   N   N   N   N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Hệ số Jaccard: bỏ qua cặp cùng bằng 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d(Jack,Mary) = (0+1) / (2+0+1) = 0,33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d(Jack,Jim)  = (1+1) / (1+1+1) = 0,67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d(Jim,Mary)  = (1+2) / (1+1+2) = 0,75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Jack và Mary giống nhau nhất, vì cùng dương tính ở hai triệu chứng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Nếu tính cả cặp N-N thì cả ba đều rất giống nhau — kết luận 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Độ đo cho thuộc tính định danh và thứ tự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Định danh: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d(i,j) = (p − m) / p, với m là số thuộc tính khớp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Cách khác: mã hoá một-nóng rồi dùng độ đo nhị phân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Thứ tự: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thay giá trị bằng thứ hạng r, r chạy từ 1 tới 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Chuẩn hoá thứ hạng về [0,1] bằng (r − 1) / (M − 1)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Sau đó xử lý như thuộc tính số bình thường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Độ tương đồng cosin cho văn bản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039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Hai vector tần suất từ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d1 = (5, 0, 3, 0, 2, 0, 0, 2, 0, 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d2 = (3, 0, 2, 0, 1, 1, 0, 1, 0, 1)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Tích vô hướng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d1 . d2 = 5x3 + 3x2 + 2x1 + 2x1 = 15 + 6 + 2 + 2 = 25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Độ dài hai vector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|d1| = sqrt(42) = 6,481      |d2| = sqrt(17) = 4,123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Kết quả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cos = 25 / (6,481 x 4,123) = 0,94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Cosin chỉ quan tâm **hướng**, không quan tâm độ dài tài liệu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Thuộc tính hỗn hợp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Dữ liệu thật hiếm khi thuần một kiểu: vừa số, vừa định danh, vừa nhị phân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Cách làm: tính khác biệt **riêng cho từng thuộc tính**, quy về [0,1]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Rồi lấy **trung bình có trọng số** trên mọi thuộc tính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Thuộc tính bị thiếu ở một trong hai đối tượng thì bỏ khỏi phép trung bình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Trọng số cho phép nhấn mạnh thuộc tính quan trọng theo tri thức miền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Chọn độ đo theo kiểu dữ liệu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3887"/>
                <a:gridCol w="3632219"/>
                <a:gridCol w="4151108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Kiểu dữ liệu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Độ đo phù hợp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Ghi chú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Số liên tục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Euclid, Manhattan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Bắt buộc chuẩn hoá giá trị trước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Nhị phân đối xứng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Hệ số đối sánh đơn giản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Hai giá trị quan trọng như nhau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Nhị phân bất đối xứng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Hệ số Jaccard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Bỏ qua cặp cùng bằng 0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Định danh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Tỷ lệ thuộc tính khác nhau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Hoặc mã hoá một-nóng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Văn bản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Độ tương đồng cosin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Không nhạy với độ dài tài liệu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Ví dụ tính khoảng cách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Hai điểm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 = (2, 10)      Q = (6, 4)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Euclid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 = sqrt( (2-6)^2 + (10-4)^2 ) = sqrt(16 + 36) = sqrt(52) = 7,21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Manhattan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 = |2-6| + |10-4| = 4 + 6 = 10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Chebyshev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 = max(4, 6) = 6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Ba độ đo cho ba con số khác nhau, nên kết quả cũng khác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Phân loại phương pháp phân cụm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Bốn họ phương pháp lớn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họ phương pháp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3887"/>
                <a:gridCol w="4410552"/>
                <a:gridCol w="337277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Họ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Ý tưởng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Đại diện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Phân hoạch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Chia thành k cụm rời nhau, tối ưu lặp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k-means, k-medoids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Phân cấp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Xây cây lồng nhau các cụm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AGNES, DIANA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Dựa trên mật độ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Cụm là vùng dày đặc trong không gian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DBSCAN, OPTICS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Dựa trên lưới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Chia không gian thành ô rồi gộp ô dày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STING, CLIQUE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Thuật toán k-means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Thuật toán phân cụm được dùng nhiều nhất trên thế giới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bước của k-means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Chọn k tâm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ban đầu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03371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32555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Gán mỗi điểm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vào tâm gần nhất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58687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87871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Tính lại tâm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bằng trung bình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14003" y="2551176"/>
            <a:ext cx="274320" cy="237744"/>
          </a:xfrm>
          <a:prstGeom prst="rightArrow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043187" y="1984248"/>
            <a:ext cx="2371267" cy="1371600"/>
          </a:xfrm>
          <a:prstGeom prst="roundRect">
            <a:avLst>
              <a:gd name="adj" fmla="val 8000"/>
            </a:avLst>
          </a:prstGeom>
          <a:solidFill>
            <a:srgbClr val="25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Lặp đến khi</a:t>
            </a:r>
          </a:p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không đổi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66744"/>
            <a:ext cx="106372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Hàm mục tiêu: tổng bình phương khoảng cách từ điểm tới tâm cụm của nó</a:t>
            </a:r>
          </a:p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Thuật toán luôn hội tụ, nhưng có thể vào cực tiểu địa phương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Ví dụ k-means: dữ liệu và khởi tạo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Tám điểm trong mặt phẳng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P1(2,10)  P2(2,5)  P3(8,4)  P4(5,8)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P5(7,5)   P6(6,4)  P7(1,2)  P8(4,9)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Tham số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k = 3      Tam ban dau: c1 = P1(2,10),  c2 = P4(5,8),  c3 = P7(1,2)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Quy ước tính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Dùng bình phương khoảng cách Euclid để so sánh, khỏi phải khai căn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d2(P2, c3) = (2-1)^2 + (5-2)^2 = 1 + 9 =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Tám điểm và ba tâm khởi tạo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95878" y="2194560"/>
            <a:ext cx="5914339" cy="2816351"/>
          </a:xfrm>
          <a:prstGeom prst="rect">
            <a:avLst/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074462" y="2194560"/>
            <a:ext cx="0" cy="2816352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595878" y="2898648"/>
            <a:ext cx="5914339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53047" y="2194560"/>
            <a:ext cx="0" cy="2816352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595878" y="3602735"/>
            <a:ext cx="5914339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31632" y="2194560"/>
            <a:ext cx="0" cy="2816352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95878" y="4306823"/>
            <a:ext cx="5914339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3319271"/>
            <a:ext cx="7863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5878" y="5102352"/>
            <a:ext cx="59143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x</a:t>
            </a:r>
          </a:p>
        </p:txBody>
      </p:sp>
      <p:sp>
        <p:nvSpPr>
          <p:cNvPr id="14" name="Oval 13"/>
          <p:cNvSpPr/>
          <p:nvPr/>
        </p:nvSpPr>
        <p:spPr>
          <a:xfrm>
            <a:off x="4856835" y="2439924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2223" y="2078736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P1</a:t>
            </a:r>
          </a:p>
        </p:txBody>
      </p:sp>
      <p:sp>
        <p:nvSpPr>
          <p:cNvPr id="16" name="Oval 15"/>
          <p:cNvSpPr/>
          <p:nvPr/>
        </p:nvSpPr>
        <p:spPr>
          <a:xfrm>
            <a:off x="4856835" y="3773423"/>
            <a:ext cx="192024" cy="192024"/>
          </a:xfrm>
          <a:prstGeom prst="ellipse">
            <a:avLst/>
          </a:prstGeom>
          <a:solidFill>
            <a:srgbClr val="7C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2223" y="3412235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P2</a:t>
            </a:r>
          </a:p>
        </p:txBody>
      </p:sp>
      <p:sp>
        <p:nvSpPr>
          <p:cNvPr id="18" name="Oval 17"/>
          <p:cNvSpPr/>
          <p:nvPr/>
        </p:nvSpPr>
        <p:spPr>
          <a:xfrm>
            <a:off x="8697315" y="4040123"/>
            <a:ext cx="192024" cy="192024"/>
          </a:xfrm>
          <a:prstGeom prst="ellipse">
            <a:avLst/>
          </a:prstGeom>
          <a:solidFill>
            <a:srgbClr val="7C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2703" y="3678935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P3</a:t>
            </a:r>
          </a:p>
        </p:txBody>
      </p:sp>
      <p:sp>
        <p:nvSpPr>
          <p:cNvPr id="20" name="Oval 19"/>
          <p:cNvSpPr/>
          <p:nvPr/>
        </p:nvSpPr>
        <p:spPr>
          <a:xfrm>
            <a:off x="6777075" y="2973324"/>
            <a:ext cx="192024" cy="1920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2463" y="2612136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P4</a:t>
            </a:r>
          </a:p>
        </p:txBody>
      </p:sp>
      <p:sp>
        <p:nvSpPr>
          <p:cNvPr id="22" name="Oval 21"/>
          <p:cNvSpPr/>
          <p:nvPr/>
        </p:nvSpPr>
        <p:spPr>
          <a:xfrm>
            <a:off x="8057235" y="3773423"/>
            <a:ext cx="192024" cy="192024"/>
          </a:xfrm>
          <a:prstGeom prst="ellipse">
            <a:avLst/>
          </a:prstGeom>
          <a:solidFill>
            <a:srgbClr val="7C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32623" y="3412235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P5</a:t>
            </a:r>
          </a:p>
        </p:txBody>
      </p:sp>
      <p:sp>
        <p:nvSpPr>
          <p:cNvPr id="24" name="Oval 23"/>
          <p:cNvSpPr/>
          <p:nvPr/>
        </p:nvSpPr>
        <p:spPr>
          <a:xfrm>
            <a:off x="7417155" y="4040123"/>
            <a:ext cx="192024" cy="192024"/>
          </a:xfrm>
          <a:prstGeom prst="ellipse">
            <a:avLst/>
          </a:prstGeom>
          <a:solidFill>
            <a:srgbClr val="7C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92543" y="3678935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P6</a:t>
            </a:r>
          </a:p>
        </p:txBody>
      </p:sp>
      <p:sp>
        <p:nvSpPr>
          <p:cNvPr id="26" name="Oval 25"/>
          <p:cNvSpPr/>
          <p:nvPr/>
        </p:nvSpPr>
        <p:spPr>
          <a:xfrm>
            <a:off x="4216755" y="4573523"/>
            <a:ext cx="192024" cy="192024"/>
          </a:xfrm>
          <a:prstGeom prst="ellipse">
            <a:avLst/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92143" y="4212335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P7</a:t>
            </a:r>
          </a:p>
        </p:txBody>
      </p:sp>
      <p:sp>
        <p:nvSpPr>
          <p:cNvPr id="28" name="Oval 27"/>
          <p:cNvSpPr/>
          <p:nvPr/>
        </p:nvSpPr>
        <p:spPr>
          <a:xfrm>
            <a:off x="6136995" y="2706623"/>
            <a:ext cx="192024" cy="192024"/>
          </a:xfrm>
          <a:prstGeom prst="ellipse">
            <a:avLst/>
          </a:prstGeom>
          <a:solidFill>
            <a:srgbClr val="7C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12383" y="2345435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P8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33975" y="2417064"/>
            <a:ext cx="237744" cy="237744"/>
          </a:xfrm>
          <a:prstGeom prst="line">
            <a:avLst/>
          </a:prstGeom>
          <a:ln w="3810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833975" y="2417064"/>
            <a:ext cx="237744" cy="237744"/>
          </a:xfrm>
          <a:prstGeom prst="line">
            <a:avLst/>
          </a:prstGeom>
          <a:ln w="3810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754215" y="2950464"/>
            <a:ext cx="237744" cy="237743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754215" y="2950464"/>
            <a:ext cx="237744" cy="237743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193895" y="4550664"/>
            <a:ext cx="237744" cy="237744"/>
          </a:xfrm>
          <a:prstGeom prst="line">
            <a:avLst/>
          </a:prstGeom>
          <a:ln w="38100">
            <a:solidFill>
              <a:srgbClr val="2E67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4193895" y="4550664"/>
            <a:ext cx="237744" cy="237744"/>
          </a:xfrm>
          <a:prstGeom prst="line">
            <a:avLst/>
          </a:prstGeom>
          <a:ln w="38100">
            <a:solidFill>
              <a:srgbClr val="2E67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60120" y="5669280"/>
            <a:ext cx="182880" cy="182880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5522976"/>
            <a:ext cx="222039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Tâm c1</a:t>
            </a:r>
          </a:p>
        </p:txBody>
      </p:sp>
      <p:sp>
        <p:nvSpPr>
          <p:cNvPr id="38" name="Oval 37"/>
          <p:cNvSpPr/>
          <p:nvPr/>
        </p:nvSpPr>
        <p:spPr>
          <a:xfrm>
            <a:off x="3527983" y="5669280"/>
            <a:ext cx="182880" cy="1828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02303" y="5522976"/>
            <a:ext cx="222039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Tâm c2</a:t>
            </a:r>
          </a:p>
        </p:txBody>
      </p:sp>
      <p:sp>
        <p:nvSpPr>
          <p:cNvPr id="40" name="Oval 39"/>
          <p:cNvSpPr/>
          <p:nvPr/>
        </p:nvSpPr>
        <p:spPr>
          <a:xfrm>
            <a:off x="6095847" y="5669280"/>
            <a:ext cx="182880" cy="182880"/>
          </a:xfrm>
          <a:prstGeom prst="ellipse">
            <a:avLst/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0167" y="5522976"/>
            <a:ext cx="222039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Tâm c3</a:t>
            </a:r>
          </a:p>
        </p:txBody>
      </p:sp>
      <p:sp>
        <p:nvSpPr>
          <p:cNvPr id="42" name="Oval 41"/>
          <p:cNvSpPr/>
          <p:nvPr/>
        </p:nvSpPr>
        <p:spPr>
          <a:xfrm>
            <a:off x="8663711" y="5669280"/>
            <a:ext cx="182880" cy="182880"/>
          </a:xfrm>
          <a:prstGeom prst="ellipse">
            <a:avLst/>
          </a:prstGeom>
          <a:solidFill>
            <a:srgbClr val="7C8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38031" y="5522976"/>
            <a:ext cx="2220391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Chưa gán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k-means vòng lặp 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Gán điểm vào cụm gần nhất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P2(2,5): d2 toi c1 = 25, c2 = 18, c3 = 10  -&gt;  cum 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P3(8,4): d2 toi c1 = 72, c2 = 25, c3 = 53  -&gt;  cum 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P8(4,9): d2 toi c1 =  5, c2 =  2, c3 = 58  -&gt;  cum 2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Kết quả gán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Cum 1 = {P1}     Cum 2 = {P3,P4,P5,P6,P8}     Cum 3 = {P2,P7}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Tính lại tâm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c1 = (2, 10)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c2 = ((8+5+7+6+4)/5, (4+8+5+4+9)/5) = (6,0 ; 6,0)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c3 = ((2+1)/2, (5+2)/2) = (1,5 ; 3,5)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k-means vòng lặp 2 và kết quả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Gán lại với tâm mới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P8(4,9): d2 toi c1 = 5, c2 = 13, c3 = 36,5  -&gt;  chuyen ve cum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Cum 1 = {P1,P8}   Cum 2 = {P3,P4,P5,P6}   Cum 3 = {P2,P7}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Tam moi: c1 = (3 ; 9,5)   c2 = (6,5 ; 5,25)   c3 = (1,5 ; 3,5)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Vòng lặp 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P4(5,8) chuyen tu cum 2 sang cum 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Cum 1 = {P1,P4,P8}   Cum 2 = {P3,P5,P6}   Cum 3 = {P2,P7}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600"/>
              </a:spcAft>
            </a:pPr>
            <a:r>
              <a:rPr sz="24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Kết quả hội tụ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c1 = (3,67 ; 9,00)   c2 = (7,00 ; 4,33)   c3 = (1,50 ; 3,50)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Vòng lặp 4 không làm thay đổi phép gán nào: thuật toán dừng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Kết quả sau khi hội tụ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26967" y="2194560"/>
            <a:ext cx="5852160" cy="2231136"/>
          </a:xfrm>
          <a:prstGeom prst="rect">
            <a:avLst/>
          </a:prstGeom>
          <a:solidFill>
            <a:srgbClr val="F7F9FC"/>
          </a:solidFill>
          <a:ln w="12700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090007" y="2194560"/>
            <a:ext cx="0" cy="2231136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26967" y="2752344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53047" y="2194560"/>
            <a:ext cx="0" cy="2231136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26967" y="3310128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016087" y="2194560"/>
            <a:ext cx="0" cy="2231136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26967" y="3867912"/>
            <a:ext cx="5852160" cy="0"/>
          </a:xfrm>
          <a:prstGeom prst="line">
            <a:avLst/>
          </a:prstGeom>
          <a:ln w="10160">
            <a:solidFill>
              <a:srgbClr val="D3DAE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3026664"/>
            <a:ext cx="786384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6967" y="4517136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x</a:t>
            </a:r>
          </a:p>
        </p:txBody>
      </p:sp>
      <p:sp>
        <p:nvSpPr>
          <p:cNvPr id="14" name="Oval 13"/>
          <p:cNvSpPr/>
          <p:nvPr/>
        </p:nvSpPr>
        <p:spPr>
          <a:xfrm>
            <a:off x="4873658" y="2368988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9046" y="2007800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P1</a:t>
            </a:r>
          </a:p>
        </p:txBody>
      </p:sp>
      <p:sp>
        <p:nvSpPr>
          <p:cNvPr id="16" name="Oval 15"/>
          <p:cNvSpPr/>
          <p:nvPr/>
        </p:nvSpPr>
        <p:spPr>
          <a:xfrm>
            <a:off x="6773710" y="2791552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9098" y="2430364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P4</a:t>
            </a:r>
          </a:p>
        </p:txBody>
      </p:sp>
      <p:sp>
        <p:nvSpPr>
          <p:cNvPr id="18" name="Oval 17"/>
          <p:cNvSpPr/>
          <p:nvPr/>
        </p:nvSpPr>
        <p:spPr>
          <a:xfrm>
            <a:off x="6140360" y="2580270"/>
            <a:ext cx="192024" cy="192024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15748" y="2219082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P8</a:t>
            </a:r>
          </a:p>
        </p:txBody>
      </p:sp>
      <p:sp>
        <p:nvSpPr>
          <p:cNvPr id="20" name="Oval 19"/>
          <p:cNvSpPr/>
          <p:nvPr/>
        </p:nvSpPr>
        <p:spPr>
          <a:xfrm>
            <a:off x="8673762" y="3636679"/>
            <a:ext cx="192024" cy="1920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9150" y="3275491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P3</a:t>
            </a:r>
          </a:p>
        </p:txBody>
      </p:sp>
      <p:sp>
        <p:nvSpPr>
          <p:cNvPr id="22" name="Oval 21"/>
          <p:cNvSpPr/>
          <p:nvPr/>
        </p:nvSpPr>
        <p:spPr>
          <a:xfrm>
            <a:off x="8040412" y="3425397"/>
            <a:ext cx="192024" cy="1920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5800" y="3064209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P5</a:t>
            </a:r>
          </a:p>
        </p:txBody>
      </p:sp>
      <p:sp>
        <p:nvSpPr>
          <p:cNvPr id="24" name="Oval 23"/>
          <p:cNvSpPr/>
          <p:nvPr/>
        </p:nvSpPr>
        <p:spPr>
          <a:xfrm>
            <a:off x="7407061" y="3636679"/>
            <a:ext cx="192024" cy="19202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2449" y="3275491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P6</a:t>
            </a:r>
          </a:p>
        </p:txBody>
      </p:sp>
      <p:sp>
        <p:nvSpPr>
          <p:cNvPr id="26" name="Oval 25"/>
          <p:cNvSpPr/>
          <p:nvPr/>
        </p:nvSpPr>
        <p:spPr>
          <a:xfrm>
            <a:off x="4873658" y="3425397"/>
            <a:ext cx="192024" cy="192024"/>
          </a:xfrm>
          <a:prstGeom prst="ellipse">
            <a:avLst/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9046" y="3064209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P2</a:t>
            </a:r>
          </a:p>
        </p:txBody>
      </p:sp>
      <p:sp>
        <p:nvSpPr>
          <p:cNvPr id="28" name="Oval 27"/>
          <p:cNvSpPr/>
          <p:nvPr/>
        </p:nvSpPr>
        <p:spPr>
          <a:xfrm>
            <a:off x="4240308" y="4059243"/>
            <a:ext cx="192024" cy="192024"/>
          </a:xfrm>
          <a:prstGeom prst="ellipse">
            <a:avLst/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15696" y="3698055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P7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08494" y="2557410"/>
            <a:ext cx="237744" cy="237744"/>
          </a:xfrm>
          <a:prstGeom prst="line">
            <a:avLst/>
          </a:prstGeom>
          <a:ln w="3810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908494" y="2557410"/>
            <a:ext cx="237744" cy="237744"/>
          </a:xfrm>
          <a:prstGeom prst="line">
            <a:avLst/>
          </a:prstGeom>
          <a:ln w="38100">
            <a:solidFill>
              <a:srgbClr val="1235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017552" y="3544096"/>
            <a:ext cx="237744" cy="237744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8017552" y="3544096"/>
            <a:ext cx="237744" cy="237744"/>
          </a:xfrm>
          <a:prstGeom prst="line">
            <a:avLst/>
          </a:prstGeom>
          <a:ln w="38100">
            <a:solidFill>
              <a:srgbClr val="C810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534123" y="3719460"/>
            <a:ext cx="237744" cy="237744"/>
          </a:xfrm>
          <a:prstGeom prst="line">
            <a:avLst/>
          </a:prstGeom>
          <a:ln w="38100">
            <a:solidFill>
              <a:srgbClr val="2E67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4534123" y="3719460"/>
            <a:ext cx="237744" cy="237744"/>
          </a:xfrm>
          <a:prstGeom prst="line">
            <a:avLst/>
          </a:prstGeom>
          <a:ln w="38100">
            <a:solidFill>
              <a:srgbClr val="2E67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158087" y="5084064"/>
            <a:ext cx="182880" cy="182880"/>
          </a:xfrm>
          <a:prstGeom prst="ellipse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32407" y="4937760"/>
            <a:ext cx="2944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Cụm 1</a:t>
            </a:r>
          </a:p>
        </p:txBody>
      </p:sp>
      <p:sp>
        <p:nvSpPr>
          <p:cNvPr id="38" name="Oval 37"/>
          <p:cNvSpPr/>
          <p:nvPr/>
        </p:nvSpPr>
        <p:spPr>
          <a:xfrm>
            <a:off x="4449927" y="5084064"/>
            <a:ext cx="182880" cy="1828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24247" y="4937760"/>
            <a:ext cx="2944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Cụm 2</a:t>
            </a:r>
          </a:p>
        </p:txBody>
      </p:sp>
      <p:sp>
        <p:nvSpPr>
          <p:cNvPr id="40" name="Oval 39"/>
          <p:cNvSpPr/>
          <p:nvPr/>
        </p:nvSpPr>
        <p:spPr>
          <a:xfrm>
            <a:off x="7741767" y="5084064"/>
            <a:ext cx="182880" cy="182880"/>
          </a:xfrm>
          <a:prstGeom prst="ellipse">
            <a:avLst/>
          </a:prstGeom>
          <a:solidFill>
            <a:srgbClr val="2E6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16087" y="4937760"/>
            <a:ext cx="294436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Cụm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614416"/>
            <a:ext cx="10637215" cy="4389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8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Dấu × là tâm cụm; vòng lặp 4 không đổi phép gán nào nên thuật toán dừng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Ưu và nhược điểm của k-means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Ưu điểm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Đơn giản, dễ cài đặt và dễ giải thích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phức tạp tuyến tính theo số điểm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Mở rộng tốt cho dữ liệu lớn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Nhược điểm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Phải cho trước số cụm k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Kết quả phụ thuộc tâm khởi tạo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Rất nhạy với giá trị dị biệt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Chỉ tìm được cụm dạng cầu, kích thước đều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dùng được cho thuộc tính định danh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Khắc phục vấn đề khởi tạo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Chạy lại nhiều lần với tâm ngẫu nhiên rồi lấy kết quả tốt nhất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k-means++: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chọn tâm sau xa các tâm đã chọn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Dùng kết quả phân cụm phân cấp làm tâm khởi tạo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So sánh các lần chạy bằng tổng bình phương sai số nội cụm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Không bao giờ tin kết quả của một lần chạy duy nhất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Bốn biến thể của k-means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5937"/>
                <a:gridCol w="4052272"/>
                <a:gridCol w="379900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Biến thể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Khác ở đâu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Dùng khi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k-modes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Dùng yếu vị và độ đo đối sánh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Thuộc tính định danh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k-prototypes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Ghép k-means với k-modes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Thuộc tính hỗn hợp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Bisecting k-means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Chia đôi cụm lớn nhất, lặp lại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Muốn cụm ổn định hơn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Kernel k-means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Ánh xạ sang không gian nhiều chiều hơn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Cụm không tách được tuyến tính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k-modes cho dữ liệu định danh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Trung bình vô nghĩa với định danh: “trung bình của Nam và Nữ” là gì?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Thay tâm cụm bằng **yếu vị**: giá trị hay gặp nhất của từng thuộc tính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Thay khoảng cách bằng **số thuộc tính khác nhau** giữa hai bản ghi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Phần còn lại giữ nguyên: gán rồi cập nhật, lặp tới khi ổn định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Cũng gặp đúng vấn đề khởi tạo như k-means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05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Chọn số cụm 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Câu hỏi khó nhất và không có đáp án tuyệt đối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Phương pháp khuỷu tay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Vẽ tổng sai số nội cụm theo k và tìm chỗ gãy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59152"/>
            <a:ext cx="1645920" cy="469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 =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2322576"/>
            <a:ext cx="7894015" cy="46939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06040" y="2322576"/>
            <a:ext cx="7894015" cy="46939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28071" y="2359152"/>
            <a:ext cx="822960" cy="469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93136"/>
            <a:ext cx="1645920" cy="469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 =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2956560"/>
            <a:ext cx="7894015" cy="46939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06040" y="2956560"/>
            <a:ext cx="4894289" cy="46939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28071" y="2993136"/>
            <a:ext cx="822960" cy="469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27120"/>
            <a:ext cx="1645920" cy="469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 =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3590544"/>
            <a:ext cx="7894015" cy="46939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40" y="3590544"/>
            <a:ext cx="2210324" cy="4693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28071" y="3627120"/>
            <a:ext cx="822960" cy="469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61104"/>
            <a:ext cx="1645920" cy="469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 = 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4224528"/>
            <a:ext cx="7894015" cy="46939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06040" y="4224528"/>
            <a:ext cx="1894563" cy="46939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28071" y="4261104"/>
            <a:ext cx="822960" cy="469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95088"/>
            <a:ext cx="1645920" cy="469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 =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4858512"/>
            <a:ext cx="7894015" cy="46939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06040" y="4858512"/>
            <a:ext cx="1657743" cy="46939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28071" y="4895088"/>
            <a:ext cx="822960" cy="469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29072"/>
            <a:ext cx="1645920" cy="469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 = 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06040" y="5492496"/>
            <a:ext cx="7894015" cy="46939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06040" y="5492496"/>
            <a:ext cx="1499862" cy="469392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28071" y="5529072"/>
            <a:ext cx="822960" cy="469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Số liệu minh hoạ; phương pháp theo Han, Kamber &amp; Pei (2022)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Ba cách chọn k trong thực tế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Khuỷu tay: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chọn k tại điểm sai số ngừng giảm nhanh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Hệ số bóng: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đo mức độ điểm khớp với cụm của nó</a:t>
            </a:r>
          </a:p>
          <a:p>
            <a:pPr marL="676656" indent="-292608">
              <a:lnSpc>
                <a:spcPct val="112000"/>
              </a:lnSpc>
              <a:spcAft>
                <a:spcPts val="700"/>
              </a:spcAft>
              <a:buClr>
                <a:srgbClr val="5B6673"/>
              </a:buClr>
              <a:buSzPct val="85000"/>
              <a:buFont typeface="Segoe UI"/>
              <a:buChar char="–"/>
            </a:pPr>
            <a:r>
              <a:rPr sz="200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Gần 1 là tốt, gần 0 nằm trên biên, âm là gán sai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Ràng buộc nghiệp vụ:</a:t>
            </a: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 số nhóm marketing xử lý nổi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Ràng buộc nghiệp vụ thường quan trọng hơn cả hai chỉ số kia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637215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 i="0">
                <a:solidFill>
                  <a:srgbClr val="F29AA8"/>
                </a:solidFill>
                <a:latin typeface="Segoe UI"/>
                <a:ea typeface="Segoe UI"/>
                <a:cs typeface="Segoe UI"/>
              </a:rPr>
              <a:t>06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Thuật toán k-medoids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526280"/>
            <a:ext cx="20116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97228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5D2E2"/>
                </a:solidFill>
                <a:latin typeface="Segoe UI"/>
                <a:ea typeface="Segoe UI"/>
                <a:cs typeface="Segoe UI"/>
              </a:rPr>
              <a:t>Thay tâm ảo bằng một điểm dữ liệu thật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Ý tưởng của k-medoids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Đại diện cụm là một bản ghi thật, gọi là medoid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medoid sao cho tổng khoảng cách tới các điểm trong cụm nhỏ nhất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Thuật toán PAM: thử đổi từng medoid lấy từng điểm thường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Ít nhạy với giá trị dị biệt hơn hẳn k-means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Dùng được với mọi độ đo khoảng cách, kể cả dữ liệu định danh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k-means so với k-medoids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k-means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Đại diện: điểm trung bình, có thể không tồn tại thật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phức tạp O(n·k·t) — rất nhanh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Một giá trị dị biệt kéo lệch cả tâm cụm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1587" y="1755648"/>
            <a:ext cx="5112867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/>
            <a:r>
              <a:rPr sz="24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k-medoids (PAM)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1587" y="2505456"/>
            <a:ext cx="5112867" cy="3456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Đại diện: một bản ghi thật, giải thích được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phức tạp O(k(n−k)²·t) — chậm hơn nhiều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Bền vững trước giá trị dị biệt</a:t>
            </a:r>
          </a:p>
          <a:p>
            <a:pPr marL="292608" indent="-292608">
              <a:lnSpc>
                <a:spcPct val="112000"/>
              </a:lnSpc>
              <a:spcAft>
                <a:spcPts val="9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CLARA và CLARANS lấy mẫu để chạy trên dữ liệu lớn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Thuật toán PAM từng bước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Chọn k đối tượng bất kỳ làm medoid ban đầu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Gán mỗi đối tượng còn lại vào medoid gần nhất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Thử **hoán đổi** một medoid với một đối tượng thường, tính lại tổng chi phí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Nếu tổng chi phí giảm thì giữ hoán đổi, ngược lại thì hoàn tác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Lặp tới khi không hoán đổi nào còn cải thiện được nữa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Mở rộng PAM cho dữ liệu lớn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755648"/>
          <a:ext cx="10637214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2670"/>
                <a:gridCol w="4305539"/>
                <a:gridCol w="3799005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Thuật toán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Ý tưởng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Đánh đổi</a:t>
                      </a:r>
                    </a:p>
                  </a:txBody>
                  <a:tcPr marL="109728" marR="91440" anchor="ctr">
                    <a:solidFill>
                      <a:srgbClr val="12355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PAM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Thử mọi hoán đổi trên toàn bộ dữ liệu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Chính xác nhưng rất chậm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CLARA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Chạy PAM trên nhiều mẫu nhỏ, lấy kết quả tốt nhất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Nhanh, nhưng phụ thuộc mẫu</a:t>
                      </a:r>
                    </a:p>
                  </a:txBody>
                  <a:tcPr marL="109728" marR="91440" anchor="ctr">
                    <a:solidFill>
                      <a:srgbClr val="F7F9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2355B"/>
                          </a:solidFill>
                          <a:latin typeface="Segoe UI"/>
                          <a:ea typeface="Segoe UI"/>
                          <a:cs typeface="Segoe UI"/>
                        </a:rPr>
                        <a:t>CLARANS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Tìm kiếm ngẫu nhiên trên đồ thị hoán đổi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2000" b="0">
                          <a:solidFill>
                            <a:srgbClr val="1F2430"/>
                          </a:solidFill>
                          <a:latin typeface="Segoe UI"/>
                          <a:ea typeface="Segoe UI"/>
                          <a:cs typeface="Segoe UI"/>
                        </a:rPr>
                        <a:t>Cân bằng tốt nhất trong ba</a:t>
                      </a:r>
                    </a:p>
                  </a:txBody>
                  <a:tcPr marL="109728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035040"/>
            <a:ext cx="1063721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Nguồn: Han, Kamber &amp; Pei (2022), Data Mining: Concepts and Techniques, 4th ed., Morgan Kaufmann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Phân cụm bằng scikit-learn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solidFill>
            <a:srgbClr val="F7F9FC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33271" y="1956816"/>
            <a:ext cx="10125151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from sklearn.preprocessing import MinMaxScaler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from sklearn.cluster import KMeans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from sklearn.metrics import silhouette_score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Xs = MinMaxScaler().fit_transform(X)   # bat buoc, xem Bai 6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Quét k để vẽ đồ thị khuỷu tay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for k in range(2, 7):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km = KMeans(n_clusters=k, n_init=10, random_state=42).fit(Xs)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    print(k, km.inertia_, silhouette_score(Xs, km.labels_))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300"/>
              </a:spcAft>
            </a:pPr>
            <a:r>
              <a:rPr sz="2200" b="1" i="0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Chốt số cụm rồi lấy nhãn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km = KMeans(n_clusters=3, n_init=10, random_state=42).fit(Xs)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12355B"/>
                </a:solidFill>
                <a:latin typeface="Consolas"/>
                <a:ea typeface="Consolas"/>
                <a:cs typeface="Consolas"/>
              </a:rPr>
              <a:t>df["cum"] = km.labels_</a:t>
            </a:r>
          </a:p>
          <a:p>
            <a:pPr algn="l" marL="292608" indent="-292608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rgbClr val="5B6673"/>
              </a:buClr>
              <a:buSzPct val="85000"/>
              <a:buFont typeface="Segoe UI"/>
              <a:buChar char="▪"/>
            </a:pPr>
            <a:r>
              <a:rPr sz="19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inertia_ chính là tổng sai số nội cụm dùng để vẽ khuỷu tay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Tóm tắt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Phân cụm là học không giám sát, không có đáp án đúng duy nhất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Độ đo phải hợp kiểu dữ liệu; dữ liệu phải chuẩn hoá giá trị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k-means lặp hai bước: gán điểm rồi tính lại tâm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k-means nhanh nhưng nhạy với khởi tạo và giá trị dị biệt</a:t>
            </a:r>
          </a:p>
          <a:p>
            <a:pPr marL="292608" indent="-292608">
              <a:lnSpc>
                <a:spcPct val="112000"/>
              </a:lnSpc>
              <a:spcAft>
                <a:spcPts val="12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4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k-medoids bền vững hơn nhưng tốn kém hơn nhiều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Câu hỏi ôn tập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55648"/>
            <a:ext cx="10637215" cy="8695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1.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Chạy k-means trên 2, 4, 10, 12, 3, 20, 30, 11, 25 với k = 2, tâm đầu 2 và 4.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53251"/>
            <a:ext cx="10637215" cy="8695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2.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Vì sao phải chuẩn hoá giá trị trước khi tính khoảng cách Euclid? Cho ví dụ hậu quả.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750854"/>
            <a:ext cx="10637215" cy="86958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3.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Một cụm có 100 điểm quanh gốc toạ độ và một điểm ở xa 1000 đơn vị. Tâm cụm dịch bao nhiêu?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748457"/>
            <a:ext cx="10637215" cy="58842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4.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Khi nào nên dùng Jaccard thay cho hệ số đối sánh đơn giản?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464900"/>
            <a:ext cx="10637215" cy="58842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3D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 bIns="91440"/>
          <a:lstStyle/>
          <a:p>
            <a:pPr algn="l">
              <a:lnSpc>
                <a:spcPct val="112000"/>
              </a:lnSpc>
            </a:pPr>
            <a:r>
              <a:rPr sz="2000" b="1">
                <a:solidFill>
                  <a:srgbClr val="C8102E"/>
                </a:solidFill>
                <a:latin typeface="Segoe UI"/>
                <a:ea typeface="Segoe UI"/>
                <a:cs typeface="Segoe UI"/>
              </a:rPr>
              <a:t>5.  </a:t>
            </a:r>
            <a:r>
              <a:rPr sz="200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Đồ thị khuỷu tay giảm đều, không có chỗ gãy rõ ràng. Kết luận gì?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84048"/>
            <a:ext cx="10637215" cy="9601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2355B"/>
                </a:solidFill>
                <a:latin typeface="Segoe UI"/>
                <a:ea typeface="Segoe UI"/>
                <a:cs typeface="Segoe UI"/>
              </a:rPr>
              <a:t>Tài liệu tham khảo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26464"/>
            <a:ext cx="1325880" cy="381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03120" y="1435608"/>
            <a:ext cx="9311335" cy="12700"/>
          </a:xfrm>
          <a:prstGeom prst="rect">
            <a:avLst/>
          </a:prstGeom>
          <a:solidFill>
            <a:srgbClr val="D3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55648"/>
            <a:ext cx="10637215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Nguyễn Quỳnh Chi (2018), Bài giảng Kho dữ liệu và Kỹ thuật khai phá, Học viện CNBCVT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Han, Kamber &amp; Pei (2022), Data Mining: Concepts and Techniques, 4th ed., Morgan Kaufmann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Tan, Steinbach &amp; Kumar (2019), Introduction to Data Mining, 2nd ed., Pearson</a:t>
            </a:r>
          </a:p>
          <a:p>
            <a:pPr algn="l" marL="292608" indent="-292608">
              <a:lnSpc>
                <a:spcPct val="110000"/>
              </a:lnSpc>
              <a:spcBef>
                <a:spcPts val="0"/>
              </a:spcBef>
              <a:spcAft>
                <a:spcPts val="1100"/>
              </a:spcAft>
              <a:buClr>
                <a:srgbClr val="C8102E"/>
              </a:buClr>
              <a:buSzPct val="85000"/>
              <a:buFont typeface="Segoe UI"/>
              <a:buChar char="▪"/>
            </a:pPr>
            <a:r>
              <a:rPr sz="2000" b="0" i="0">
                <a:solidFill>
                  <a:srgbClr val="1F2430"/>
                </a:solidFill>
                <a:latin typeface="Segoe UI"/>
                <a:ea typeface="Segoe UI"/>
                <a:cs typeface="Segoe UI"/>
              </a:rPr>
              <a:t>Aggarwal (2015), Data Mining: The Textbook, Springer</a:t>
            </a:r>
          </a:p>
          <a:p>
            <a:pPr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</a:pPr>
            <a:r>
              <a:rPr sz="1400" b="0" i="1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Đọc trước buổi sau: Giáo trình mục 4.4 phần còn lại; quyển 1 chương 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72784"/>
            <a:ext cx="765879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INT1422 · Bài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51415" y="6272784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B6673"/>
                </a:solidFill>
                <a:latin typeface="Segoe UI"/>
                <a:ea typeface="Segoe UI"/>
                <a:cs typeface="Segoe UI"/>
              </a:rPr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10 - Phân cụm dữ liệu: khái niệm và phương pháp phân hoạch</dc:title>
  <dc:subject>INT1422 Kho dữ liệu và Khai phá dữ liệu</dc:subject>
  <dc:creator>Nguyen Quynh Chi - PTIT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