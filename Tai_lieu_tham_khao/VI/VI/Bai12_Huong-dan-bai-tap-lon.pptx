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2 tiết; nửa đầu trình bày yêu cầu, nửa sau làm việc theo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mục tiêu 1: nhiều nhóm mất điểm chỉ vì không đọc kỹ tiêu chí.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thiết kế và cài đặt kho dữ liệu chiếm 45%, nhiều hơn phần khai phá.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lại: đây chính là vòng đời dữ liệu ở Bài 2 và luồng ETL/ELT ở Bài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dòng cuối: phải giải thích lý do chọn độ mịn, không chỉ nêu 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phép nhóm dùng bất kỳ công nghệ nào, miễn trình diễn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hình cơ sở: đoán theo lớp đa số, hoặc luật nghiệp vụ hiện hành.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dùng công cụ khác vẫn được, nhưng phải tự lo phần hướng dẫn.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Nghị định 13/2023/NĐ-CP về bảo vệ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Khuyến khích nhóm tự đề xuất đề tài gắn với nơi thực tập.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Dấu hiệu 1 là quan trọng nhất; nhóm nào không đạt phải đổi đề tài.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to mức “Đạt” để nhóm biết ngưỡng tối thiểu cần đạt.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kiểm chứng hiệu quả mô hình mới phân biệt mức Đạt và Xuất sắc.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nộp bảng phân công ngay trong tuần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Tuần 13 cũng là tuần có bài kiểm tra quá trình thứ 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danh mục này lại vào tuần 15 trước khi thu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Trình diễn trực tiếp luôn thuyết phục hơn ảnh chụp màn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to từng lỗi; hầu hết đều đã xuất hiện ở các khoá trước.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chốt của toàn học phần; nhắc lại khi chấm thuyết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lại đúng slide này ở đầu buổi tuần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Yêu cầu mỗi nhóm trả lời bốn câu này ngay tại lớp hôm nay.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Hướng dẫn bài tập lớn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Yêu cầu, đề tài gợi ý, thang điểm theo chuẩn đầu ra và mốc nộp bài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12 · 2 tiết · Chuẩn đầu ra: CLO1, CLO2, CLO3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lớn kiểm tra điều gì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Năm phần công việc bắt buộc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Yêu cầu về bộ dữ liệu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Đề tài gợi ý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Thang điểm theo chuẩn đầu ra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Sản phẩm nộp và bài thuyết trình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8048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Hiểu rõ bài tập lớn được chấm theo tiêu chí nào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7906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đề tài vừa sức và có ý nghĩa nghiệp vụ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40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Lập được kế hoạch công việc cho bốn tuần còn lại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7621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Tránh được các lỗi khiến nhóm mất điểm oan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tập lớn kiểm tra điều gì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Bài tập lớn là bài thi cuối kỳ, chiếm 70% điểm học phần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Trọng số theo chuẩn đầu 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430"/>
                <a:gridCol w="6324830"/>
                <a:gridCol w="172495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Tiêu chí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Trọng số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CLO1.TC1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Thiết kế kho dữ liệu nhỏ và dịch vụ phân tích trực tuyến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25%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CLO1.TC2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Cài đặt kho dữ liệu và dịch vụ phân tích trực tuyến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20%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CLO2.TC1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Giải bài toán khai phá bằng thuật toán học máy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20%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CLO2.TC2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Phát triển được ứng dụng khai phá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25%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CLO3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Giao tiếp và phối hợp làm việc nhóm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10%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Năm phần công việc bắt buộc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Dòng công việc của bài tập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 thập &amp;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tiền xử lý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Thiết kế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Cài đặt &amp;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tính khối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Dịch vụ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OLAP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Chức năng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khai phá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Bốn phần đầu bám CLO1; phần cuối bám CLO2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phần phải có sản phẩm chứng minh được, không chỉ mô tả trong báo cáo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Phần 1 và 2: dữ liệu và thiết kế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Mô tả nguồn dữ liệu, số bản ghi, số thuộc tính, khoảng thời gian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Báo cáo tỷ lệ giá trị thiếu và cách xử lý cho từng cột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Vẽ lược đồ hình sao: bảng sự kiện, bảng chiều, độ mịn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rõ ít nhất ba chiều và một phân cấp khái niệm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vì sao chọn độ mịn đó, không chỉ nêu 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Phần 3 và 4: cài đặt và OLAP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Cài đặt kho dữ liệu trên một hệ quản trị bất kỳ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Viết mã ETL nạp dữ liệu từ nguồn vào kho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trước ít nhất hai khối con và nêu lý do chọn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Trình diễn được đủ năm thao tác OLAP trên dữ liệu thật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Giao diện có thể là web, ứng dụng desktop hoặc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Phần 5: chức năng khai phá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đúng một bài toán: phân loại, phân cụm hoặc luật kết hợp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rõ vì sao bài toán đó trả lời được câu hỏi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Tách tập huấn luyện và tập kiểm thử ngay từ đầu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Báo cáo ma trận nhầm lẫn hoặc hệ số bóng, không chỉ một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với một mô hình cơ sở để chứng minh giá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Bộ công cụ khuyến nghị cho bài tập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Nhóm được tự chọn, nhưng đây là tổ hợp đã có slide hướng dẫn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1676" y="2728772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1676" y="2791134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1676" y="3023575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8369" y="2762788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6504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PostgreSQL hoặc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 và khung nhìn tổng hợp — Bài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4418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7201" y="3012236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84602" y="2870504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004" y="2728772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3682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2162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Tiền xử lý và rời rạc hoá — Bài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1596" y="245262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16112" y="2728772"/>
            <a:ext cx="113385" cy="11338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6033" y="3040583"/>
            <a:ext cx="113385" cy="113385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190" y="3040583"/>
            <a:ext cx="113385" cy="113385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H="1">
            <a:off x="8425403" y="2830819"/>
            <a:ext cx="113386" cy="204094"/>
          </a:xfrm>
          <a:prstGeom prst="line">
            <a:avLst/>
          </a:prstGeom>
          <a:ln w="2032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06820" y="2830819"/>
            <a:ext cx="113386" cy="204094"/>
          </a:xfrm>
          <a:prstGeom prst="line">
            <a:avLst/>
          </a:prstGeom>
          <a:ln w="2032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20860" y="267208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340" y="336702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Cây quyết định và k-means — Bài 8, 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26110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0338" y="467331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55140" y="4673315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219078" y="4764024"/>
            <a:ext cx="158739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46504" y="448056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mlxtend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3" y="517550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Apriori và luật kết hợp — Bài 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4418" y="426110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08855" y="4537252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003657" y="4832055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83682" y="448056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Jupyter Notebook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2162" y="517550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Trình diễn OLAP và kết quả khai phá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1596" y="4261104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402726" y="4537252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40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657844" y="4537252"/>
            <a:ext cx="85039" cy="85040"/>
          </a:xfrm>
          <a:custGeom>
            <a:avLst/>
            <a:gdLst/>
            <a:ahLst/>
            <a:cxnLst/>
            <a:rect l="l" t="t" r="r" b="b"/>
            <a:pathLst>
              <a:path w="85039" h="85040">
                <a:moveTo>
                  <a:pt x="0" y="0"/>
                </a:moveTo>
                <a:lnTo>
                  <a:pt x="85039" y="85040"/>
                </a:lnTo>
                <a:lnTo>
                  <a:pt x="0" y="85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20860" y="4480560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9340" y="5175504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Bằng chứng đóng góp cho điểm CLO3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ứng dụng tối thiểu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Tệp nguồn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CSV / API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Script ETL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pandas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Truy vấn OLAP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GROUP BY CUBE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Khai phá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scikit-learn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ô là một tệp mã nguồn nộp được, không phải một khối lý thuyết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lại được từ đầu bằng một lệnh là yêu cầu bắt buộc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Reis &amp; Housley (2022), Fundamentals of Data Engineering, 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Yêu cầu bắt buộc về bộ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Tối thiểu 1 000 bản ghi và 6 thuộc tính có ý nghĩa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có ít nhất một thuộc tính thời gian để dựng chiều Thời gian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rõ nguồn và giấy phép sử dụng của bộ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dùng dữ liệu cá nhân chưa được ẩn danh hoá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dùng công cụ AI hỗ trợ, phải khai báo rõ trong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Đề tài gợi ý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Sáu đề tài gợi 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818487"/>
                <a:gridCol w="327298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Đề tài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Chiều phân tích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Bài toán khai phá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Bán lẻ siêu thị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gian, Sản phẩm, Chi nhánh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Luật kết hợp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Kết quả học tập sinh viên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Học kỳ, Môn học, Khoa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loại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Thuê bao viễn thông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gian, Gói cước, Khu vực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loại rời mạng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Giao dịch thẻ ngân hàng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gian, Loại giao dịch, Chi nhánh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dị thường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Lượt khám bệnh viện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gian, Khoa, Nhóm bệnh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cụm bệnh nhân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Đơn hàng thương mại điện tử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gian, Danh mục, Tỉnh thành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Phân khúc khách hàng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Dấu hiệu một đề tài tốt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3" y="2788920"/>
            <a:ext cx="566928" cy="56692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62385" y="3072384"/>
            <a:ext cx="102047" cy="107716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64432" y="2970336"/>
            <a:ext cx="181417" cy="209764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6504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Trả lời được một câu hỏi mà người thật sẽ hành động theo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4418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8855" y="2845612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8855" y="2907974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8855" y="3140415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65547" y="2879628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3682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lấy được ngay, không phụ thuộc bên thứ ba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1596" y="2340864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6033" y="2845612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8572804" y="2947659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72804" y="3072384"/>
            <a:ext cx="113386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20860" y="2560320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Đủ nhỏ để hoàn thành trong bốn tuần còn lại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2336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71676" y="4528108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9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71676" y="4641494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400495" y="4528108"/>
            <a:ext cx="124724" cy="453543"/>
          </a:xfrm>
          <a:custGeom>
            <a:avLst/>
            <a:gdLst/>
            <a:ahLst/>
            <a:cxnLst/>
            <a:rect l="l" t="t" r="r" b="b"/>
            <a:pathLst>
              <a:path w="124724" h="453543">
                <a:moveTo>
                  <a:pt x="0" y="113386"/>
                </a:moveTo>
                <a:lnTo>
                  <a:pt x="124724" y="0"/>
                </a:lnTo>
                <a:lnTo>
                  <a:pt x="124724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46504" y="424281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Có đủ chiều để dựng được lược đồ hình sao thật, không gượng ép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4418" y="4023360"/>
            <a:ext cx="3362858" cy="1444752"/>
          </a:xfrm>
          <a:prstGeom prst="roundRect">
            <a:avLst>
              <a:gd name="adj" fmla="val 506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20193" y="456212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86178" y="475488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80980" y="460747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52634" y="477755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83682" y="424281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Nhóm giải thích được kết quả cho người ngoài ngành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Thang điểm theo chuẩn đầu ra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Biết trước tiêu chí để tự chấm trước khi nộp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Thang đánh giá CLO1 — thiết kế và cài đặt kho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398"/>
                <a:gridCol w="741381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Yêu cầu đạt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Xuất sắc (85–100%)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Kho hoàn chỉnh, tính đúng trên 80% khối dữ liệu, trình diễn được OLAP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Đạt (70–84%)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Kho hoàn chỉnh, tính đúng trên 50% khối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Đang phát triển (55–69%)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Thiết kế và cài đặt đúng khoảng 80% kho 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Bắt đầu (40–54%)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Thiết kế và cài đặt đúng khoảng 50% kho dữ liệu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đạt (&lt;40%)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thiết kế hoặc không cài đặt được kho 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Thang đánh giá CLO2 — khai phá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3398"/>
                <a:gridCol w="741381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Yêu cầu đạt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Xuất sắc (85–100%)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diện bài toán từ yêu cầu thực tế, cài đặt và kiểm chứng hiệu quả mô hình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Đạt (70–84%)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Tiền xử lý và cài đặt được giải pháp khai phá cho ứng dụng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Đang phát triển (55–69%)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Thu thập được dữ liệu và thiết kế được giải pháp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Bắt đầu (40–54%)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Chỉ nêu được giải pháp, chưa cài đặt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đạt (&lt;40%)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nhận diện được đây có phải bài toán khai phá hay không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CLO3 — làm việc nhóm chiếm 10%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Nộp bảng phân công ghi rõ phần việc từng thành viên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Mỗi thành viên phải trình bày được phần của mình khi hỏi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lại bằng chứng phối hợp: lịch sử kho mã, biên bản họp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Thành viên không đóng góp sẽ bị trừ điểm riêng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CLO3 chấm theo tỷ lệ phần bài tập lớn nhóm hoàn thành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Sản phẩm nộp và thuyết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Mốc thời gian bốn tuần cuối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072601" y="3858768"/>
            <a:ext cx="8046492" cy="0"/>
          </a:xfrm>
          <a:prstGeom prst="line">
            <a:avLst/>
          </a:prstGeom>
          <a:ln w="3810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935441" y="3721608"/>
            <a:ext cx="274320" cy="27432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25776"/>
            <a:ext cx="2590723" cy="1040384"/>
          </a:xfrm>
          <a:prstGeom prst="roundRect">
            <a:avLst>
              <a:gd name="adj" fmla="val 6152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80639"/>
            <a:ext cx="25907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Tuần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46400"/>
            <a:ext cx="2407843" cy="546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Chốt đề tài, nộp đề cương một trang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072601" y="3566160"/>
            <a:ext cx="0" cy="292608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617605" y="3721608"/>
            <a:ext cx="274320" cy="2743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9403" y="4096512"/>
            <a:ext cx="2590723" cy="1040384"/>
          </a:xfrm>
          <a:prstGeom prst="roundRect">
            <a:avLst>
              <a:gd name="adj" fmla="val 6152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03" y="4151376"/>
            <a:ext cx="25907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Tuần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4517136"/>
            <a:ext cx="2407843" cy="546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 chạy được, trình diễn OLAP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54765" y="3858768"/>
            <a:ext cx="0" cy="237744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299769" y="3721608"/>
            <a:ext cx="274320" cy="27432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41567" y="2525776"/>
            <a:ext cx="2590723" cy="1040384"/>
          </a:xfrm>
          <a:prstGeom prst="roundRect">
            <a:avLst>
              <a:gd name="adj" fmla="val 6152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580639"/>
            <a:ext cx="25907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Tuần 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946400"/>
            <a:ext cx="2407843" cy="546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Chức năng khai phá hoàn chỉnh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436929" y="3566160"/>
            <a:ext cx="0" cy="292608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981933" y="3721608"/>
            <a:ext cx="274320" cy="27432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3731" y="4096512"/>
            <a:ext cx="2590723" cy="1040384"/>
          </a:xfrm>
          <a:prstGeom prst="roundRect">
            <a:avLst>
              <a:gd name="adj" fmla="val 6152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731" y="4151376"/>
            <a:ext cx="25907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Tuần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171" y="4517136"/>
            <a:ext cx="2407843" cy="546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Nộp báo cáo, mã nguồn và slide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19093" y="3858768"/>
            <a:ext cx="0" cy="237744"/>
          </a:xfrm>
          <a:prstGeom prst="line">
            <a:avLst/>
          </a:prstGeom>
          <a:ln w="1778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Đề cương chi tiết học phần INT1422 (2024), Học viện Công nghệ Bưu chính Viễn thông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Danh mục sản phẩm phải nộp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59689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28369" y="2973628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40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383487" y="2973628"/>
            <a:ext cx="85039" cy="85040"/>
          </a:xfrm>
          <a:custGeom>
            <a:avLst/>
            <a:gdLst/>
            <a:ahLst/>
            <a:cxnLst/>
            <a:rect l="l" t="t" r="r" b="b"/>
            <a:pathLst>
              <a:path w="85039" h="85040">
                <a:moveTo>
                  <a:pt x="0" y="0"/>
                </a:moveTo>
                <a:lnTo>
                  <a:pt x="85039" y="85040"/>
                </a:lnTo>
                <a:lnTo>
                  <a:pt x="0" y="85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46504" y="281635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Báo cáo 15–25 trang theo cấu trúc năm phần công việc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259689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86178" y="2950951"/>
            <a:ext cx="498896" cy="498896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4917" y="3109691"/>
            <a:ext cx="181416" cy="1814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3682" y="281635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Mã nguồn kèm hướng dẫn chạy lại được từ đầu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2596896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6033" y="2973628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6033" y="3035990"/>
            <a:ext cx="453542" cy="29480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6033" y="3268431"/>
            <a:ext cx="453542" cy="1247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02726" y="3007644"/>
            <a:ext cx="340156" cy="6803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0860" y="2816352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Bộ dữ liệu hoặc đường dẫn tải kèm mô tả các thuộc tính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23360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0023" y="4683556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47424" y="4541824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94825" y="4400092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6504" y="424281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Slide thuyết trình tối đa 15 slide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4023360"/>
            <a:ext cx="3362858" cy="1188720"/>
          </a:xfrm>
          <a:prstGeom prst="roundRect">
            <a:avLst>
              <a:gd name="adj" fmla="val 6153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20193" y="4434108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86178" y="4626864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80980" y="4479462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52634" y="4649541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3682" y="424281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Bảng phân công và khai báo sử dụng công cụ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Cấu trúc bài thuyết trình 15 phút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2 phút: câu hỏi nghiệp vụ và vì sao nó đáng giải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3 phút: dữ liệu và những gì đã phải làm sạch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4 phút: thiết kế kho và trình diễn OLAP trực tiếp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4 phút: kết quả khai phá kèm bằng chứng đánh giá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2 phút: khuyến nghị hành động và hạn chế của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Sáu lỗi khiến nhóm mất điểm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 từ dữ liệu sẵn có thay vì từ câu hỏi nghiệp vụ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hình sao chỉ có một chiều, hoặc không có chiều Thời gian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Đánh giá trên tập huấn luyện, hoặc chỉ báo cáo độ chính xác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Trình bày luật kết hợp mà không kiểm tra độ nâng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mô hình cơ sở để so sánh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thành viên làm hết, cả nhóm cùng mất điểm CLO3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Một kết quả khiêm tốn nhưng được kiểm chứng đúng đắn luôn được điểm cao hơn một kết quả ấn tượng không kiểm chứng được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tập lớn chiếm 70% điểm và chấm theo năm tiêu chí CLO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Thiết kế và cài đặt kho dữ liệu chiếm 45%, nhiều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có đủ năm phần: dữ liệu, thiết kế, cài đặt, OLAP, khai phá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kết quả khai phá phải kèm bằng chứng đánh giá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Làm việc nhóm được chấm riêng và có bằng chứng đi kèm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38960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Nhóm bạn trả lời được câu hỏi nghiệp vụ nào, và ai sẽ dùng câu trả lời đó?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03728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Lược đồ hình sao của nhóm có mấy chiều, độ mịn là gì, và vì sao chọn độ mịn đó?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68496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Nhóm sẽ chứng minh mô hình tốt hơn cách làm hiện tại bằng bằng chứng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33264"/>
            <a:ext cx="10637215" cy="936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2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Phần việc nào đang chậm nhất, và kế hoạch xử lý trong tuần này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Fong &amp; Wong (2021), Information Systems Reengineering, Integration and Normalization, 4th ed., Springer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Reis &amp; Housley (2022), Fundamentals of Data Engineering, O'Reilly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Liên hệ giảng viên trong giờ tư vấn nếu nhóm vướng ở bất kỳ phần nào.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12 - Hướng dẫn bài tập lớn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