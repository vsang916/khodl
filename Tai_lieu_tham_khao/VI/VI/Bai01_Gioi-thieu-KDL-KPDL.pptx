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bố cục 4 tiết: 2 tiết đầu cho mục 1-3, 2 tiết sau cho mục 4-6.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Bám chuẩn đầu ra CLO1; mục tiêu 5 là nền cho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mở bài; hỏi sinh viên: một ngày các em tạo ra bao nhiêu dữ liệu?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kể thêm nguồn dữ liệu tại Việt Nam: ví dụ ví điện tử, giao hàng.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bài toán không mới, nhưng quy mô dữ liệu mới làm nó khả thi và cần thiết.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viên: doanh nghiệp thường mắc kẹt ở tầng nào?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Bốn tiêu chí này là thước đo để đánh giá kết quả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Ranh giới: truy vấn trả lời câu hỏi đã biết; khai phá sinh ra câu hỏi và giả thuyết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tỉ lệ công sức — sinh viên thường đánh giá thấp phần tiền xử lý.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Vẽ lại sơ đồ này trên bảng khi nói về kiến trúc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Hỏi: dữ liệu bài tập lớn của nhóm thuộc loại nào?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liệt kê tên các kiểu mẫu ở đây; chi tiết từng kiểu nằm ở mục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cách phân loại xuyên suốt học phần; ghi lên bảng để tham chiếu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Bảng này là bản đồ của toàn bộ chương 4 giáo trình; sinh viên nên chép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Sẽ học sâu ở Bài 8 với cây quyết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Sẽ học ở Bài 10 và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kinh điển bia–tã lót: cảnh báo sinh viên đây là giai thoại, không phải nghiên cứu.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nghịch lý: trong gian lận, cái hiếm mới là cái đáng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Đặt nền cho phần đánh giá mô hình ở Bài 8; nhắc hiện tượng quá khớp.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Bảng trọng tâm cho bài kiểm tra tuần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cầu nối giữa nửa đầu (kho dữ liệu) và nửa sau (khai phá) của học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Thống kê xuất phát từ giả thuyết; khai phá xuất phát từ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sinh viên chọn một ứng dụng làm đề tài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Nghị định 13/2023 về bảo vệ dữ liệu cá nhân khi làm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Gấp slide lại, yêu cầu sinh viên nhắc năm ý trước khi chiếu từng dòng.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Giao câu 4 và 5 về nhà; chữa đầu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sinh viên đọc quyển 1 chương 1 trước buổi tới.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Giới thiệu về Kho dữ liệu và Khai phá dữ liệu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Khái niệm, quy trình KDD, các bài toán cơ bản và ứng dụng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1 · 4 tiết · Chuẩn đầu ra: CLO1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cần khai phá dữ liệu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Quy trình phát hiện tri thức (KDD)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nào và mẫu nào được khai phá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 bài toán khai phá cơ bản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Quan hệ với CSDL, kho dữ liệu, thống kê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Ứng dụng và thách thức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được khai phá dữ liệu là gì và không là gì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tả được sáu bước của quy trình KDD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biệt được năm bài toán khai phá cơ bản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So sánh được CSDL, OLAP và khai phá dữ liệu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Nhận diện được bài toán khai phá trong tình huống thực tế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Vì sao cần khai phá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Từ bùng nổ dữ liệu đến nhu cầu tri thức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“Chúng ta ngập trong dữ liệu, nhưng đói tri thức.”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John Naisbitt, Megatrends (1982) — trích trong Han, Kamber &amp; Pei (2022)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đang được tạo ra ở khắp nơi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Thu thập tự động khiến dữ liệu tăng nhanh hơn khả năng phân tích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5262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8999" y="2898851"/>
            <a:ext cx="238109" cy="23810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6400" y="2785465"/>
            <a:ext cx="283464" cy="28346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2463" y="2910189"/>
            <a:ext cx="215432" cy="215432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5692" y="3012236"/>
            <a:ext cx="385511" cy="124724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46504" y="267208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Web và thương mại điện tử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36702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log truy cập, giỏ hàng, đánh giá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4418" y="245262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765547" y="2728772"/>
            <a:ext cx="340157" cy="453543"/>
          </a:xfrm>
          <a:custGeom>
            <a:avLst/>
            <a:gdLst/>
            <a:ahLst/>
            <a:cxnLst/>
            <a:rect l="l" t="t" r="r" b="b"/>
            <a:pathLst>
              <a:path w="340157" h="453543">
                <a:moveTo>
                  <a:pt x="0" y="0"/>
                </a:moveTo>
                <a:lnTo>
                  <a:pt x="255118" y="0"/>
                </a:lnTo>
                <a:lnTo>
                  <a:pt x="340157" y="85040"/>
                </a:lnTo>
                <a:lnTo>
                  <a:pt x="340157" y="453543"/>
                </a:lnTo>
                <a:lnTo>
                  <a:pt x="0" y="453543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020665" y="2728772"/>
            <a:ext cx="85039" cy="85040"/>
          </a:xfrm>
          <a:custGeom>
            <a:avLst/>
            <a:gdLst/>
            <a:ahLst/>
            <a:cxnLst/>
            <a:rect l="l" t="t" r="r" b="b"/>
            <a:pathLst>
              <a:path w="85039" h="85040">
                <a:moveTo>
                  <a:pt x="0" y="0"/>
                </a:moveTo>
                <a:lnTo>
                  <a:pt x="85039" y="85040"/>
                </a:lnTo>
                <a:lnTo>
                  <a:pt x="0" y="85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3682" y="267208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Bán lẻ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2162" y="336702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hoá đơn siêu thị, thẻ khách hàng thân thiết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596" y="245262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6033" y="2728772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46033" y="2791134"/>
            <a:ext cx="453542" cy="29480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46033" y="3023575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2726" y="2762788"/>
            <a:ext cx="340156" cy="6803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0860" y="267208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chính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9340" y="336702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giao dịch ngân hàng, thẻ tín dụng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6110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338" y="4673315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55140" y="4673315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219078" y="4764024"/>
            <a:ext cx="158739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46504" y="448056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Viễn thông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17550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CDR, lưu lượng mạng, vị trí thuê bao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14418" y="426110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08855" y="4537252"/>
            <a:ext cx="340156" cy="34015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003657" y="4832055"/>
            <a:ext cx="158740" cy="158740"/>
          </a:xfrm>
          <a:prstGeom prst="line">
            <a:avLst/>
          </a:prstGeom>
          <a:ln w="3556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83682" y="448056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Khoa học và y tế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2162" y="517550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gen, ảnh y khoa, cảm biến IoT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Vì sao khai phá dữ liệu bùng nổ lúc này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số đã được lưu trữ có hệ thống nhiều thập kỷ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Máy tính rẻ hơn và mạnh hơn theo cấp số nhân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Áp lực cạnh tranh buộc doanh nghiệp ra quyết định dựa trên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học máy đủ chín để dùng ở quy mô lớn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tích thủ công không còn khả thi với dữ liệu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Từ dữ liệu đến quyết định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Mỗi tầng chỉ có giá trị khi dẫn được lên tầng trên</a:t>
            </a:r>
          </a:p>
        </p:txBody>
      </p:sp>
      <p:sp>
        <p:nvSpPr>
          <p:cNvPr id="6" name="Freeform 5"/>
          <p:cNvSpPr/>
          <p:nvPr/>
        </p:nvSpPr>
        <p:spPr>
          <a:xfrm>
            <a:off x="3897489" y="2404872"/>
            <a:ext cx="4396716" cy="845819"/>
          </a:xfrm>
          <a:custGeom>
            <a:avLst/>
            <a:gdLst/>
            <a:ahLst/>
            <a:cxnLst/>
            <a:rect l="l" t="t" r="r" b="b"/>
            <a:pathLst>
              <a:path w="4396716" h="845819">
                <a:moveTo>
                  <a:pt x="1028264" y="0"/>
                </a:moveTo>
                <a:lnTo>
                  <a:pt x="3368452" y="0"/>
                </a:lnTo>
                <a:lnTo>
                  <a:pt x="4396716" y="845819"/>
                </a:lnTo>
                <a:lnTo>
                  <a:pt x="0" y="845819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97489" y="2404872"/>
            <a:ext cx="4396715" cy="84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Quyết định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1901" y="2404872"/>
            <a:ext cx="862553" cy="84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Hành động cụ thể</a:t>
            </a:r>
          </a:p>
        </p:txBody>
      </p:sp>
      <p:sp>
        <p:nvSpPr>
          <p:cNvPr id="9" name="Freeform 8"/>
          <p:cNvSpPr/>
          <p:nvPr/>
        </p:nvSpPr>
        <p:spPr>
          <a:xfrm>
            <a:off x="2869225" y="3296412"/>
            <a:ext cx="6453244" cy="845820"/>
          </a:xfrm>
          <a:custGeom>
            <a:avLst/>
            <a:gdLst/>
            <a:ahLst/>
            <a:cxnLst/>
            <a:rect l="l" t="t" r="r" b="b"/>
            <a:pathLst>
              <a:path w="6453244" h="845820">
                <a:moveTo>
                  <a:pt x="1028264" y="0"/>
                </a:moveTo>
                <a:lnTo>
                  <a:pt x="5424980" y="0"/>
                </a:lnTo>
                <a:lnTo>
                  <a:pt x="6453244" y="845820"/>
                </a:lnTo>
                <a:lnTo>
                  <a:pt x="0" y="845820"/>
                </a:lnTo>
                <a:close/>
              </a:path>
            </a:pathLst>
          </a:custGeom>
          <a:solidFill>
            <a:srgbClr val="1B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9225" y="3296412"/>
            <a:ext cx="6453243" cy="84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Tri thức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1901" y="3296412"/>
            <a:ext cx="862553" cy="84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Mẫu đã kiểm chứng</a:t>
            </a:r>
          </a:p>
        </p:txBody>
      </p:sp>
      <p:sp>
        <p:nvSpPr>
          <p:cNvPr id="12" name="Freeform 11"/>
          <p:cNvSpPr/>
          <p:nvPr/>
        </p:nvSpPr>
        <p:spPr>
          <a:xfrm>
            <a:off x="1840961" y="4187952"/>
            <a:ext cx="8509772" cy="845820"/>
          </a:xfrm>
          <a:custGeom>
            <a:avLst/>
            <a:gdLst/>
            <a:ahLst/>
            <a:cxnLst/>
            <a:rect l="l" t="t" r="r" b="b"/>
            <a:pathLst>
              <a:path w="8509772" h="845820">
                <a:moveTo>
                  <a:pt x="1028264" y="0"/>
                </a:moveTo>
                <a:lnTo>
                  <a:pt x="7481508" y="0"/>
                </a:lnTo>
                <a:lnTo>
                  <a:pt x="8509772" y="845820"/>
                </a:lnTo>
                <a:lnTo>
                  <a:pt x="0" y="845820"/>
                </a:lnTo>
                <a:close/>
              </a:path>
            </a:pathLst>
          </a:cu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0961" y="4187952"/>
            <a:ext cx="8509772" cy="84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Thông 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1901" y="4187952"/>
            <a:ext cx="862553" cy="84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Dữ liệu đã tổng hợp</a:t>
            </a:r>
          </a:p>
        </p:txBody>
      </p:sp>
      <p:sp>
        <p:nvSpPr>
          <p:cNvPr id="15" name="Freeform 14"/>
          <p:cNvSpPr/>
          <p:nvPr/>
        </p:nvSpPr>
        <p:spPr>
          <a:xfrm>
            <a:off x="812697" y="5079492"/>
            <a:ext cx="10566300" cy="845820"/>
          </a:xfrm>
          <a:custGeom>
            <a:avLst/>
            <a:gdLst/>
            <a:ahLst/>
            <a:cxnLst/>
            <a:rect l="l" t="t" r="r" b="b"/>
            <a:pathLst>
              <a:path w="10566300" h="845820">
                <a:moveTo>
                  <a:pt x="1028264" y="0"/>
                </a:moveTo>
                <a:lnTo>
                  <a:pt x="9538036" y="0"/>
                </a:lnTo>
                <a:lnTo>
                  <a:pt x="10566300" y="845820"/>
                </a:lnTo>
                <a:lnTo>
                  <a:pt x="0" y="845820"/>
                </a:lnTo>
                <a:close/>
              </a:path>
            </a:pathLst>
          </a:cu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697" y="5079492"/>
            <a:ext cx="10566300" cy="84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51901" y="5079492"/>
            <a:ext cx="862553" cy="845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Thô, chưa xử lý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Khai phá dữ liệu là gì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Trích xuất mẫu hợp lệ, mới, hữu ích và hiểu được từ dữ liệu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Hợp lệ: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mẫu đúng trên cả dữ liệu chưa từng thấy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Mới: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không hiển nhiên với người dùng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Hữu ích: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dẫn tới được một hành động cụ thể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Hiểu được: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con người diễn giải và tin được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Tên gọi khác: phát hiện tri thức từ dữ liệu (KDD)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Là khai phá dữ liệu — và không phải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phải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Tra cứu số điện thoại trong danh bạ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Truy vấn SQL tổng hợp doanh thu tháng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Tìm kiếm từ khoá trên web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Vẽ biểu đồ mô tả dữ liệu đã biết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Là khai phá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Nhóm khách hàng theo hành vi chưa biết trước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Dự báo khách hàng sắp rời mạng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Phát hiện hàng hoá thường mua cùng nhau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Phát hiện giao dịch gian lận bất thường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Tan, Steinbach &amp; Kumar (2019), Introduction to Data Mining, 2nd ed., Pearson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Quy trình phát hiện tri thức (KDD)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Khai phá dữ liệu chỉ là một bước trong chuỗi công việc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Sáu bước của quy trình KDD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1452829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Làm sạch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dữ liệu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493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14117" y="1984248"/>
            <a:ext cx="1452829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Tích hợp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dữ liệu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21810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50994" y="1984248"/>
            <a:ext cx="1452829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Chọn lọc &amp;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biến đổi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58687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87871" y="1984248"/>
            <a:ext cx="1452829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Khai phá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dữ liệu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5564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24748" y="1984248"/>
            <a:ext cx="1452829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Đánh giá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mẫu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32442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61626" y="1984248"/>
            <a:ext cx="1452829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Trình diễn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tri thức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Bốn bước đầu chiếm khoảng 70–80% công sức của một dự án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Quy trình lặp: kết quả đánh giá thường buộc quay lại bước tiền xử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Kiến trúc một hệ thống khai phá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59436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Giao diện người dùng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Trực quan hoá, tương tác, diễn giải kết quả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78024"/>
            <a:ext cx="10637215" cy="594360"/>
          </a:xfrm>
          <a:prstGeom prst="roundRect">
            <a:avLst>
              <a:gd name="adj" fmla="val 8000"/>
            </a:avLst>
          </a:prstGeom>
          <a:solidFill>
            <a:srgbClr val="1942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Đánh giá mẫu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Lọc mẫu theo độ đo thú vị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00400"/>
            <a:ext cx="10637215" cy="594360"/>
          </a:xfrm>
          <a:prstGeom prst="roundRect">
            <a:avLst>
              <a:gd name="adj" fmla="val 8000"/>
            </a:avLst>
          </a:prstGeom>
          <a:solidFill>
            <a:srgbClr val="204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Mô tơ khai phá dữ liệu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Tập các mô-đun thuật toán khai phá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22776"/>
            <a:ext cx="10637215" cy="594360"/>
          </a:xfrm>
          <a:prstGeom prst="roundRect">
            <a:avLst>
              <a:gd name="adj" fmla="val 8000"/>
            </a:avLst>
          </a:prstGeom>
          <a:solidFill>
            <a:srgbClr val="275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Cơ sở tri thức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Tri thức miền, phân cấp khái niệm, ràng buộc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45152"/>
            <a:ext cx="10637215" cy="594360"/>
          </a:xfrm>
          <a:prstGeom prst="roundRect">
            <a:avLst>
              <a:gd name="adj" fmla="val 8000"/>
            </a:avLst>
          </a:prstGeom>
          <a:solidFill>
            <a:srgbClr val="2E69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Máy chủ CSDL / kho dữ liệu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Lấy dữ liệu liên quan theo yêu cầu khai phá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67528"/>
            <a:ext cx="10637215" cy="594360"/>
          </a:xfrm>
          <a:prstGeom prst="roundRect">
            <a:avLst>
              <a:gd name="adj" fmla="val 8000"/>
            </a:avLst>
          </a:prstGeom>
          <a:solidFill>
            <a:srgbClr val="357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Nguồn dữ liệu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CSDL tác nghiệp, tệp phẳng, web, luồng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Khai phá dữ liệu gì và ra mẫu gì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Loại dữ liệu quyết định thuật toán được phép dùng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Các loại dữ liệu được khai phá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67992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1676" y="2344724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1676" y="2407086"/>
            <a:ext cx="453542" cy="29480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1676" y="2639527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" y="2378740"/>
            <a:ext cx="340156" cy="6803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6504" y="2187448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CSDL quan 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bảng, khoá, ràng buộc toàn vẹn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1967992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08855" y="2344724"/>
            <a:ext cx="453542" cy="113386"/>
          </a:xfrm>
          <a:custGeom>
            <a:avLst/>
            <a:gdLst/>
            <a:ahLst/>
            <a:cxnLst/>
            <a:rect l="l" t="t" r="r" b="b"/>
            <a:pathLst>
              <a:path w="453542" h="113386">
                <a:moveTo>
                  <a:pt x="0" y="113386"/>
                </a:moveTo>
                <a:lnTo>
                  <a:pt x="124724" y="0"/>
                </a:lnTo>
                <a:lnTo>
                  <a:pt x="453542" y="0"/>
                </a:lnTo>
                <a:lnTo>
                  <a:pt x="328818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8855" y="2458110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037673" y="2344724"/>
            <a:ext cx="124724" cy="453543"/>
          </a:xfrm>
          <a:custGeom>
            <a:avLst/>
            <a:gdLst/>
            <a:ahLst/>
            <a:cxnLst/>
            <a:rect l="l" t="t" r="r" b="b"/>
            <a:pathLst>
              <a:path w="124724" h="453543">
                <a:moveTo>
                  <a:pt x="0" y="113386"/>
                </a:moveTo>
                <a:lnTo>
                  <a:pt x="124724" y="0"/>
                </a:lnTo>
                <a:lnTo>
                  <a:pt x="124724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3682" y="2187448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2162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lịch sử đã tích hợp, theo chủ đề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596" y="1967992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402726" y="2344724"/>
            <a:ext cx="340157" cy="453543"/>
          </a:xfrm>
          <a:custGeom>
            <a:avLst/>
            <a:gdLst/>
            <a:ahLst/>
            <a:cxnLst/>
            <a:rect l="l" t="t" r="r" b="b"/>
            <a:pathLst>
              <a:path w="340157" h="453543">
                <a:moveTo>
                  <a:pt x="0" y="0"/>
                </a:moveTo>
                <a:lnTo>
                  <a:pt x="255118" y="0"/>
                </a:lnTo>
                <a:lnTo>
                  <a:pt x="340157" y="85040"/>
                </a:lnTo>
                <a:lnTo>
                  <a:pt x="340157" y="453543"/>
                </a:lnTo>
                <a:lnTo>
                  <a:pt x="0" y="453543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657844" y="2344724"/>
            <a:ext cx="85039" cy="85040"/>
          </a:xfrm>
          <a:custGeom>
            <a:avLst/>
            <a:gdLst/>
            <a:ahLst/>
            <a:cxnLst/>
            <a:rect l="l" t="t" r="r" b="b"/>
            <a:pathLst>
              <a:path w="85039" h="85040">
                <a:moveTo>
                  <a:pt x="0" y="0"/>
                </a:moveTo>
                <a:lnTo>
                  <a:pt x="85039" y="85040"/>
                </a:lnTo>
                <a:lnTo>
                  <a:pt x="0" y="85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0860" y="2187448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CSDL giao dịch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9340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bản ghi là một tập mục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77639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0023" y="4637836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47424" y="4496104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94825" y="4354372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46504" y="4197096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chuỗi thời gian và luồng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" y="5093208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cảm biến, log, tài chính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4418" y="3977639"/>
            <a:ext cx="3362858" cy="1771904"/>
          </a:xfrm>
          <a:prstGeom prst="roundRect">
            <a:avLst>
              <a:gd name="adj" fmla="val 4128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6178" y="4524451"/>
            <a:ext cx="238109" cy="23810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33579" y="4411065"/>
            <a:ext cx="283464" cy="28346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69642" y="4535789"/>
            <a:ext cx="215432" cy="215432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42870" y="4637836"/>
            <a:ext cx="385511" cy="124724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83682" y="4197096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**Dữ liệu văn bản, đồ thị, không gian, đa phương tiện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Các kiểu mẫu có thể khai phá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Mô tả đặc trưng: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tóm tắt tính chất chung của một lớp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biệt: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so sánh lớp mục tiêu với lớp đối chứng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**Mẫu thường xuyên và luật kết hợp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**Mô hình phân loại và hồi quy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**Cụm và phần tử dị biệt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Hai họ bài toán lớn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Mô tả (descriptive)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Mục tiêu: hiểu cấu trúc ẩn của dữ liệu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có biến đích cho trước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cụm, luật kết hợp, tóm tắt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Đánh giá khó, phụ thuộc chuyên gia miền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Dự đoán (predictive)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Mục tiêu: suy ra giá trị chưa biết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biến đích và dữ liệu có nhãn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loại, hồi quy, dự báo chuỗi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Đánh giá được bằng độ chính xác, sai số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Các bài toán khai phá cơ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Năm bài toán chiếm phần lớn ứng dụng thực tế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Năm bài toán cơ bản trong một bảng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301"/>
                <a:gridCol w="2711447"/>
                <a:gridCol w="2502874"/>
                <a:gridCol w="312859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Bài toán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Đầu vào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Đầu ra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Ví dụ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Phân loại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có nhãn rời rạc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Mô hình gán nhãn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Duyệt hồ sơ vay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Hồi quy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có nhãn liên tục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Hàm dự đoán số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Dự báo giá nhà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Phân cụm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không nhãn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Các nhóm tự nhiên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Phân khúc khách hàng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Luật kết hợp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CSDL giao dịch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Luật X → Y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Gợi ý bán kèm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Phát hiện dị thường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có/không nhãn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Danh sách điểm bất thường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Phát hiện gian lận thẻ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toán phân loại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một hàm gán mỗi bản ghi vào một lớp đã định nghĩa trước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Đầu vào: tập huấn luyện gồm các cặp thuộc tính – nhãn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Đầu ra: mô hình dự đoán nhãn cho bản ghi mới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Nhãn là rời rạc và không có thứ tự tự nhiên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Cần tách riêng tập kiểm thử để đánh giá trung thực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chẩn đoán bệnh, lọc thư rác, chấm điểm tín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toán phân cụm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Chia dữ liệu thành nhóm sao cho trong nhóm giống nhau, khác nhóm khác nhau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có nhãn cho trước: học không giám sát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Kết quả phụ thuộc mạnh vào độ đo khoảng cách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cụm thường phải do người dùng quyết định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có đáp án đúng duy nhất, cần chuyên gia miền diễn giải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phân khúc thị trường, nhóm tài liệu, nén ảnh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Bài toán luật kết hợp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Tìm các mặt hàng thường xuất hiện cùng nhau trong giao dịch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có dạng X → Y, với X và Y rời nhau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hỗ trợ đo tần suất, độ tin cậy đo độ mạnh của luật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là tương quan, không phải quan hệ nhân quả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luật sinh ra rất lớn nên cần lọc theo độ đo thú vị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phân tích giỏ hàng, bố trí kệ, gợi ý sản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Hồi quy và phát hiện dị thường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Hồi quy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dự đoán một giá trị số liên tục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Sai số đo bằng RMSE, MAE thay vì độ chính xác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Phát hiện dị thường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tìm bản ghi lệch xa phần còn lại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Dị thường có thể là lỗi dữ liệu hoặc chính là tri thức quý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thường rất mất cân bằng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Khai phá dữ liệu dựa trên quy nạp — mọi mẫu tìm được đều cần kiểm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Dữ liệu đủ lớn luôn chứa mẫu ngẫu nhiên trông rất thuyết phục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Quan hệ với CSDL, kho dữ liệu và thống kê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Khai phá dữ liệu là giao của nhiều chuyên ngành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So sánh CSDL, OLAP và khai phá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559"/>
                <a:gridCol w="2659303"/>
                <a:gridCol w="2659303"/>
                <a:gridCol w="287204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Tiêu chí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CSDL (OLTP)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OLAP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Khai phá dữ liệu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Câu hỏi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Cái gì đã xảy ra?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Vì sao, theo chiều nào?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Điều gì sẽ xảy ra?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Người dùng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Nhân viên tác nghiệp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Nhà phân tích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Nhà khoa học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Hiện thời, chi tiết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Lịch sử, đã tổng hợp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Lịch sử, đã tiền xử lý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Thao tác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Đọc/ghi bản ghi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Cuộn lên, khoan xuống, cắt lát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Học mô hình từ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Kết quả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Bản ghi chính xác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Bảng tổng hợp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Mẫu và mô hình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Kiến trúc mô tơ phân tích trực tuyến (OLAM)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Nguồn dữ liệu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hỗn tạp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337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Kho dữ liệu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+ siêu dữ liệu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8687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7871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Mô tơ OLAP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&amp; OLAM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1400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43187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Giao diện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người dùng đồ hoạ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OLAM = khai phá dữ liệu chạy trực tiếp trên khối dữ liệu đa chiều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phép khai phá ở nhiều mức trừu tượng và đổi chiều linh hoạt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Khai phá dữ liệu nằm ở giao của ba ngành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04402" y="2176272"/>
            <a:ext cx="2088204" cy="2088204"/>
          </a:xfrm>
          <a:prstGeom prst="ellipse">
            <a:avLst/>
          </a:prstGeom>
          <a:solidFill>
            <a:srgbClr val="12355B">
              <a:alpha val="57999"/>
            </a:srgbClr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99088" y="2176272"/>
            <a:ext cx="2088204" cy="2088204"/>
          </a:xfrm>
          <a:prstGeom prst="ellipse">
            <a:avLst/>
          </a:prstGeom>
          <a:solidFill>
            <a:srgbClr val="C8102E">
              <a:alpha val="57999"/>
            </a:srgbClr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51745" y="3032435"/>
            <a:ext cx="2088204" cy="2088204"/>
          </a:xfrm>
          <a:prstGeom prst="ellipse">
            <a:avLst/>
          </a:prstGeom>
          <a:solidFill>
            <a:srgbClr val="2E67A6">
              <a:alpha val="57999"/>
            </a:srgbClr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4402" y="1755648"/>
            <a:ext cx="20882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Thống kê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9088" y="1755648"/>
            <a:ext cx="20882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Học máy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1745" y="5157216"/>
            <a:ext cx="20882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Cơ sở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3286306"/>
            <a:ext cx="21945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KPDL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Điều làm khai phá dữ liệu khác biệt: mối bận tâm về quy mô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Ứng dụng và thách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Từ siêu thị đến y tế, viễn thông và an ninh mạng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Ứng dụng tiêu biểu theo bài toán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488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3" y="2434335"/>
            <a:ext cx="566928" cy="56692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62385" y="2717800"/>
            <a:ext cx="102047" cy="107716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64432" y="2615752"/>
            <a:ext cx="181417" cy="209764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46504" y="2434335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loại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12928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chấm điểm tín dụng, chẩn đoán, lọc thư rác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221488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97516" y="2672445"/>
            <a:ext cx="192755" cy="192755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69642" y="2740477"/>
            <a:ext cx="170078" cy="170078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56256" y="2479690"/>
            <a:ext cx="181416" cy="18141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3682" y="2434335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cụm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2162" y="312928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khúc khách hàng, gom nhóm tài liệu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1596" y="221488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34695" y="262709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29497" y="262709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493434" y="2717800"/>
            <a:ext cx="158740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20860" y="2434335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Luật kết hợp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9340" y="312928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bố trí kệ hàng, khuyến mãi bán kèm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0233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0023" y="4582972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47424" y="4441240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94825" y="4299508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46504" y="42428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Hồi quy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" y="49377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dự báo nhu cầu, định giá, dự báo tải mạng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4418" y="40233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708855" y="4299508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226771" y="0"/>
                </a:moveTo>
                <a:lnTo>
                  <a:pt x="453542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12949" y="4446910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12949" y="4645334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83682" y="42428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Dị thường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2162" y="49377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gian lận thẻ, xâm nhập mạng, lỗi thiết bị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Thách thức chính của lĩnh vực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551176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0023" y="3211372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47424" y="3069640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94825" y="2927908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2770632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Khả năng mở rộng khi dữ liệu vượt xa bộ nhớ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4418" y="2551176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708855" y="2950585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0" y="0"/>
                </a:moveTo>
                <a:lnTo>
                  <a:pt x="453542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8" y="351496"/>
                </a:lnTo>
                <a:lnTo>
                  <a:pt x="170078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3682" y="2770632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bẩn, thiếu, nhiễu và không đồng nhất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596" y="2551176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346033" y="2927908"/>
            <a:ext cx="453543" cy="113386"/>
          </a:xfrm>
          <a:custGeom>
            <a:avLst/>
            <a:gdLst/>
            <a:ahLst/>
            <a:cxnLst/>
            <a:rect l="l" t="t" r="r" b="b"/>
            <a:pathLst>
              <a:path w="453543" h="113386">
                <a:moveTo>
                  <a:pt x="0" y="113386"/>
                </a:moveTo>
                <a:lnTo>
                  <a:pt x="124724" y="0"/>
                </a:lnTo>
                <a:lnTo>
                  <a:pt x="453543" y="0"/>
                </a:lnTo>
                <a:lnTo>
                  <a:pt x="328818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46033" y="3041294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674851" y="2927908"/>
            <a:ext cx="124725" cy="453543"/>
          </a:xfrm>
          <a:custGeom>
            <a:avLst/>
            <a:gdLst/>
            <a:ahLst/>
            <a:cxnLst/>
            <a:rect l="l" t="t" r="r" b="b"/>
            <a:pathLst>
              <a:path w="124725" h="453543">
                <a:moveTo>
                  <a:pt x="0" y="113386"/>
                </a:moveTo>
                <a:lnTo>
                  <a:pt x="124725" y="0"/>
                </a:lnTo>
                <a:lnTo>
                  <a:pt x="124725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0860" y="2770632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Số chiều lớn làm khoảng cách mất ý nghĩa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77639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1046" y="4354372"/>
            <a:ext cx="294802" cy="294802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30416" y="4637836"/>
            <a:ext cx="136062" cy="9070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47424" y="4751222"/>
            <a:ext cx="102047" cy="51023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46504" y="4197096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Diễn giải mô hình và niềm tin của người dùng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4418" y="3977639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708855" y="4354372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226771" y="0"/>
                </a:moveTo>
                <a:lnTo>
                  <a:pt x="453542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12949" y="4501774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12949" y="4700198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83682" y="4197096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Quyền riêng tư, đạo đức và thiên lệch thuật toán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Khai phá dữ liệu tìm mẫu hợp lệ, mới, hữu ích và hiểu được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Nó là một bước trong quy trình KDD sáu bước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Năm bài toán: phân loại, hồi quy, phân cụm, kết hợp, dị thường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CSDL trả lời cái đã biết; khai phá sinh ra tri thức mới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mẫu đều phải được kiểm chứng trước khi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Nêu bốn tiêu chí của một mẫu đáng gọi là tri thức. Cho ví dụ vi phạm từng tiêu chí.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53251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truy vấn SQL tổng hợp doanh thu không được coi là khai phá dữ liệu?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50854"/>
            <a:ext cx="10637215" cy="5884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Sắp xếp sáu bước KDD và giải thích vì sao quy trình phải lặp.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67297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tình huống “ngân hàng muốn giảm tỉ lệ khách rời bỏ”: đây là bài toán nào? Vì sao?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64900"/>
            <a:ext cx="10637215" cy="5884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So sánh OLAP và khai phá dữ liệu trên ba tiêu chí bất kỳ.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Tan, Steinbach &amp; Kumar (2019), Introduction to Data Mining, 2nd ed., Pearson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Aggarwal (2015), Data Mining: The Textbook, Springer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trước buổi sau: Reis &amp; Housley chương 2 (The Data Engineering Lifecycle).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1 - Giới thiệu về Kho dữ liệu và Khai phá dữ liệu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