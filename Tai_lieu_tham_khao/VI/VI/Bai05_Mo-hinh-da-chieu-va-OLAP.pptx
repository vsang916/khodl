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nặng nhất nửa đầu học phần; phân bổ 1 tiết cho mỗi mục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 2 gần như chắc chắn xuất hiện trong bài kiểm tra tuần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nền cho toàn bộ phần OLAP còn lại của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hình sinh viên phải nhớ suốt nửa sau học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lại khoá thay thế và bảng chiều loại 2 đã học ở Bài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Thực tế đa số dự án chọn hình sao; bông tuyết chỉ khi chiều quá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Phân cấp là thứ làm cho hai thao tác OLAP đầu tiên có nghĩa.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Độ đo toàn thể là lý do một số truy vấn OLAP không tăng tốc được bằng khối.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Cắt lát bỏ đúng một chiều; cắt khối giữ nguyên số chiều. Sinh viên hay nhầm.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Thực hiện trực tiếp trên một bảng tính để sinh viên thấy kết quả đổi.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giới thiệu tên; sinh viên không cần thuộc các thao tác dẫn xuất.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Vẽ mạng khối cho ba chiều lên bảng: 8 nút, xếp theo ba tầng.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cộng 1 là do mức tổng hợp “tất cả”, sinh viên hay quên.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tính trường hợp 10 chiều trong 2 phút rồi công bố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 đoán trước chiến lược nào được dùng trong thực tế.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thuật toán khác nhau ở hướng duyệt mạng khối con, không ở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ý thứ ba: dùng lại khối nhỏ là toàn bộ ý tưởng tăng tốc của MultiWay.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Nối lại với Bài 7: cùng một tính chất cắt tỉa, hai bài toán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Khối vỏ là cách thực dụng nhất khi số chiều lớn: 3 chiều phủ hầu hết truy vấn.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kiểm chứng ô nào bị bỏ trước khi chiếu dòng thứ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số 63% là kết quả chặn dưới đã chứng minh, không phải kinh nghiệm.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lợi ích phải tính lại mỗi vòng, đó là điểm sinh viên hay làm 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hệ trực tiếp: bài tập lớn yêu cầu chọn và giải thích hai khối 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lại phép toán bit từ môn Kiến trúc máy tính.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tính vector bit cho Đà Nẵng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chỉ mục kết nối chỉ hiệu quả khi lược đồ ổn định, như hình 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Bitmap chia giỏ là cách duy nhất áp dụng bitmap cho cột như doanh thu.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Đa số sản phẩm thương mại hiện nay theo hướng HOLAP.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chính là việc mà bộ tối ưu truy vấn của máy chủ OLAP làm.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Siêu dữ liệu là phần sinh viên hay bỏ qua nhất trong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BY CUBE có trên SQL Server, PostgreSQL và Oracle; MySQL dùng ROLLUP.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Chốt bài bằng câu này trước khi sang phần tóm tắt.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Yêu cầu sinh viên đọc lại công thức đếm khối con từ trí nhớ.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1 và 5 là dạng câu hỏi của bài kiểm tra tuần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Mô hình đa chiều và Xử lý phân tích trực tuyến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Khối dữ liệu, lược đồ hình sao, thao tác OLAP, tính khối và chỉ mục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5 · 4 tiết · Chuẩn đầu ra: CLO1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hình dữ liệu đa chiều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Lược đồ hình sao và phân cấp khái niệm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 thao tác OLAP cơ bản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toán và vật chất hoá khối dữ liệu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mục bitmap và chỉ mục kết nối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Kiến trúc máy chủ OLAP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Thiết kế được lược đồ hình sao cho một bài toán nhỏ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Thực hiện được năm thao tác OLAP trên một khối cho trước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được số khối con của một khối n chiều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được ba chiến lược vật chất hoá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So sánh được ROLAP, MOLAP và HOLAP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Mô hình dữ liệu đa chiều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Nhìn dữ liệu như một khối, không như một bảng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khái niệm nền tảng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Chiều: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góc nhìn phân tích, ví dụ Thời gian, Sản phẩm, Chi nhánh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đo: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đại lượng số cần tổng hợp, ví dụ Doanh thu, Số lượng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dữ liệu: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tập độ đo được đánh chỉ mục theo các chiều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ô = giá trị độ đo tại một tổ hợp giá trị chiều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Khối n chiều vẫn gọi là khối, dù n lớn hơn 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dữ liệu ba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Mỗi ô là một giá trị độ đo tại một tổ hợp giá trị chiều</a:t>
            </a:r>
          </a:p>
        </p:txBody>
      </p:sp>
      <p:sp>
        <p:nvSpPr>
          <p:cNvPr id="6" name="Freeform 5"/>
          <p:cNvSpPr/>
          <p:nvPr/>
        </p:nvSpPr>
        <p:spPr>
          <a:xfrm>
            <a:off x="3968404" y="3255264"/>
            <a:ext cx="2212848" cy="510657"/>
          </a:xfrm>
          <a:custGeom>
            <a:avLst/>
            <a:gdLst/>
            <a:ahLst/>
            <a:cxnLst/>
            <a:rect l="l" t="t" r="r" b="b"/>
            <a:pathLst>
              <a:path w="2212848" h="510657">
                <a:moveTo>
                  <a:pt x="0" y="510657"/>
                </a:moveTo>
                <a:lnTo>
                  <a:pt x="510657" y="0"/>
                </a:lnTo>
                <a:lnTo>
                  <a:pt x="2212848" y="0"/>
                </a:lnTo>
                <a:lnTo>
                  <a:pt x="1702191" y="510657"/>
                </a:lnTo>
                <a:close/>
              </a:path>
            </a:pathLst>
          </a:custGeom>
          <a:solidFill>
            <a:srgbClr val="2E67A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670595" y="3255264"/>
            <a:ext cx="510657" cy="2212848"/>
          </a:xfrm>
          <a:custGeom>
            <a:avLst/>
            <a:gdLst/>
            <a:ahLst/>
            <a:cxnLst/>
            <a:rect l="l" t="t" r="r" b="b"/>
            <a:pathLst>
              <a:path w="510657" h="2212848">
                <a:moveTo>
                  <a:pt x="0" y="510657"/>
                </a:moveTo>
                <a:lnTo>
                  <a:pt x="510657" y="0"/>
                </a:lnTo>
                <a:lnTo>
                  <a:pt x="510657" y="1702190"/>
                </a:lnTo>
                <a:lnTo>
                  <a:pt x="0" y="2212848"/>
                </a:lnTo>
                <a:close/>
              </a:path>
            </a:pathLst>
          </a:custGeom>
          <a:solidFill>
            <a:srgbClr val="1B467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68404" y="3765921"/>
            <a:ext cx="567396" cy="567396"/>
          </a:xfrm>
          <a:prstGeom prst="rect">
            <a:avLst/>
          </a:prstGeom>
          <a:solidFill>
            <a:srgbClr val="3B7AB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35801" y="3765921"/>
            <a:ext cx="567396" cy="567396"/>
          </a:xfrm>
          <a:prstGeom prst="rect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03198" y="3765921"/>
            <a:ext cx="567396" cy="567396"/>
          </a:xfrm>
          <a:prstGeom prst="rect">
            <a:avLst/>
          </a:prstGeom>
          <a:solidFill>
            <a:srgbClr val="3B7AB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8404" y="4333318"/>
            <a:ext cx="567396" cy="567396"/>
          </a:xfrm>
          <a:prstGeom prst="rect">
            <a:avLst/>
          </a:prstGeom>
          <a:solidFill>
            <a:srgbClr val="5A93C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801" y="4333318"/>
            <a:ext cx="567396" cy="567396"/>
          </a:xfrm>
          <a:prstGeom prst="rect">
            <a:avLst/>
          </a:prstGeom>
          <a:solidFill>
            <a:srgbClr val="3B7AB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03198" y="4333318"/>
            <a:ext cx="567396" cy="567396"/>
          </a:xfrm>
          <a:prstGeom prst="rect">
            <a:avLst/>
          </a:prstGeom>
          <a:solidFill>
            <a:srgbClr val="5A93C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68404" y="4900715"/>
            <a:ext cx="567396" cy="567396"/>
          </a:xfrm>
          <a:prstGeom prst="rect">
            <a:avLst/>
          </a:prstGeom>
          <a:solidFill>
            <a:srgbClr val="3B7AB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35801" y="4900715"/>
            <a:ext cx="567396" cy="567396"/>
          </a:xfrm>
          <a:prstGeom prst="rect">
            <a:avLst/>
          </a:prstGeom>
          <a:solidFill>
            <a:srgbClr val="5A93C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3198" y="4900715"/>
            <a:ext cx="567396" cy="567396"/>
          </a:xfrm>
          <a:prstGeom prst="rect">
            <a:avLst/>
          </a:prstGeom>
          <a:solidFill>
            <a:srgbClr val="3B7AB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5921"/>
            <a:ext cx="2978420" cy="1702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Thời gian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8404" y="5559552"/>
            <a:ext cx="170219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Sản phẩm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268" y="3255264"/>
            <a:ext cx="27656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 nhánh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268" y="4531907"/>
            <a:ext cx="29784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Độ đo: Doanh thu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828230" y="3108960"/>
            <a:ext cx="48009" cy="651889"/>
          </a:xfrm>
          <a:prstGeom prst="line">
            <a:avLst/>
          </a:prstGeom>
          <a:ln w="254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4766584" y="3756309"/>
            <a:ext cx="123293" cy="123091"/>
          </a:xfrm>
          <a:custGeom>
            <a:avLst/>
            <a:gdLst/>
            <a:ahLst/>
            <a:cxnLst/>
            <a:rect l="l" t="t" r="r" b="b"/>
            <a:pathLst>
              <a:path w="123293" h="123091">
                <a:moveTo>
                  <a:pt x="52915" y="123091"/>
                </a:moveTo>
                <a:lnTo>
                  <a:pt x="0" y="0"/>
                </a:lnTo>
                <a:lnTo>
                  <a:pt x="123293" y="908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84599" y="2542032"/>
            <a:ext cx="3383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(Quý 1, Điện thoại, Hà Nội) = 1 250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Bảng sự kiện và bảng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Bảng sự kiện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chứa các độ đo và khoá ngoại tới các chiều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Rất nhiều dòng, ít cột; dòng là một sự kiện nghiệp vụ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Bảng chiều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chứa thuộc tính mô tả để lọc và nhóm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Ít dòng, nhiều cột; thường phi chuẩn hoá lược đồ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mịn của bảng sự kiện quyết định mọi phân tích về sau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Lược đồ hình sao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6095847" y="2655600"/>
            <a:ext cx="0" cy="430500"/>
          </a:xfrm>
          <a:prstGeom prst="line">
            <a:avLst/>
          </a:prstGeom>
          <a:ln w="2032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29987" y="190579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ThoiGian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558887" y="3853700"/>
            <a:ext cx="641395" cy="126057"/>
          </a:xfrm>
          <a:prstGeom prst="line">
            <a:avLst/>
          </a:prstGeom>
          <a:ln w="2032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0282" y="3833987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SanPham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991412" y="3853700"/>
            <a:ext cx="641395" cy="126057"/>
          </a:xfrm>
          <a:prstGeom prst="line">
            <a:avLst/>
          </a:prstGeom>
          <a:ln w="2032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659692" y="3833987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ChiNhanh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2807" y="308610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3177540"/>
            <a:ext cx="2926080" cy="499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BanHang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(bảng sự kiện)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3681374"/>
            <a:ext cx="29260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0AE"/>
                </a:solidFill>
                <a:latin typeface="Segoe UI"/>
                <a:ea typeface="Segoe UI"/>
                <a:cs typeface="Segoe UI"/>
              </a:rPr>
              <a:t>soLuong · doanhThu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câu hỏi nghiệp vụ đều thành phép nhóm trên ba chiều này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dạng lược đồ đa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148"/>
                <a:gridCol w="4205410"/>
                <a:gridCol w="371065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Lược đồ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Cấu trúc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Đánh đổi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Hình sao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Một bảng sự kiện, các bảng chiều phẳng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Truy vấn nhanh, có dư thừa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Bông tuyết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Bảng chiều chuẩn hoá lược đồ thành nhiều bảng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Tiết kiệm chỗ, phải nối nhiều bảng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Dải thiên hà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Nhiều bảng sự kiện dùng chung bảng chiều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Mô tả được nhiều chủ đề, phức tạp hơn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cấp khái niệm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Một chiều có nhiều mức trừu tượng xếp chồng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Thời gian: ngày → tháng → quý → năm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Địa điểm: cửa hàng → quận → thành phố → vùng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cấp cho phép cuộn lên và khoan xuống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thể có nhiều phân cấp song song trên cùng một chiều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cấp do người dùng nghiệp vụ định nghĩa, không do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loại độ đo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887"/>
                <a:gridCol w="4669996"/>
                <a:gridCol w="311333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Loại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Tính chất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Ví dụ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Phân phối được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Tính trên phần rồi gộp lại vẫn đúng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SUM, COUNT, MIN, MAX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Đại số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Là hàm của một số hữu hạn độ đo phân phối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AVG = SUM / COUNT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Toàn thể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tính được từ các phần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MEDIAN, RANK, MODE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Các thao tác OLAP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Năm động tác để đi lại trong khối dữ liệu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Năm thao tác OLAP cơ bản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670"/>
                <a:gridCol w="4558806"/>
                <a:gridCol w="354573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Thao tác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Làm gì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Kết quả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Cuộn lên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Đi lên một mức trong phân cấp chiều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Ít chi tiết hơn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Khoan xuống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Đi xuống một mức, ngược với cuộn lên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Nhiều chi tiết hơn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Cắt lát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Cố định giá trị của **một** chiều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Khối ít hơn một chiều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Cắt khối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Chọn khoảng giá trị trên **nhiều** chiều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Khối con nhỏ hơn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Xoay trục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Đổi chỗ các chiều khi trình bày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Cùng dữ liệu, khung nhìn khác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năm thao tác trên khối bán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Khối gốc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Doanh thu (Thoi gian: thang, San pham: mat hang, Chi nhanh: quan)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Áp dụng lần lượt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**Cuộn lên** trên Thời gian: tháng → quý; còn 4 giá trị thay vì 12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**Khoan xuống** trên Chi nhánh: quận → cửa hàng cụ thể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Slice: Chi nhanh = 'Ha Noi'   -&gt; khoi 2 chieu (Thoi gian, San pham)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Dice : Thoi gian in {Q1,Q2} AND San pham in {Dien thoai, May tinh}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**Xoay trục:** đưa Sản phẩm lên hàng, Thời gian sang cột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báo cáo quản trị đều là một chuỗi năm thao tác này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Các thao tác dẫn xuất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Khoan ngang: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chuyển sang bảng sự kiện khác dùng chung chiều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Khoan xuyên: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từ ô tổng hợp về bản ghi gốc hệ tác nghiệp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Xếp hạng, top-N: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lọc theo thứ hạng của độ đo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Tính toán dẫn xuất: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tỷ lệ tăng trưởng, luỹ kế theo thời gian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Tất cả đều dựa trên năm thao tác cơ bản ở trên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Tính toán khối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Bài toán bùng nổ tổ hợp cần được kiểm soát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con và mạng khối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tổ hợp chiều tạo ra một **khối con** riêng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Khối con đáy: chi tiết nhất, giữ đủ mọi chiều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Khối con đỉnh: tổng hợp toàn bộ, không còn chiều nào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 khối con tạo thành một mạng có thứ tự bộ phận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trước tất cả khối con giúp truy vấn nhanh nhưng rất tốn chỗ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Mạng khối con của khối ba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 = Thời gian, S = Sản phẩm, C = Chi nhánh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614519" y="2743200"/>
            <a:ext cx="1481328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2743200"/>
            <a:ext cx="0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2743200"/>
            <a:ext cx="1481328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4519" y="3429000"/>
            <a:ext cx="0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14519" y="3429000"/>
            <a:ext cx="1481328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614519" y="3429000"/>
            <a:ext cx="1481328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3429000"/>
            <a:ext cx="1481328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95847" y="3429000"/>
            <a:ext cx="1481328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77175" y="3429000"/>
            <a:ext cx="0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14519" y="4114800"/>
            <a:ext cx="1481328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5847" y="4114800"/>
            <a:ext cx="0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95847" y="4114800"/>
            <a:ext cx="1481328" cy="265176"/>
          </a:xfrm>
          <a:prstGeom prst="line">
            <a:avLst/>
          </a:prstGeom>
          <a:ln w="127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46623" y="2322576"/>
            <a:ext cx="1298448" cy="420624"/>
          </a:xfrm>
          <a:prstGeom prst="roundRect">
            <a:avLst>
              <a:gd name="adj" fmla="val 13043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 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5295" y="3008376"/>
            <a:ext cx="1298448" cy="420624"/>
          </a:xfrm>
          <a:prstGeom prst="roundRect">
            <a:avLst>
              <a:gd name="adj" fmla="val 13043"/>
            </a:avLst>
          </a:prstGeom>
          <a:solidFill>
            <a:srgbClr val="1B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6623" y="3008376"/>
            <a:ext cx="1298448" cy="420624"/>
          </a:xfrm>
          <a:prstGeom prst="roundRect">
            <a:avLst>
              <a:gd name="adj" fmla="val 13043"/>
            </a:avLst>
          </a:prstGeom>
          <a:solidFill>
            <a:srgbClr val="1B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27951" y="3008376"/>
            <a:ext cx="1298448" cy="420624"/>
          </a:xfrm>
          <a:prstGeom prst="roundRect">
            <a:avLst>
              <a:gd name="adj" fmla="val 13043"/>
            </a:avLst>
          </a:prstGeom>
          <a:solidFill>
            <a:srgbClr val="1B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65295" y="3694176"/>
            <a:ext cx="1298448" cy="420624"/>
          </a:xfrm>
          <a:prstGeom prst="roundRect">
            <a:avLst>
              <a:gd name="adj" fmla="val 13043"/>
            </a:avLst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(T,S)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6623" y="3694176"/>
            <a:ext cx="1298448" cy="420624"/>
          </a:xfrm>
          <a:prstGeom prst="roundRect">
            <a:avLst>
              <a:gd name="adj" fmla="val 13043"/>
            </a:avLst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(T,C)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7951" y="3694176"/>
            <a:ext cx="1298448" cy="420624"/>
          </a:xfrm>
          <a:prstGeom prst="roundRect">
            <a:avLst>
              <a:gd name="adj" fmla="val 13043"/>
            </a:avLst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(S,C)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6623" y="4379976"/>
            <a:ext cx="1298448" cy="420624"/>
          </a:xfrm>
          <a:prstGeom prst="roundRect">
            <a:avLst>
              <a:gd name="adj" fmla="val 13043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(T,S,C)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637215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Khối con đỉnh là tổng hợp toàn bộ; khối con đáy giữ đủ ba chiều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có phân cấp, khối n chiều đã có 2ⁿ khối con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Số khối con của một khối n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  =  ∏ (L_i + 1),   i = 1..n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 là số chiều; L_i là số mức trong phân cấp của chiều thứ i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Cộng thêm 1 cho mức tổng hợp “tất cả” của mỗi chiều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không có phân cấp, mỗi L_i = 1 và T = 2ⁿ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Đây là lý do không thể vật chất hoá toàn bộ trong thực tế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toán mẫu: đếm số khối con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Đề bài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Khối 3 chiều: Thời gian 4 mức, Sản phẩm 3 mức, Chi nhánh 2 mức.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Lời giải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 = (4 + 1) x (3 + 1) x (2 + 1)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 = 5 x 4 x 3 = 60 khoi con / cuboids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Đối chiếu: không có phân cấp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 = 2^3 = 8 khoi con / cuboids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cấp làm số khối con tăng gấp 7,5 lần chỉ với 3 chiều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10 chiều, mỗi chiều 4 mức: T = 5¹⁰ ≈ 9,8 triệu khối 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chiến lược vật chất hoá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148"/>
                <a:gridCol w="3958033"/>
                <a:gridCol w="395803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Chiến lược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Nội dung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Đánh đổi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Không vật chất hoá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Tính mọi thứ khi có truy vấn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tốn chỗ, truy vấn rất chậm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Vật chất hoá toàn bộ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Tính trước mọi khối con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Truy vấn tức thì, bùng nổ dung lượng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Vật chất hoá một phần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Chỉ tính trước các khối con đáng giá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Cân bằng tốt nhất trong thực tế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thuật toán tính khối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937"/>
                <a:gridCol w="3545738"/>
                <a:gridCol w="430553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Thuật toán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đi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Hợp với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MultiWay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Từ trên xuống, trên mảng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Khối dày, ít chiều, vừa bộ nhớ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BUC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Từ dưới lên, trên bảng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Khối băng, khối thưa, nhiều chiều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Star-Cubing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Lai hai hướng, dùng cây sao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Trường hợp trung gian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MultiWay: tổng hợp trên mảng đa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Nạp khối vào **mảng nhiều chiều**, chia thành các khối nhỏ (chunk)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Duyệt **từ trên xuống**: tính khối con đáy rồi suy ra khối con nhỏ hơn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khối nhỏ được dùng lại cho **nhiều** khối con cùng lúc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thứ tự chiều sao cho khối con nhỏ nhất tính trước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cắt tỉa được: phải tính hết, nên chỉ hợp với khối dày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BUC: tính từ dưới lên và cắt tỉa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đầu từ khối con **đỉnh**, đi xuống dần theo từng chiều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Ở mỗi ô, nếu số đếm **dưới ngưỡng** thì cắt bỏ cả nhánh con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Đây chính là tính chất Apriori áp dụng cho khối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Càng thưa và ngưỡng càng cao thì cắt tỉa càng hiệu quả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Đổi lại: không dùng lại được kết quả trung gian như MultiWay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băng và khối vỏ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băng: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chỉ giữ ô có độ đo vượt ngưỡng, bỏ phần chìm bên dưới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chỉ giữ tổ hợp có ít nhất 10 giao dịch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đóng: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bỏ ô nào có ô cha cùng giá trị độ đo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Nén được nhiều mà **không mất** thông tin độ đo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vỏ: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chỉ tính trước khối con dưới k chiều, thường k =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Tính khối băng bằng tay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Khối hai chiều, ngưỡng đếm &gt;=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       SP=A   SP=B   SP=C   | tong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CN=HN        4      2      1    |   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CN=DN        1      3      1    |  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tong         5      5      2    |  12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Ô nào được giữ lại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Giu : (HN,A)=4  (DN,B)=3  (HN,*)=7  (DN,*)=5  (*,A)=5  (*,B)=5  (*,*)=12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Bo  : (HN,B)=2  (HN,C)=1  (DN,A)=1  (DN,C)=1  (*,C)=2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Từ 12 ô đầy đủ còn 7 ô, mà mọi truy vấn vượt ngưỡng vẫn trả lời được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Ô (*,C)=2 bị bỏ tuy là ô tổng hợp, vì bản thân nó cũng dưới ngưỡng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khung nhìn để vật chất hoá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toán tối ưu: chọn k khối con sao cho tổng chi phí truy vấn nhỏ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toán này thuộc lớp **NP-khó**, nên dùng thuật toán tham lam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vòng chọn khối con có **lợi ích cận biên** lớn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Lợi ích = tổng chi phí tiết kiệm được cho mọi khối con phụ thuộc nó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Dừng khi hết ngân sách dung lượng hoặc lợi ích quá nhỏ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tham lam đạt ít nhất 63% lợi ích của lời giải tối ưu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khung nhìn bằng thuật toán tham lam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Chi phí đọc mỗi khối con (số dòng)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(T,S,C) = 6 000 000   (T,S) = 800 000   (T,C) = 300 000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(S,C)   =   200 000   (T)   =   1 000   ( )   =       1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Vòng 1: đã có sẵn khối con đáy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Chon (T,S): moi truy van tren (T,S) va (T) giam 6 000 000 -&gt; 800 000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Loi ich = 2 x (6 000 000 - 800 000) = 10 400 000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Vòng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Chon (T,C): loi ich = 6 000 000 - 300 000 = 5 700 000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vòng phải tính lại lợi ích vì khối con vừa chọn đã thay đổi chi phí nền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Viết lại truy vấn theo khung nhìn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Bộ tối ưu tìm khối con **nhỏ nhất** vẫn trả lời được truy vấn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Điều kiện: mọi chiều truy vấn cần phải có trong khối con đó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Và độ đo phải **cộng gộp tiếp được** từ mức đó lên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không có khối con phù hợp thì quay về bảng sự kiện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vậy độ đo toàn thể như MEDIAN không hưởng lợi từ vật chất hoá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khối con nào để tính trước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9514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0023" y="3083356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47424" y="2941624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94825" y="2799892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251460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con được truy vấn thường xuyên trong nhật ký sử dụng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4418" y="229514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708855" y="2799892"/>
            <a:ext cx="453542" cy="113386"/>
          </a:xfrm>
          <a:custGeom>
            <a:avLst/>
            <a:gdLst/>
            <a:ahLst/>
            <a:cxnLst/>
            <a:rect l="l" t="t" r="r" b="b"/>
            <a:pathLst>
              <a:path w="453542" h="113386">
                <a:moveTo>
                  <a:pt x="0" y="113386"/>
                </a:moveTo>
                <a:lnTo>
                  <a:pt x="124724" y="0"/>
                </a:lnTo>
                <a:lnTo>
                  <a:pt x="453542" y="0"/>
                </a:lnTo>
                <a:lnTo>
                  <a:pt x="328818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8855" y="2913278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037673" y="2799892"/>
            <a:ext cx="124724" cy="453543"/>
          </a:xfrm>
          <a:custGeom>
            <a:avLst/>
            <a:gdLst/>
            <a:ahLst/>
            <a:cxnLst/>
            <a:rect l="l" t="t" r="r" b="b"/>
            <a:pathLst>
              <a:path w="124724" h="453543">
                <a:moveTo>
                  <a:pt x="0" y="113386"/>
                </a:moveTo>
                <a:lnTo>
                  <a:pt x="124724" y="0"/>
                </a:lnTo>
                <a:lnTo>
                  <a:pt x="124724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3682" y="251460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con nhỏ nhưng phục vụ được nhiều truy vấn dẫn xuất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229514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4695" y="2935955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29497" y="2935955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493434" y="3026664"/>
            <a:ext cx="158740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20860" y="251460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Khối con là tổ tiên chung của nhiều khối con khác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77640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1676" y="4482388"/>
            <a:ext cx="453542" cy="453542"/>
          </a:xfrm>
          <a:prstGeom prst="ellipse">
            <a:avLst/>
          </a:prstGeom>
          <a:noFill/>
          <a:ln w="279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298448" y="4584435"/>
            <a:ext cx="0" cy="124725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98448" y="4709160"/>
            <a:ext cx="113385" cy="0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46504" y="419709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Cân nhắc chi phí cập nhật mỗi lần nạp dữ liệu mới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4418" y="3977640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708855" y="4505065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0" y="0"/>
                </a:moveTo>
                <a:lnTo>
                  <a:pt x="453542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8" y="351496"/>
                </a:lnTo>
                <a:lnTo>
                  <a:pt x="170078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83682" y="419709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Chiến lược “ngưỡng băng” chỉ giữ ô có độ đo vượt ngưỡng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Chỉ mục cho kho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Chỉ mục quan hệ truyền thống không đủ cho truy vấn phân tích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Chỉ mục bitmap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Mỗi giá trị của thuộc tính có một vector bit riêng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Bit thứ i bằng 1 nếu bản ghi thứ i mang giá trị đó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Điều kiện AND, OR, NOT trở thành phép toán bit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Rất hiệu quả khi số giá trị phân biệt nhỏ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Kém hiệu quả với thuộc tính như số căn cước hay mã đơn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thể nén để giảm dung lượng đáng kể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chỉ mục bitmap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Bảng dữ liệu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BanGhi  ChiNhanh   SanPham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1     Ha Noi     Dien thoai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2     Da Nang    May tinh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3     Ha Noi     May tinh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4     Ha Noi     Dien thoai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Vector bit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ChiNhanh = Ha Noi     -&gt;  1 0 1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SanPham  = May tinh   -&gt;  0 1 1 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Truy vấn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Ha Noi AND May tinh   -&gt;  1011 AND 0110 = 0 0 1 0  -&gt; ban ghi 3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9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Máy chỉ cần một phép AND trên hai từ máy thay vì quét toàn bảng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Truy vấn trở thành một phép toán bit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82031" y="2176272"/>
            <a:ext cx="11155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7599" y="2176272"/>
            <a:ext cx="11155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3167" y="2176272"/>
            <a:ext cx="11155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8735" y="2176272"/>
            <a:ext cx="11155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7391" y="2980944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 nhánh = Hà Nội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9463" y="3008376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5031" y="3008376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5B667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0599" y="3008376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6167" y="3008376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391" y="3694176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Sản phẩm = Máy tính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9463" y="3721608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5B667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5031" y="3721608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0599" y="3721608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6167" y="3721608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5B667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7391" y="4407408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9463" y="4434840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5B667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5031" y="4434840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5B667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0599" y="4434840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56167" y="4434840"/>
            <a:ext cx="1060704" cy="658368"/>
          </a:xfrm>
          <a:prstGeom prst="roundRect">
            <a:avLst>
              <a:gd name="adj" fmla="val 5555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5B667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Chỉ bản ghi số 3 thoả cả hai điều kiện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Chỉ mục kết nối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sẵn cặp bản ghi bảng chiều ↔ bản ghi bảng sự kiện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Bỏ qua chi phí tính lại phép kết nối lúc truy vấn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Đặc biệt hợp với lược đồ hình sao vì kết nối luôn cố định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Bitmap join index: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kết hợp cả hai kỹ thuật trên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Đổi lại: tốn chỗ và phải cập nhật khi nạp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biến thể chỉ mục bitmap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670"/>
                <a:gridCol w="4305539"/>
                <a:gridCol w="379900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Biến thể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làm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Dùng khi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Bitmap thuần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Một vector bit cho mỗi giá trị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Số giá trị phân biệt nhỏ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Bitmap mã hoá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Mã nhị phân, cần log₂(n) vector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Số giá trị trung bình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Bitmap chia giỏ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Một vector cho mỗi khoảng giá trị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Thuộc tính số liên tục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Nén vector bit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Vector bit của thuộc tính hiếm gần như toàn số 0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Mã hoá **theo độ dài chạy** nén các dãy 0 liên tiếp thành một con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 phép AND và OR làm được **ngay trên dạng nén**, không phải giải nén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Nhờ đó bitmap vẫn dùng được cho cột có vài nghìn giá trị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Đây là điều làm bitmap sống lại trong các kho dữ liệu cột hiện đại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Kiến trúc máy chủ OLAP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Lưu khối dữ liệu ở đâu và bằng cách nào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ROLAP, MOLAP và HOLAP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3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260"/>
                <a:gridCol w="3324129"/>
                <a:gridCol w="2880912"/>
                <a:gridCol w="288091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lưu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Mạnh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Yếu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ROLAP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Bảng quan hệ + khung nhìn tổng hợp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Mở rộng tốt, dữ liệu rất lớn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Truy vấn chậm hơn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MOLAP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Mảng đa chiều chuyên dụng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Truy vấn rất nhanh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Khối thưa gây lãng phí chỗ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HOLAP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Chi tiết trong bảng, tổng hợp trong mảng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Cân bằng tốc độ và dung lượng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Kiến trúc phức tạp hơn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Xử lý một truy vấn OLAP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Xác định khối con nào có thể trả lời truy vấn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khối con đã vật chất hoá nhỏ nhất phù hợp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Kiểm tra độ đo có phân phối được để cuộn tiếp hay không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không có khối con phù hợp, quay về bảng sự kiện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lại truy vấn để điều chỉnh danh sách vật chất hoá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Vai trò của siêu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tả cấu trúc kho: lược đồ, chiều, phân cấp, độ đo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Lưu vết nguồn gốc từng cột: dữ liệu này từ đâu ra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quy tắc biến đổi và lịch nạp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Lưu thống kê sử dụng để tối ưu vật chất hoá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Thiếu siêu dữ liệu, kho dữ liệu không kiểm toán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Cài đặt kho dữ liệu bằng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Bảng sự kiện và bảng chiều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CREATE TABLE ThoiGian (maThoiGian INT PRIMARY KEY,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ngay DATE, thang INT, quy INT, nam INT);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CREATE TABLE BanHang (maThoiGian INT, maSanPham INT,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maChiNhanh INT, soLuong INT, doanhThu DECIMAL(15,2));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Tính trước một khối con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CREATE VIEW cuboid_quy_sp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SELECT t.quy, b.maSanPham, SUM(b.doanhThu) AS doanhThu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BanHang b JOIN ThoiGian t USING (maThoiGian)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GROUP BY t.quy, b.maSanPham;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Tính cả mạng khối con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GROUP BY CUBE (t.nam, t.quy, b.maChiNhanh)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 dữ liệu nhanh không nhờ phần cứng mà nhờ tính trước đúng thứ cần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Vật chất hoá một phần cộng với chỉ mục bitmap là hai đòn bẩy chính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Năm thao tác OLAP: cuộn lên, khoan xuống, cắt lát, cắt khối, xoay trục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khối con bằng tích của (số mức + 1) trên mọi chiều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Vật chất hoá một phần là lựa chọn duy nhất khả thi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mục bitmap biến điều kiện lọc thành phép toán bit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ROLAP mở rộng tốt, MOLAP nhanh, HOLAP dung hoà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5258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Thiết kế lược đồ hình sao cho bài toán mượn trả sách của thư viện.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09511"/>
            <a:ext cx="10637215" cy="77710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khối (Thời gian, Sản phẩm, Khách hàng) với 3, 2, 4 mức: tính số khối con.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14632"/>
            <a:ext cx="10637215" cy="77710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biệt cắt lát và cắt khối; mỗi thao tác làm số chiều thay đổi thế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219754"/>
            <a:ext cx="10637215" cy="5258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chỉ mục bitmap không phù hợp với thuộc tính “số điện thoại”?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73617"/>
            <a:ext cx="10637215" cy="5258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Khối con tính trước có giúp truy vấn MEDIAN doanh thu theo quý không?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527480"/>
            <a:ext cx="10637215" cy="5258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6.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500 GB chi tiết, báo cáo phải dưới 3 giây: chọn ROLAP, MOLAP hay HOLAP?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Kimball &amp; Ross (2013), The Data Warehouse Toolkit, 3rd ed., Wiley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Reis &amp; Housley (2022), Fundamentals of Data Engineering, O'Reilly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trước buổi sau: Giáo trình mục 3.5, 3.6 và 4.1; quyển 1 chương 2 và 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5 - Mô hình đa chiều và Xử lý phân tích trực tuyến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