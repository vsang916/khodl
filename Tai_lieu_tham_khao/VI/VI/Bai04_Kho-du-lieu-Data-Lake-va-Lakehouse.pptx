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2 tiết; giữ nhịp nhanh ở mục 1 vì là ôn lại, dồn thời gian cho mục 3 và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2 và 3 là phần chắc chắn được hỏi khi bảo vệ bài tập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chậm định nghĩa; bốn tính từ chính là bảng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mất đi là lý do báo cáo chạy lại sau sáu tháng vẫn ra đúng con số cũ.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cuối mới là dòng nối sang phần kiến trúc song song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Khuyến nghị thực tế: bắt đầu bằng data mart nhưng dùng chung bảng chiều.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Sơ đồ này vẫn đúng với lakehouse, chỉ đổi công nghệ ở tầng dưới.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cuối giải thích vì sao lược đồ hình sao ở Bài 5 lại hiệu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Tách rời chính là điều kiện thứ hai làm ELT khả thi, đã nói ở Bài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Chính năm giới hạn này sinh ra ý tưởng data lake ở mục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cặp đối lập lược đồ khi ghi và lược đồ khi đọc — đó là khác biệt gốc rễ.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quan trọng nhất slide này: bất biến nghĩa là không có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Thuật ngữ gốc trong sách: data swamp, dark data, WORN — write once, read never.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số tệp sau một năm chạy mỗi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chốt của mục data lake; nhiều dự án thật đã chết đúng vì lý do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nguyên văn: lakehouse mang kiểm soát và cấu trúc của kho vào trong hồ.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Tầng thứ hai chính là điểm mới; ba tầng còn lại đã có từ thời data lake.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ý tưởng trung tâm của cả bài: dữ liệu bất biến, nhưng nhật ký thì thêm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đúng là bốn thứ data lake thế hệ đầu thiếu.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định dạng đang hội tụ về tính năng; chọn theo mô tơ mà tổ chức đã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chính là ELT của Bài 3 được đặt tên lại theo tầng lưu trữ.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Nguyên tắc: người dùng nghiệp vụ chỉ được truy cập tầng vàng.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phạm quy tắc một là mất khả năng truy vết nguồn gốc.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Dòng cuối quan trọng: lakehouse còn đang thay đổi nhanh, đừng coi là đã ổn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Với bài tập lớn, một kho quan hệ nhỏ là đủ; đừng dùng lakehouse cho vài nghìn dòng.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Thiếu quản trị thì lakehouse cũng thành đầm lầy, chỉ là đầm lầy có giao dịch.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mỗi thế hệ sinh ra để chữa đúng nhược điểm của thế hệ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bài bằng câu này trước khi sang tóm tắt.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nhắc lại ba thế hệ và nhược điểm của từng thế hệ.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4 và 5 là dạng câu hỏi tình huống hay ra ở bài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phần đọc thêm là chuẩn bị trực tiếp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liệu, Data Lake và Lakehouse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Ba thế hệ kiến trúc lưu trữ phân tích và lý do từng thế hệ ra đời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4 · 2 tiết · Chuẩn đầu ra: CLO1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liệu: định nghĩa và kiến trúc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Kiến trúc song song khối lớn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Data lake ra đời để giải quyết gì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Lakehouse và tầng siêu dữ liệu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Kiến trúc medallion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kiến trúc và quản trị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được bốn đặc trưng của kho dữ liệu theo Inmon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được vì sao data lake thế hệ đầu thất bại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được lakehouse thêm gì so với data lake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được ba tầng của kiến trúc medallion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kiến trúc phù hợp cho một tình huống cho 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Thế hệ đầu tiên, ra đời từ thập niên 1990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“Kho dữ liệu là một tập dữ liệu hướng chủ đề, tích hợp, biến động theo thời gian và không mất đi, phục vụ hỗ trợ ra quyết định.”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W. H. Inmon (2005), Building the Data Warehouse, 4th 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đặc trưng của kho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709147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Đặc trưng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Nghĩa là gì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chủ đề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Tổ chức quanh chủ đề nghiệp vụ, không quanh chức năng ứng dụng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Tích hợp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Dữ liệu nhiều nguồn đã được làm sạch và thống nhất quy ước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động theo thời gian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Mỗi bản ghi gắn với một mốc thời gian, lưu nhiều năm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Không mất đi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nạp thêm và đọc; không sửa, không xoá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Inmon (2005), Building the Data Warehouse, 4th ed., Wiley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 khác CSDL tác nghiệp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OLTP — tác nghiệp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Mục đích: chạy công việc hằng ngày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hiện thời, chi tiết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Chuẩn hoá lược đồ cao, ít dư thừa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Giao dịch ngắn, ghi nhiều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Lưu theo hàng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OLAP — phân tích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Mục đích: hỗ trợ ra quyết định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lịch sử, đã tổng hợp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Phi chuẩn hoá lược đồ có chủ ý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Truy vấn dài, đọc là chính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Lưu theo cột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mô hình triển khai kho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525"/>
                <a:gridCol w="3958033"/>
                <a:gridCol w="371065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Mô hình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Phạm vi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Rủi ro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Kho doanh nghiệp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Toàn bộ chủ đề của tổ chức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Tốn kém, triển khai nhiều năm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Data mart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phòng ban hoặc một chủ đề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Dễ thành các ốc đảo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Kho ảo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là khung nhìn trên hệ tác nghiệp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Gây tải nặng cho hệ tác nghiệp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Kiến trúc kho dữ liệu ba tầng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trên: công cụ đầu cuối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Truy vấn, báo cáo, phân tích, khai phá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9212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194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giữa: máy chủ OLAP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Cung cấp khung nhìn đa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22776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204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dưới: máy chủ kho dữ liệu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CSDL quan hệ, siêu dữ liệu, data mart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06340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275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Nguồn: hệ tác nghiệp và dữ liệu ngoài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Được nạp bằng ETL hoặc ELT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Kiến trúc song song khối lớn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Vì sao kho hiện đại quét được hàng tỷ dòng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Xử lý song song khối lớn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dữ liệu cho **nhiều nút** xử lý, mỗi nút giữ một phần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nút quét phần của mình rồi gửi kết quả cục bộ về nút điều phối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Thời gian quét giảm gần tỷ lệ nghịch với số nút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Nút thắt cổ chai là bước **trộn dữ liệu giữa các nút** khi phải nối bảng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vậy lược đồ hình sao ở Bài 5 mới hiệu quả: ít phép nối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Gắn chặt và tách rời tính toán với lưu trữ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2372868"/>
            <a:ext cx="41756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Gắn chặt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8847" y="2372868"/>
            <a:ext cx="41756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Tách rời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75788"/>
            <a:ext cx="21762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Mở rộng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0228"/>
            <a:ext cx="21762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 phí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9816" y="2912364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BECEE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2967228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Phải tăng cả 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3542385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Thêm đĩa thì phải thêm cả CPU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75423" y="2912364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5423" y="2967228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Tăng riêng từng phần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5423" y="3542385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Thêm đĩa mà không thêm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9816" y="4146804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BECEE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6" y="4201668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Trả cả khi nhàn rỗi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816" y="4776825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Máy chủ chạy suốt ngày đêm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5423" y="4146804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5423" y="4201668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Trả theo lượt truy vấn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5423" y="4776825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Tính toán bật khi cần, tắt khi xong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Giới hạn của kho dữ liệu cổ điển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nhận dữ liệu **có cấu trúc**, đã biết lược đồ từ trước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Ảnh, văn bản, log, dữ liệu cảm biến không có chỗ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Lược đồ phải cố định trước khi nạp — đổi lược đồ là dự án riêng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tại chỗ gắn chặt tính toán với lưu trữ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 phí mỗi terabyte cao, không hợp để giữ dữ liệu thô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Thế hệ thứ hai: đổ tất cả vào, tính lược đồ sau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 so với data lake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Lược đồ khi ghi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dữ liệu có cấu trúc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đã được xử lý sẵn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dùng: nhà phân tích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Đắt trên mỗi terabyte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Data 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Lược đồ khi đọc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loại: cấu trúc, bán cấu trúc, phi cấu trúc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Giữ nguyên dữ liệu thô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dùng: kỹ sư và nhà khoa học dữ liệu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Rẻ nhờ lưu trữ đối tượng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Lưu trữ đối tượng là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phải hệ tệp: không có thư mục thật, chỉ có **khoá** và **đối tượng**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Dấu gạch chéo trong khoá chỉ là quy ước, không phải cấu trúc cây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Đối tượng **bất biến**: sửa một byte nghĩa là ghi lại cả đối tượng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Rẻ, bền, mở rộng gần như vô hạn, truy cập qua HTTP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bất biến chính là gốc rễ mọi khó khăn của data lake thế hệ đầu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Vì sao data lake thế hệ đầu thất bại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71676" y="2445308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226772" y="0"/>
                </a:moveTo>
                <a:lnTo>
                  <a:pt x="453543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5770" y="259271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75770" y="279113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Đầm lầy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Trở thành bãi đổ; không ai biết trong đó có gì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7444" y="2445308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822246" y="2740111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02271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có mục lục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Thiếu công cụ quản lý lược đồ, tra cứu, khám phá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4983" y="4197096"/>
            <a:ext cx="566928" cy="5669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190731" y="4372843"/>
            <a:ext cx="215433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90731" y="4372843"/>
            <a:ext cx="215433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Chỉ ghi, khó sửa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sửa hay xoá được một bản ghi — vướng luật riêng tư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527444" y="427646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có giao dịch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Hai tiến trình ghi cùng lúc là dữ liệu hỏng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Vấn đề tệp vụn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Luồng chạy mỗi 5 phút sinh ra 288 tệp một ngày cho **một** bảng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tệp là một lượt gọi mạng riêng khi đọc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vạn tệp 1 MB đọc chậm hơn hẳn một trăm tệp 100 MB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Siêu dữ liệu phình theo số tệp, làm chậm cả bước lập kế hoạch truy vấn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Khắc phục: chạy **gộp tệp định kỳ**, gộp về khoảng 128 MB đến 1 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Hồ dữ liệu không được quản trị sẽ thành đầm lầy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Rẻ để đổ dữ liệu vào không có nghĩa là rẻ để lấy giá trị 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Thế hệ thứ ba: giữ chỗ rẻ, thêm lại kỷ luật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Lakehouse là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vẫn nằm trên **lưu trữ đối tượng**, vẫn ở định dạng mở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Bổ sung một **tầng siêu dữ liệu** quản lý tệp và lược đồ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tầng đó mà có **giao dịch ACID** trên dữ liệu trong hồ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Giữ lịch sử phiên bản, quay lại được trạng thái cũ của bảng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Nhiều mô tơ xử lý cùng đọc được: SQL, Spark, học máy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(2021), Lakehouse: A New Generation of Open Platforms that Unify Data Warehousing and Advanced Analytics, CIDR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Kiến trúc lakehouse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tơ xử lý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SQL, Spark, thư viện học máy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9212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194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Tầng siêu dữ liệu và giao dịch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Delta Lake, Apache Iceberg, Apache Hudi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22776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204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Tệp định dạng mở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Parquet, ORC, Avro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06340"/>
            <a:ext cx="10637215" cy="955548"/>
          </a:xfrm>
          <a:prstGeom prst="roundRect">
            <a:avLst>
              <a:gd name="adj" fmla="val 8000"/>
            </a:avLst>
          </a:prstGeom>
          <a:solidFill>
            <a:srgbClr val="275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Lưu trữ đối tượng</a:t>
            </a:r>
            <a:r>
              <a:rPr sz="2000">
                <a:solidFill>
                  <a:srgbClr val="DAE4F0"/>
                </a:solidFill>
                <a:latin typeface="Segoe UI"/>
                <a:ea typeface="Segoe UI"/>
                <a:cs typeface="Segoe UI"/>
              </a:rPr>
              <a:t>   —   Amazon S3, Azure Blob, Google Cloud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Tầng siêu dữ liệu hoạt động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Bảng thực chất là thư mục tệp cộng một nhật ký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ban_hang/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part-0001.parquet    part-0002.parquet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_delta_log/00000000000000000000.json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_delta_log/00000000000000000001.json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Mỗi lần ghi thêm một mục vào nhật ký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 "add":    { "path": "part-0003.parquet", "size": 134217728 }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{ "remove": { "path": "part-0001.parquet" } 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Vì sao có ACID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đọc chỉ thấy các tệp mà nhật ký đã ghi nhận xong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hỏng giữa chừng thì mục nhật ký không được ghi, coi như chưa xảy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tính chất ACID và ý nghĩa thực tế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398"/>
                <a:gridCol w="741381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Tính chất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Nghĩa là gì trong lakehouse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Nguyên tử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Luồng nạp hỏng giữa chừng không để lại bảng nửa vời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Nhất quán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Bảng luôn thoả ràng buộc lược đồ đã khai báo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Cô lập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Người đọc không thấy dữ liệu của luồng đang ghi dở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Bền vững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Ghi xong là còn, kèm lịch sử phiên bản để quay lại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Du hành thời gian trên bảng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Đọc lại trạng thái bảng ở một phiên bản cũ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* FROM ban_hang VERSION AS OF 41;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SELECT * FROM ban_hang TIMESTAMP AS OF '2026-03-14';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Vì sao hữu ích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lại đúng báo cáo tháng 3 bằng dữ liệu như nó có ở tháng 3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Quay lại sau một lần nạp sai mà không phải khôi phục từ bản sao lưu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hai phiên bản để biết luồng đã đổi những gì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Cái giá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giữ tệp cũ nên tốn thêm chỗ; hạn giữ thường 7 đến 30 ngày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định dạng bảng mở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2659303"/>
                <a:gridCol w="531860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dạng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Xuất phát từ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Điểm mạnh riêng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Delta Lake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Databricks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Nhật ký giao dịch đơn giản, hệ sinh thái Spark chín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Apache Iceberg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Netflix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Quản lý phân vùng ẩn, hợp nhiều mô tơ truy vấn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Apache Hudi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Uber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Tối ưu cho cập nhật và xoá theo dòng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(2021), Lakehouse: A New Generation of Open Platforms that Unify Data Warehousing and Advanced Analytics, CIDR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Kiến trúc medallion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Cách tổ chức dữ liệu bên trong một lakehouse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tầng đồng, bạc, vàng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Nguồn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337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Đồng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(thô)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7871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Bạc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(đã làm sạch)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1400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3187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Vàng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(sẵn dùng)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Đồng giữ nguyên bản thô để truy vết và nạp lại được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Vàng là bảng chiều và bảng sự kiện phục vụ báo cáo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Trong mỗi tầng có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5052677"/>
                <a:gridCol w="345709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Tầng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Ai dùng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Đồng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 sao thô, thêm cột thời điểm nạp và tên nguồn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Kỹ sư dữ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Bạc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Đã làm sạch, khử trùng lặp, hợp nhất quy ước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Nhà khoa học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Vàng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Bảng chiều, bảng sự kiện, bảng tổng hợp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Nhà phân tích, lãnh đạo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quy tắc của kiến trúc medallion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chỉ chảy **một chiều**: đồng → bạc → vàng, không đi ngược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Tầng đồng **không bao giờ bị sửa**, chỉ được thêm vào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tầng phải dựng lại được hoàn toàn từ tầng trước nó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quy tắc ba, sửa quy tắc nghiệp vụ chỉ cần chạy lại từ bạc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Vi phạm quy tắc một là mất khả năng truy vết nguồn gốc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(2020), Delta Lake: High-Performance ACID Table Storage over Cloud Object Stores, VLDB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Chọn kiến trúc và quản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So sánh ba kiến trúc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Tiêu chí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Kho dữ liệu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Data lake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Lakehouse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Loại dữ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 cấu trúc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Mọi loại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Mọi loại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Lược đồ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Khi ghi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Khi đọc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Cả hai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Giao dịch ACID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Chi phí lưu trữ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Cao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Thấp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Thấp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Độ chín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Rất chín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Chín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Đang phát triển nhanh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(2021), Lakehouse: A New Generation of Open Platforms that Unify Data Warehousing and Advanced Analytics, CIDR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theo tình huống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959608"/>
            <a:ext cx="3362858" cy="1798320"/>
          </a:xfrm>
          <a:prstGeom prst="roundRect">
            <a:avLst>
              <a:gd name="adj" fmla="val 406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1676" y="3235756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1676" y="3298118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1676" y="3530559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369" y="3269772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3179064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874007"/>
            <a:ext cx="288737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toàn bảng, báo cáo tài chính, cần độ chín và kiểm toán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959608"/>
            <a:ext cx="3362858" cy="1798320"/>
          </a:xfrm>
          <a:prstGeom prst="roundRect">
            <a:avLst>
              <a:gd name="adj" fmla="val 406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6178" y="3405835"/>
            <a:ext cx="238109" cy="23810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33579" y="3292449"/>
            <a:ext cx="283464" cy="28346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69642" y="3417173"/>
            <a:ext cx="215432" cy="21543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42870" y="3519220"/>
            <a:ext cx="385511" cy="124724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3682" y="3179064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Data lake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2162" y="3874007"/>
            <a:ext cx="288737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cần chỗ chứa rẻ cho log và tệp thô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1596" y="2959608"/>
            <a:ext cx="3362858" cy="1798320"/>
          </a:xfrm>
          <a:prstGeom prst="roundRect">
            <a:avLst>
              <a:gd name="adj" fmla="val 406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346033" y="3235756"/>
            <a:ext cx="453543" cy="113386"/>
          </a:xfrm>
          <a:custGeom>
            <a:avLst/>
            <a:gdLst/>
            <a:ahLst/>
            <a:cxnLst/>
            <a:rect l="l" t="t" r="r" b="b"/>
            <a:pathLst>
              <a:path w="453543" h="113386">
                <a:moveTo>
                  <a:pt x="0" y="113386"/>
                </a:moveTo>
                <a:lnTo>
                  <a:pt x="124724" y="0"/>
                </a:lnTo>
                <a:lnTo>
                  <a:pt x="453543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6033" y="3349142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674851" y="3235756"/>
            <a:ext cx="124725" cy="453543"/>
          </a:xfrm>
          <a:custGeom>
            <a:avLst/>
            <a:gdLst/>
            <a:ahLst/>
            <a:cxnLst/>
            <a:rect l="l" t="t" r="r" b="b"/>
            <a:pathLst>
              <a:path w="124725" h="453543">
                <a:moveTo>
                  <a:pt x="0" y="113386"/>
                </a:moveTo>
                <a:lnTo>
                  <a:pt x="124725" y="0"/>
                </a:lnTo>
                <a:lnTo>
                  <a:pt x="124725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0860" y="3179064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Lakehouse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340" y="3874007"/>
            <a:ext cx="288737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Vừa báo cáo vừa học máy, dữ liệu hỗn hợp, quy mô lớn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(2021), Lakehouse: A New Generation of Open Platforms that Unify Data Warehousing and Advanced Analytics, CIDR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trụ cột quản trị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1676" y="2445308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366479" y="2740111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46504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lục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bảng nào, cột nào nghĩa là gì, ai sở hữu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6105" y="258137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0908" y="258137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674845" y="2672080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02271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Truy vết nguồn gốc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Con số này sinh ra từ đâu, qua phép biến đổi nào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3015" y="4287804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8999" y="4480560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43802" y="4333158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15455" y="4503237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soát truy cập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Ai được đọc cột nào, che dữ liệu nhạy cảm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0751" y="4197096"/>
            <a:ext cx="566928" cy="56692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618152" y="4480560"/>
            <a:ext cx="102047" cy="107716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720199" y="4378512"/>
            <a:ext cx="181417" cy="209764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Chất lượng dữ liệu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0751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Ngưỡng kiểm tra và cảnh báo khi vi phạm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thế hệ kiến trúc lưu trữ phân tích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25980" y="3858768"/>
            <a:ext cx="7939735" cy="0"/>
          </a:xfrm>
          <a:prstGeom prst="line">
            <a:avLst/>
          </a:prstGeom>
          <a:ln w="381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988820" y="3721608"/>
            <a:ext cx="274320" cy="27432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98192"/>
            <a:ext cx="2697480" cy="1267968"/>
          </a:xfrm>
          <a:prstGeom prst="roundRect">
            <a:avLst>
              <a:gd name="adj" fmla="val 504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53056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Thập niên 1990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8816"/>
            <a:ext cx="2514600" cy="774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liệu: có kỷ luật nhưng đắt và cứng nhắc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25980" y="3566160"/>
            <a:ext cx="0" cy="292608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958687" y="3721608"/>
            <a:ext cx="274320" cy="27432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47107" y="4096512"/>
            <a:ext cx="2697480" cy="1267968"/>
          </a:xfrm>
          <a:prstGeom prst="roundRect">
            <a:avLst>
              <a:gd name="adj" fmla="val 5048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7107" y="4151376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Khoảng 2010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547" y="4517136"/>
            <a:ext cx="2514600" cy="774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Data lake: rẻ và linh hoạt nhưng mất kỷ luật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3858768"/>
            <a:ext cx="0" cy="237744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28555" y="3721608"/>
            <a:ext cx="274320" cy="2743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16975" y="2298192"/>
            <a:ext cx="2697480" cy="1267968"/>
          </a:xfrm>
          <a:prstGeom prst="roundRect">
            <a:avLst>
              <a:gd name="adj" fmla="val 5048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6975" y="2353056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Khoảng 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8415" y="2718816"/>
            <a:ext cx="2514600" cy="774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Lakehouse: giữ chỗ rẻ, thêm lại giao dịch và lược đồ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065715" y="3566160"/>
            <a:ext cx="0" cy="292608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Armbrust et al. (2021), Lakehouse: A New Generation of Open Platforms that Unify Data Warehousing and Advanced Analytics, CIDR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Không có kiến trúc nào tốt nhất — chỉ có kiến trúc hợp với loại dữ liệu và người dùng của bạn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 hướng chủ đề, tích hợp, biến động, không mất đi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Data lake đổi lược đồ khi ghi lấy lược đồ khi đọc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Data lake thế hệ đầu thành đầm lầy vì thiếu mục lục và giao dịch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Lakehouse thêm tầng siêu dữ liệu, nhờ nhật ký ghi thêm mà có ACID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Medallion chia ba tầng đồng, bạc, vàng và chỉ cho dữ liệu chảy một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8319"/>
            <a:ext cx="10637215" cy="59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bốn đặc trưng của Inmon, kèm ví dụ vi phạm từng đặc trưng.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21712"/>
            <a:ext cx="10637215" cy="59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lược đồ khi đọc vừa là ưu điểm vừa là điểm yếu chí mạng?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5104"/>
            <a:ext cx="10637215" cy="59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Nhật ký ghi thêm mang lại tính nguyên tử bằng cách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68496"/>
            <a:ext cx="10637215" cy="59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Bệnh viện có ảnh X-quang và bảng lượt khám: chọn kiến trúc nào?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91888"/>
            <a:ext cx="10637215" cy="59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Luồng chạy mỗi 5 phút suốt một năm sinh ra bao nhiêu tệp? Xử lý sao?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15280"/>
            <a:ext cx="10637215" cy="59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6.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Bảng chiều và bảng sự kiện nên nằm ở tầng nào của medallion?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Inmon (2005), Building the Data Warehouse, 4th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Reis &amp; Housley (2022), Fundamentals of Data Engineering, O'Reilly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Armbrust et al. (2021), Lakehouse: A New Generation of Open Platforms that Unify Data Warehousing and Advanced Analytics, CIDR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Armbrust et al. (2020), Delta Lake: High-Performance ACID Table Storage over Cloud Object Stores, VLDB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Kimball &amp; Ross (2013), The Data Warehouse Toolkit, 3rd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quyển 1 chương 3 (mô hình dữ liệu đa chiều và OLAP).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4 - Kho dữ liệu, Data Lake và Lakehouse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