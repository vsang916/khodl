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chỉ 2 tiết; giữ nhịp nhanh, dành 30 phút cho DBSCAN.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 3 và 4 là phần được kiểm 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Trong thực tế gần như luôn dùng AGNES; DIANA chỉ để biết.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Hiệu ứng chuỗi: liên kết đơn nối hai cụm qua một dãy điểm nhiễu liền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số cụm được chọn sau khi xem cây, không phải trước khi chạy.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làm bước gộp thứ hai với liên kết đầy đủ.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Điểm hay: CF của hai cụm gộp lại chỉ là phép cộng ba thành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BIRCH quét đĩa đúng một lần, đó là điểm khiến nó chạy được với dữ liệu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lại hiệu ứng chuỗi ở slide liên kết đơn để thấy CHAMELEON giải quyết gì.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nhược điểm thứ tư: đây là khác biệt lớn nhất so với k-means.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Vẽ ba loại điểm lên bảng bằng hình tròn bán kính 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phân loại thêm hai điểm nữa.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OPTICS giải quyết vấn đề mật độ chênh lệch bằng cách sắp thứ tự điểm.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từ tạm: một điểm bị gọi là nhiễu vẫn có thể được nhận vào cụm sau đó.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Vẽ đồ thị thung lũng lên bảng: hai thung lũng nông sâu khác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CLIQUE dùng đúng tính chất Apriori của Bài 7 cho bài toán phân cụm.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k-means chính là trường hợp đặc biệt của EM khi xác suất chỉ nhận 0 hoặc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tập lớn không có nhãn đúng nên phải dùng chỉ số nội tại.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bước sinh viên hay bỏ qua rồi diễn giải cụm của dữ liệu vô cấu trúc.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Độ thuần khiết dễ bị đánh lừa: chia mỗi điểm một cụm thì thuần khiết bằng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Ý cuối là lỗi so sánh phổ biến nhất trong báo cáo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Giải thích a và b bằng hình vẽ trước khi viết công thức.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b lấy cụm gần nhất, không phải trung bình mọi cụm khác.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tiêu chí giảng viên dùng khi chấm phần phân cụm của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Chụp lại bảng này; sinh viên nên dán vào báo cáo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chốt cả hai bài về phân cụm.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bốn cách liên kết trước khi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1 và 3 giao về nhà, chữa trong giờ tư vấn.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25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VIỆN CÔNG NGHỆ BƯU CHÍNH VIỄN THÔNG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Khoa Công nghệ Thông tin 1 · Bộ môn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225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INT1422 · Kho dữ liệu và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7168"/>
            <a:ext cx="102257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11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cụm phân cấp, mật độ và đánh giá kết quả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61772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102257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AGNES, DIANA, DBSCAN và cách đánh giá chất lượng phân cụm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Tuần 11 · 2 tiết · Chuẩn đầu ra: CLO2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Nội dung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362199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2310383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cụm phân cấp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014472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962656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Bốn cách đo khoảng cách giữa cụm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666744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614928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cụm dựa trên mật độ: DBSCAN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319016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4267200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Đánh giá chất lượng phân cụm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971288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919472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thuật toán cho bài toán thực tế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1199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Xây được cây phân cấp cho bộ dữ liệu nhỏ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79776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biệt bốn cách đo khoảng cách giữa hai cụm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78352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loại được điểm lõi, điểm biên và điểm nhiễu theo DBSCAN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76928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và diễn giải được hệ số bóng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75504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được thuật toán phù hợp với hình dạng cụm cho trước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Phân cụm phân cấp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Không cần cho trước số cụm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Hai hướng xây cây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Gộp dần — AGNES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Bắt đầu: mỗi điểm là một cụm riêng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bước gộp hai cụm gần nhau nhất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Dừng khi còn một cụm duy nhất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Từ dưới lên, phổ biến hơn trong thực tế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Chia dần — 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Bắt đầu: mọi điểm trong một cụm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bước tách cụm kém đồng nhất nhất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Dừng khi mỗi điểm là một cụm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Từ trên xuống, tốn kém hơn nhiều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cách đo khoảng cách giữa cụm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670"/>
                <a:gridCol w="4052272"/>
                <a:gridCol w="405227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đo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Định nghĩa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Đặc điểm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Liên kết đơn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Khoảng cách hai điểm gần nhau nhất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Tìm được cụm dài, dễ bị hiệu ứng chuỗi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Liên kết đầy đủ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Khoảng cách hai điểm xa nhau nhất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Cụm chặt, đường kính nhỏ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Liên kết trung bình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Trung bình mọi cặp điểm liên cụm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Cân bằng, ít nhạy với nhiễu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Liên kết tâm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Khoảng cách giữa hai tâm cụm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Rẻ, có thể đảo ngược thứ tự gộp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Ví dụ gộp dần với liên kết đơn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Ma trận khoảng cách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 A     B     C     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A    0     2     6     10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B    2     0     5      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C    6     5     0      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D   10     9     4      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Các bước gộp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Buoc 1: min = 2  -&gt;  gop {A,B}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Buoc 2: min = 4  -&gt;  gop {C,D}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Buoc 3: d({A,B},{C,D}) = min(6,10,5,9) = 5  -&gt;  gop tat ca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19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Cây: {A,B} ở mức 2, {C,D} ở mức 4, gộp hết ở mức 5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19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Cắt cây ở mức 4,5 cho đúng hai cụm: {A,B} và {C,D}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Cập nhật ma trận sau khi gộp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Ma trận ban đầu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 A     B     C     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A    0     2     6    10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B    2     0     5     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C    6     5     0     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D   10     9     4     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Gộp {A,B}, cập nhật bằng liên kết đơn (lấy min)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d({A,B},C) = min(6,5) = 5      d({A,B},D) = min(10,9) = 9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Nếu dùng liên kết đầy đủ (lấy max)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d({A,B},C) = max(6,5) = 6      d({A,B},D) = max(10,9) = 10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đổi phép min thành max mà cây phân cấp thu được đã khác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BIRCH: phân cụm dữ liệu rất lớn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Vấn đề: phân cụm phân cấp cần O(n²) bộ nhớ, không chạy nổi với n lớn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Ý tưởng: tóm tắt mỗi nhóm điểm bằng một **vector đặc trưng cụm**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Vector đó gồm ba số: **CF = (N, LS, SS)**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 là số điểm, LS là tổng các điểm, SS là tổng bình phương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Ba số này cho tâm cụm, bán kính và đường kính, không cần dữ liệu gốc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Cây CF và hai lượt của BIRCH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Lượt một: quét cơ sở dữ liệu **một lần**, dựng cây CF vừa bộ nhớ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lá của cây là một cụm con, có bán kính không vượt ngưỡng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Nếu cây phình quá bộ nhớ thì tăng ngưỡng và dựng lại cây nhỏ hơn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Lượt hai: chạy thuật toán phân cụm bất kỳ trên các lá của cây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Nhược điểm: chỉ tìm được cụm dạng cầu, vì dùng bán kính làm ngưỡng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CHAMELEON: gộp theo tính liên kết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Liên kết đơn chỉ nhìn khoảng cách gần nhất, nên bị hiệu ứng chuỗi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CHAMELEON xét **hai** tiêu chí khi quyết định gộp hai cụm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Liên kết tương hỗ: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hai cụm nối với nhau chặt tới mức nào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Độ gần tương hỗ: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các điểm nối có gần nhau không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Nhờ hai tiêu chí, thuật toán tìm được cụm hình dạng và mật độ bất kỳ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Cây phân cấp thu được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Cắt cây ở mức 4,5 cho đúng hai cụm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144469" y="2889504"/>
            <a:ext cx="2951378" cy="969264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2889504"/>
            <a:ext cx="2951379" cy="969264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668780" y="4425696"/>
            <a:ext cx="1475689" cy="969264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44469" y="4425696"/>
            <a:ext cx="1475689" cy="969264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571536" y="4425696"/>
            <a:ext cx="1475690" cy="969264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47226" y="4425696"/>
            <a:ext cx="1475689" cy="969264"/>
          </a:xfrm>
          <a:prstGeom prst="line">
            <a:avLst/>
          </a:prstGeom>
          <a:ln w="19050">
            <a:solidFill>
              <a:srgbClr val="5B6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04307" y="2322576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Tất cả — mức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52929" y="3858768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{A, B} — mức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394960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28618" y="5394960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5686" y="3858768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{C, D} — mức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9996" y="5394960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31375" y="5394960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EEF2F7"/>
          </a:solidFill>
          <a:ln w="152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Điểm mạnh và điểm yếu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cần cho trước k; cây cho mọi mức phân giải cùng lúc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Cây phân cấp trực quan, dễ trình bày cho người nghiệp vụ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phức tạp ít nhất O(n²) về thời gian và bộ nhớ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Quyết định gộp là vĩnh viễn: sai một bước là sai mãi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BIRCH và CHAMELEON cải tiến để chạy được trên dữ liệu lớn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Phân cụm dựa trên mật độ: DBSCAN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Cụm là vùng dày đặc, ngăn cách bởi vùng thưa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Hai tham số và ba loại điểm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ε (eps):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bán kính lân cận cần xét quanh mỗi điểm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MinPts: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số điểm tối thiểu trong lân cận để coi là dày đặc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Điểm lõi: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có ít nhất MinPts điểm trong bán kính ε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Điểm biên: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không phải lõi nhưng nằm trong lân cận của một điểm lõi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Điểm nhiễu: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không phải lõi và không thuộc lân cận điểm lõi nào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Ví dụ phân loại điểm theo DBSCAN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Tham số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eps = 2,0      MinPts = 4  (tinh ca chinh diem do)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Đếm điểm trong lân cận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P: 6 diem trong ban kinh 2,0        -&gt;  6 &gt;= 4  -&gt;  DIEM LOI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Q: 3 diem, trong do co diem loi P   -&gt;  3 &lt;  4  -&gt;  DIEM BIEN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R: 1 diem (chinh no), khong gan loi -&gt;  1 &lt;  4  -&gt;  DIEM NHIEU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Hình thành cụm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điểm lõi liên thông mật độ với nhau tạo thành một cụm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Điểm biên được gán vào cụm của điểm lõi gần nhất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Điểm nhiễu bị loại hẳn, không thuộc cụm nào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Điểm lõi, điểm biên và điểm nhiễu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Vòng tròn đỏ là lân cận bán kính ε quanh điểm lõi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6967" y="2761488"/>
            <a:ext cx="5852160" cy="1572768"/>
          </a:xfrm>
          <a:prstGeom prst="rect">
            <a:avLst/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090007" y="2761488"/>
            <a:ext cx="0" cy="1572768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26967" y="3154680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53047" y="2761488"/>
            <a:ext cx="0" cy="1572768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26967" y="3547872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16087" y="2761488"/>
            <a:ext cx="0" cy="1572768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26967" y="3941064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264408"/>
            <a:ext cx="7863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6967" y="4425696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x</a:t>
            </a:r>
          </a:p>
        </p:txBody>
      </p:sp>
      <p:sp>
        <p:nvSpPr>
          <p:cNvPr id="15" name="Oval 14"/>
          <p:cNvSpPr/>
          <p:nvPr/>
        </p:nvSpPr>
        <p:spPr>
          <a:xfrm>
            <a:off x="4965391" y="3311326"/>
            <a:ext cx="1617611" cy="473091"/>
          </a:xfrm>
          <a:prstGeom prst="ellipse">
            <a:avLst/>
          </a:prstGeom>
          <a:noFill/>
          <a:ln w="1651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18716" y="3451860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78185" y="3381772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37654" y="3486903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8362" y="3574513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17831" y="3294162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79069" y="3521947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36770" y="3241596"/>
            <a:ext cx="192024" cy="192024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2158" y="2880408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Q</a:t>
            </a:r>
          </a:p>
        </p:txBody>
      </p:sp>
      <p:sp>
        <p:nvSpPr>
          <p:cNvPr id="24" name="Oval 23"/>
          <p:cNvSpPr/>
          <p:nvPr/>
        </p:nvSpPr>
        <p:spPr>
          <a:xfrm>
            <a:off x="6457035" y="3697166"/>
            <a:ext cx="192024" cy="192024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73762" y="4047605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9150" y="3686417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R</a:t>
            </a:r>
          </a:p>
        </p:txBody>
      </p:sp>
      <p:sp>
        <p:nvSpPr>
          <p:cNvPr id="27" name="Oval 26"/>
          <p:cNvSpPr/>
          <p:nvPr/>
        </p:nvSpPr>
        <p:spPr>
          <a:xfrm>
            <a:off x="4240308" y="2856114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8087" y="4992624"/>
            <a:ext cx="182880" cy="18288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32407" y="4846320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Điểm lõi</a:t>
            </a:r>
          </a:p>
        </p:txBody>
      </p:sp>
      <p:sp>
        <p:nvSpPr>
          <p:cNvPr id="30" name="Oval 29"/>
          <p:cNvSpPr/>
          <p:nvPr/>
        </p:nvSpPr>
        <p:spPr>
          <a:xfrm>
            <a:off x="4449927" y="4992624"/>
            <a:ext cx="182880" cy="1828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24247" y="4846320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Điểm nhiễu</a:t>
            </a:r>
          </a:p>
        </p:txBody>
      </p:sp>
      <p:sp>
        <p:nvSpPr>
          <p:cNvPr id="32" name="Oval 31"/>
          <p:cNvSpPr/>
          <p:nvPr/>
        </p:nvSpPr>
        <p:spPr>
          <a:xfrm>
            <a:off x="7741767" y="4992624"/>
            <a:ext cx="182880" cy="182880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6087" y="4846320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Điểm biên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22976"/>
            <a:ext cx="10637215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Điểm R không phải lõi và không nằm trong lân cận lõi nào → bị loại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DBSCAN so với k-means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DBSCAN thắng khi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Cụm có hình dạng bất kỳ, không tròn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có nhiều nhiễu cần loại bỏ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biết trước số cụm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DBSCAN thua khi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Mật độ các cụm chênh lệch nhiều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Số chiều lớn khiến khoảng cách mất ý nghĩa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Khó chọn được cặp tham số ε và MinPts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Thuật toán DBSCAN từng bước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một điểm chưa xét, đếm số điểm trong bán kính ε quanh nó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Nếu đủ MinPts thì mở cụm mới, đưa các điểm lân cận vào hàng đợi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Lấy từng điểm trong hàng đợi: nếu nó cũng là điểm lõi thì **mở rộng tiếp**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Nếu không đủ MinPts thì tạm ghi là nhiễu, sau có thể thành điểm biên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phức tạp O(n log n) nếu có chỉ mục không gian, O(n²) nếu không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OPTICS: khi mật độ các cụm khác nhau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DBSCAN dùng **một** giá trị ε cho toàn bộ dữ liệu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ε hợp với cụm dày thì cụm thưa bị coi là nhiễu, và ngược lại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OPTICS không sinh cụm mà **sắp thứ tự** các điểm theo mật độ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Vẽ khoảng cách khả đạt theo thứ tự đó được **đồ thị hình thung lũng**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thung lũng là một cụm; nông sâu khác nhau là mật độ khác nhau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cụm dựa trên lưới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403"/>
                <a:gridCol w="4558806"/>
                <a:gridCol w="379900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Thuật toán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Ý tưởng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Điểm mạnh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STING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Chia không gian thành ô phân cấp, thống kê từng ô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Truy vấn rất nhanh, không phụ thuộc số điểm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CLIQUE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Tìm ô dày trong từng chiều rồi ghép dần lên nhiều chiều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Tìm được cụm trong **không gian con**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cụm theo mô hình xác suất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 thiết dữ liệu sinh từ **hỗn hợp** nhiều phân bố, thường là chuẩn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điểm không thuộc hẳn một cụm mà có **xác suất** thuộc từng cụm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Thuật toán **EM** lặp hai bước cho tới khi hội tụ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Bước E: tính xác suất mỗi điểm thuộc mỗi cụm với tham số hiện tại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Bước M: cập nhật tham số phân bố theo các xác suất vừa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Đánh giá chất lượng phân cụm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Không có nhãn thì đo bằng cách nào?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Hai nhóm chỉ số đánh giá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3887"/>
                <a:gridCol w="3632219"/>
                <a:gridCol w="415110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Nhóm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Cần gì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Ví dụ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Nội tại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Chỉ cần dữ liệu và kết quả phân cụm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Hệ số bóng, chỉ số Davies-Bouldin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Ngoại lai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Cần nhãn đúng để đối chiếu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Chỉ số Rand hiệu chỉnh, thông tin tương hỗ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Có nên phân cụm dữ liệu này không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Thuật toán phân cụm **luôn** trả về cụm, kể cả với dữ liệu ngẫu nhiên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vậy phải kiểm tra **xu hướng phân cụm** trước khi chạy thuật toán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Thống kê Hopkins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so dữ liệu thật với dữ liệu phân bố đều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 khoảng 0,5 nghĩa là dữ liệu phân bố đều, **không có cấu trúc cụm**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 gần 0 nghĩa là dữ liệu rất lệch, tức là có cụm rõ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chỉ số ngoại lai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3887"/>
                <a:gridCol w="4669996"/>
                <a:gridCol w="3113331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Chỉ số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Đo cái gì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Khoảng giá trị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Độ thuần khiết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Tỷ lệ điểm thuộc lớp đa số của cụm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0 đến 1, càng cao càng tốt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Chỉ số Rand hiệu chỉnh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Mức trùng khớp giữa hai cách chia, đã trừ phần ngẫu nhiên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−1 đến 1, 0 là ngẫu nhiên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Thông tin tương hỗ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Lượng thông tin chung giữa cụm và nhãn thật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0 trở lên, càng cao càng tốt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Hai chỉ số nội tại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Hệ số bóng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đã học: so khoảng cách trong cụm với cụm gần nhất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Chỉ số Davies-Bouldin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so độ phân tán trong cụm với khoảng cách giữa tâm cụm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Davies-Bouldin càng **nhỏ** càng tốt, ngược chiều với hệ số bóng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Cả hai đều thiên vị cụm dạng cầu, nên không công bằng với DBSCAN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vậy đừng dùng chúng để so sánh k-means với thuật toán dựa trên mật độ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Hệ số bóng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s(i) = ( b(i) − a(i) ) / max( a(i), b(i)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a(i): khoảng cách trung bình từ i tới các điểm cùng cụm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b(i): khoảng cách trung bình từ i tới cụm gần nhất kế tiếp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 ≈ 1: điểm nằm sâu trong cụm của nó, phân cụm tốt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 ≈ 0: điểm nằm trên biên giữa hai cụm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 &lt; 0: điểm có lẽ đã bị gán nhầm cụm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Ví dụ tính hệ số bóng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Điểm i thuộc cụm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a(i) = 1,8   (khoang cach trung binh trong cum 1)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Khoang cach trung binh toi cum 2 = 4,5 ; toi cum 3 = 6,0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b(i) = min(4,5 ; 6,0) = 4,5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Áp dụng công thức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s(i) = (4,5 - 1,8) / max(1,8 ; 4,5) = 2,7 / 4,5 = 0,60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Giá trị 0,60 cho thấy điểm này được gán vào cụm hợp lý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Hệ số bóng của cả tập là trung bình s(i) trên mọi điểm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Đánh giá bằng con mắt nghiệp vụ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340864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71676" y="2845612"/>
            <a:ext cx="453543" cy="430866"/>
          </a:xfrm>
          <a:custGeom>
            <a:avLst/>
            <a:gdLst/>
            <a:ahLst/>
            <a:cxnLst/>
            <a:rect l="l" t="t" r="r" b="b"/>
            <a:pathLst>
              <a:path w="453543" h="430866">
                <a:moveTo>
                  <a:pt x="226772" y="0"/>
                </a:moveTo>
                <a:lnTo>
                  <a:pt x="453543" y="430866"/>
                </a:lnTo>
                <a:lnTo>
                  <a:pt x="0" y="430866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75770" y="2993014"/>
            <a:ext cx="45354" cy="1587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75770" y="3191438"/>
            <a:ext cx="45354" cy="453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46504" y="2560320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Chỉ số tốt mà cụm vô nghĩa nghiệp vụ vẫn là thất bại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4418" y="2340864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88225" y="2845612"/>
            <a:ext cx="294802" cy="294802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67595" y="3129076"/>
            <a:ext cx="136062" cy="9070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84602" y="3242462"/>
            <a:ext cx="102047" cy="51023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3682" y="2560320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Đặt tên được cho từng cụm là dấu hiệu phân cụm thành công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2340864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7372" y="2879628"/>
            <a:ext cx="158739" cy="158739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3356" y="3072384"/>
            <a:ext cx="226771" cy="226771"/>
          </a:xfrm>
          <a:prstGeom prst="roundRect">
            <a:avLst>
              <a:gd name="adj" fmla="val 2016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18159" y="2924982"/>
            <a:ext cx="136062" cy="136062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89812" y="3095061"/>
            <a:ext cx="192755" cy="204094"/>
          </a:xfrm>
          <a:prstGeom prst="roundRect">
            <a:avLst>
              <a:gd name="adj" fmla="val 23719"/>
            </a:avLst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0860" y="2560320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Kiểm tra cụm có đủ lớn để triển khai hành động riêng không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23360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1676" y="4528108"/>
            <a:ext cx="453542" cy="453542"/>
          </a:xfrm>
          <a:prstGeom prst="ellipse">
            <a:avLst/>
          </a:prstGeom>
          <a:noFill/>
          <a:ln w="279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1298448" y="4630155"/>
            <a:ext cx="0" cy="124725"/>
          </a:xfrm>
          <a:prstGeom prst="line">
            <a:avLst/>
          </a:prstGeom>
          <a:ln w="254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98448" y="4754880"/>
            <a:ext cx="113385" cy="0"/>
          </a:xfrm>
          <a:prstGeom prst="line">
            <a:avLst/>
          </a:prstGeom>
          <a:ln w="254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746504" y="4242816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Chạy lại trên dữ liệu kỳ sau xem cụm có ổn định không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4418" y="4023360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37201" y="4811572"/>
            <a:ext cx="102047" cy="17007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84602" y="4669840"/>
            <a:ext cx="102047" cy="31181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32004" y="4528108"/>
            <a:ext cx="102047" cy="45354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83682" y="4242816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Trình bày kết quả bằng đặc trưng nổi bật của từng cụm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Chọn thuật toán nào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Bảng chọn thuật toán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5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6797"/>
                <a:gridCol w="419041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Tình huống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Nên dùng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Dữ liệu rất lớn, cụm dạng cầu, biết trước k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k-means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Dữ liệu có nhiều giá trị dị biệt, cần đại diện thật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k-medoids / PAM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Chưa biết k, cần xem nhiều mức phân giải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Phân cấp (AGNES)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Cụm hình dạng bất kỳ, có nhiễu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DBSCAN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Mật độ cụm chênh lệch nhiều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OPTICS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Không có thuật toán phân cụm tốt nhất — chỉ có thuật toán phù hợp nhất với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Luôn chạy ít nhất hai thuật toán khác họ và so sánh kết quả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Tóm tắt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cụm phân cấp cho cây đầy đủ, không cần chọn k trước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Bốn cách liên kết cho bốn hình dạng cụm khác nhau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DBSCAN chia điểm thành lõi, biên và nhiễu theo mật độ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Hệ số bóng đánh giá được mà không cần nhãn đúng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Tiêu chí cuối cùng luôn là ý nghĩa nghiệp vụ của cụm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Câu hỏi ôn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8695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ma trận khoảng cách 5 điểm, hãy xây cây phân cấp bằng liên kết đầy đủ.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53251"/>
            <a:ext cx="10637215" cy="5884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liên kết đơn dễ tạo ra cụm dài hình chuỗi?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69694"/>
            <a:ext cx="10637215" cy="8695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ε = 1,5 và MinPts = 3, một điểm có 2 hàng xóm trong bán kính là loại điểm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467297"/>
            <a:ext cx="10637215" cy="5884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Hệ số bóng trung bình bằng 0,15. Nhận xét gì về kết quả phân cụm?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83740"/>
            <a:ext cx="10637215" cy="8695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khách hàng có hai cụm dày và một vùng thưa rải rác: chọn thuật toán nào?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liệu tham khảo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Nguyễn Quỳnh Chi (2018), Bài giảng Kho dữ liệu và Kỹ thuật khai phá, Học viện CNBCVT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Han, Kamber &amp; Pei (2022), Data Mining: Concepts and Techniques, 4th ed., Morgan Kaufmann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Tan, Steinbach &amp; Kumar (2019), Introduction to Data Mining, 2nd ed., Pearson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Aggarwal (2015), Data Mining: The Textbook, Springer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Buổi sau: hướng dẫn bài tập lớn. Mỗi nhóm chuẩn bị bản phác thảo báo cáo.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11 - Phân cụm phân cấp, mật độ và đánh giá kết quả</dc:title>
  <dc:subject>INT1422 Kho dữ liệu và Khai phá dữ liệu</dc:subject>
  <dc:creator>Nguyen Quynh Chi - PTIT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